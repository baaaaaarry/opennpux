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f070df19e64997" /><Relationship Type="http://schemas.openxmlformats.org/officeDocument/2006/relationships/extended-properties" Target="/docProps/app.xml" Id="R8629bcb8f6104bdd" /><Relationship Type="http://schemas.openxmlformats.org/officeDocument/2006/relationships/officeDocument" Target="/ppt/presentation.xml" Id="Rf8714bb6d78148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ed11e6965148c0"/>
  </p:sldMasterIdLst>
  <p:notesMasterIdLst>
    <p:notesMasterId xmlns:r="http://schemas.openxmlformats.org/officeDocument/2006/relationships" r:id="Rd5ff5f1f3ee54a7f"/>
  </p:notesMasterIdLst>
  <p:sldIdLst>
    <p:sldId xmlns:r="http://schemas.openxmlformats.org/officeDocument/2006/relationships" id="256" r:id="R89e7618e60a54cfd"/>
    <p:sldId xmlns:r="http://schemas.openxmlformats.org/officeDocument/2006/relationships" id="257" r:id="R9853735eb61e4851"/>
    <p:sldId xmlns:r="http://schemas.openxmlformats.org/officeDocument/2006/relationships" id="258" r:id="Rd4402339f3f34d70"/>
    <p:sldId xmlns:r="http://schemas.openxmlformats.org/officeDocument/2006/relationships" id="259" r:id="R60139fec4da54947"/>
    <p:sldId xmlns:r="http://schemas.openxmlformats.org/officeDocument/2006/relationships" id="260" r:id="R1ffd3f938e0345e6"/>
    <p:sldId xmlns:r="http://schemas.openxmlformats.org/officeDocument/2006/relationships" id="261" r:id="R4683bbe635d94a9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0fe03b12944662" /><Relationship Type="http://schemas.openxmlformats.org/officeDocument/2006/relationships/slideMaster" Target="/ppt/slideMasters/slideMaster1.xml" Id="Reaed11e6965148c0" /><Relationship Type="http://schemas.openxmlformats.org/officeDocument/2006/relationships/notesMaster" Target="/ppt/notesMasters/notesMaster1.xml" Id="Rd5ff5f1f3ee54a7f" /><Relationship Type="http://schemas.openxmlformats.org/officeDocument/2006/relationships/presProps" Target="/ppt/presProps.xml" Id="R706337a4c52d4648" /><Relationship Type="http://schemas.openxmlformats.org/officeDocument/2006/relationships/tableStyles" Target="/ppt/tableStyles.xml" Id="R3885cf52a002466d" /><Relationship Type="http://schemas.openxmlformats.org/officeDocument/2006/relationships/slide" Target="/ppt/slides/slide1.xml" Id="R89e7618e60a54cfd" /><Relationship Type="http://schemas.openxmlformats.org/officeDocument/2006/relationships/slide" Target="/ppt/slides/slide2.xml" Id="R9853735eb61e4851" /><Relationship Type="http://schemas.openxmlformats.org/officeDocument/2006/relationships/slide" Target="/ppt/slides/slide3.xml" Id="Rd4402339f3f34d70" /><Relationship Type="http://schemas.openxmlformats.org/officeDocument/2006/relationships/slide" Target="/ppt/slides/slide4.xml" Id="R60139fec4da54947" /><Relationship Type="http://schemas.openxmlformats.org/officeDocument/2006/relationships/slide" Target="/ppt/slides/slide5.xml" Id="R1ffd3f938e0345e6" /><Relationship Type="http://schemas.openxmlformats.org/officeDocument/2006/relationships/slide" Target="/ppt/slides/slide6.xml" Id="R4683bbe635d94a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7063e919aa49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27fa98a3b64d62" /><Relationship Type="http://schemas.openxmlformats.org/officeDocument/2006/relationships/notesMaster" Target="/ppt/notesMasters/notesMaster1.xml" Id="Rb9573208ccc146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24b8e4214d4295" /><Relationship Type="http://schemas.openxmlformats.org/officeDocument/2006/relationships/notesMaster" Target="/ppt/notesMasters/notesMaster1.xml" Id="Rb01b04dd34c44a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55dec198d4b13" /><Relationship Type="http://schemas.openxmlformats.org/officeDocument/2006/relationships/notesMaster" Target="/ppt/notesMasters/notesMaster1.xml" Id="R03e95fed942141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84268d946947e1" /><Relationship Type="http://schemas.openxmlformats.org/officeDocument/2006/relationships/notesMaster" Target="/ppt/notesMasters/notesMaster1.xml" Id="Rf8688dda5e084b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d7231651da4ba6" /><Relationship Type="http://schemas.openxmlformats.org/officeDocument/2006/relationships/notesMaster" Target="/ppt/notesMasters/notesMaster1.xml" Id="R58e7191c300c40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c08d9f87be4c90" /><Relationship Type="http://schemas.openxmlformats.org/officeDocument/2006/relationships/notesMaster" Target="/ppt/notesMasters/notesMaster1.xml" Id="R1cf7e083577744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本页强调 tile 规划的第一步不是切分，而是取得正确的逻辑矩阵维度。对于 Qwen3.5 full-attention 输出投影，输入宽度是 head_count 乘 head_dim，即 4096，输出宽度才是 hidden 2048。此前把 K 错写成 hidden，造成只读取一半 attention 输出和错误的权重行跨度。修复后再按 M/N/K、量化组和 scratch 约束切分，逐输出 shadow 已归零。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/Users/libo/Work/gem5-coral-x86/tools/models/compile_npu_executable.py</a:t>
            </a:r>
          </a:p>
          <a:p xmlns:a="http://schemas.openxmlformats.org/drawingml/2006/main">
            <a:r>
              <a:t>- /Users/libo/Work/gem5-coral-x86/runtime/host/src/npu_gptq_tile_plan.c</a:t>
            </a:r>
          </a:p>
          <a:p xmlns:a="http://schemas.openxmlformats.org/drawingml/2006/main">
            <a:r>
              <a:t>- /Users/libo/Work/gem5-coral-x86/runtime/host/src/npu_xgraph_lowering.c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本页把验收拆为四层：独立算子 golden、524-request 全图 lowering、相同状态下的 XGraph/Host shadow，以及最终 token。最新修复包括完整状态隔离、多头双输出 RoPE 和非方阵 attention 输出投影。当前已启用 XGraph 路径的所有逐输出比较 different 为零，并保持严格 token 一致。该结果仍属于 C++ NPU 功能模型，不宣称 Full RTL 性能。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/Users/libo/Work/gem5-coral-x86/docs/design/xgraph_operator_validation_matrix.md</a:t>
            </a:r>
          </a:p>
          <a:p xmlns:a="http://schemas.openxmlformats.org/drawingml/2006/main">
            <a:r>
              <a:t>- /Users/libo/Work/gem5-coral-x86/docs/design/current_progress.md</a:t>
            </a:r>
          </a:p>
          <a:p xmlns:a="http://schemas.openxmlformats.org/drawingml/2006/main">
            <a:r>
              <a:t>- /Users/libo/Work/gem5-coral-x86/sim/coralnpu/hw_sim/gem5_bridge/gem5_host_xgraph_executor.cc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本页不再沿用算子分片页的形状，而是用完全对称的七级技术栈比较两条路线。第一、二级是框架已有能力；第三到第六级是接入自定义 NPU 的核心。TVM 路线可以从 BYOC 子图边界进入，新增 capability、partition 和 OpenNPUX backend adapter，然后复用现有 XOpenNPUX 指令、设备任务、Runtime/Driver 和 Coral NPU。Mojo/MAX 路线在模型与 MAX Graph 之后，还要新增 NPU device placement、target dialect、KGEN/MLIR lowering、code emitter 和 device runtime adapter，最后才能落到同一硬件 ABI。两条路线不改变硬件目标，差异在编译器侧增量开发范围。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https://tvm.apache.org/docs/how_to/tutorials/bring_your_own_codegen.html</a:t>
            </a:r>
          </a:p>
          <a:p xmlns:a="http://schemas.openxmlformats.org/drawingml/2006/main">
            <a:r>
              <a:t>- https://tvm.apache.org/docs/arch/external_library_dispatch.html</a:t>
            </a:r>
          </a:p>
          <a:p xmlns:a="http://schemas.openxmlformats.org/drawingml/2006/main">
            <a:r>
              <a:t>- https://tvm.apache.org/docs/how_to/tutorials/import_model.html</a:t>
            </a:r>
          </a:p>
          <a:p xmlns:a="http://schemas.openxmlformats.org/drawingml/2006/main">
            <a:r>
              <a:t>- https://docs.modular.com/max/develop/custom-ops</a:t>
            </a:r>
          </a:p>
          <a:p xmlns:a="http://schemas.openxmlformats.org/drawingml/2006/main">
            <a:r>
              <a:t>- https://github.com/modular/modular/blob/main/KGEN/docs/manual/PassesAndIR.md</a:t>
            </a:r>
          </a:p>
          <a:p xmlns:a="http://schemas.openxmlformats.org/drawingml/2006/main">
            <a:r>
              <a:t>- https://github.com/modular/modular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讲解顺序：</a:t>
            </a:r>
          </a:p>
          <a:p xmlns:a="http://schemas.openxmlformats.org/drawingml/2006/main">
            <a:r>
              <a:t>1. 左侧是 TVM 主栈。真实 Qwen3.5-35B 的模型执行图进入 Relax IRModule，图级 Pass 完成规范化、Shape 和 DType 推导。</a:t>
            </a:r>
          </a:p>
          <a:p xmlns:a="http://schemas.openxmlformats.org/drawingml/2006/main">
            <a:r>
              <a:t>2. 中间是 BYOC 接入点。OpenNPUX capability 将支持的 region 标记并交给外部 Codegen。</a:t>
            </a:r>
          </a:p>
          <a:p xmlns:a="http://schemas.openxmlformats.org/drawingml/2006/main">
            <a:r>
              <a:t>3. 右侧是项目增量。后端把模型无关请求 lower 为 XOpenNPUX primitive，并生成运行时使用的 model.tvm.npxc 与 model.tvm.npxtb。</a:t>
            </a:r>
          </a:p>
          <a:p xmlns:a="http://schemas.openxmlformats.org/drawingml/2006/main">
            <a:r>
              <a:t>4. 底部是运行闭环。CPU 提交 Prompt 和 invocation，driver 通过共享内存提交，NPU 路径完成执行并把 Token ID 返回 CPU。</a:t>
            </a:r>
          </a:p>
          <a:p xmlns:a="http://schemas.openxmlformats.org/drawingml/2006/main">
            <a:r>
              <a:t>5. 最新验收已经完成：524 条模型级命令每步执行一次，4 步共完成 2,096 条；Token 2064,7701,1017,2493 解码为 “It appears there might”，与 vLLM 严格一致。</a:t>
            </a:r>
          </a:p>
          <a:p xmlns:a="http://schemas.openxmlformats.org/drawingml/2006/main">
            <a:r>
              <a:t>6. 当前 functional_backend=xopennpux-primitives 表示每个 primitive 都经过统一 ISA packet 与协处理器语义模型。它不表示完整 RTL 数值流水已经实现，也不表示 Coral 核逐条 fetch 全部 primitive。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 Mojo/MAX 路线如何端到端接入 OpenNPUX。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首先要区分 Mojo 与 MAX：Mojo 是内核和系统开发语言，MAX 才是模型图、编译器和推理运行时。因此不能把“写 Mojo kernel”理解成“模型自动编译到自定义 NPU”。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左侧是可复用的 MAX 能力：模型加载、MAX Graph、图优化、设备放置框架和 Engine 生命周期。中间是没有 TVM BYOC 后必须新增的工作。项目需要注册 OpenNPUX Device/Target，声明 capability 和 cost；实现 Host/NPU placement 与 partition；把 MAX Graph 合法化为 OpenNPUX Backend IR；最后提供 codegen 与 MAX Engine Runtime Adapter。若模型结构尚未被 MAX 原生支持，还要增加模型和算子适配。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右侧强调复用边界。OpenNPUX Backend IR、通用算子语义、XGraph lowering、M/N/K tiler、artifact ABI、Module Runtime、driver、Coral 控制器和 NPU pipe 均不应因更换前端而重写。TVM 和 MAX 应在 OpenNPUX Backend IR 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底部是验收流程：CPU Prompt 进入 MAX Engine；编译器完成 placement/partition；OpenNPUX Device Adapter 加载 module 并绑定 invocation；driver 通过 shared DMA 提交；Coral 与 NPU 执行命令；结果和持久状态返回 Engine，驱动下一 token。验收必须从单 region、混合图、状态复用逐步扩展到完整 prefill/decode，并与参考实现逐 Tensor 和 Token 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核心结论：Mojo/MAX 路线可复用设备侧大部分成果，但软件接入成本高于 TVM+BYOC，新增工作集中在 MAX 编译器与 Runtime 的扩展边界。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本页记录最新真实 Qwen3.5-35B 端到端验收结果。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编译侧：HF 模型包生成 524 个模型级 generic requests，涉及 725 个 Tensor。TVM Relax materialize 完整执行图，BYOC 后端做 capability、region 和 normalized IR 转换，通用 lowering 再处理 tile、stride、tail、scratch 和 GPTQ。单步审计显示 524 个 request 全部进入 XGraph，共展开为 32,102 条 primitive command，没有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运行侧：每生成一个 token，524 条模型级命令执行一次。此次运行 4 步，因此 completed_commands 为 2,096。分页服务 4,393 次，传输 287,899,648 字节。CPU 最终收到 Token IDs 2064、7701、1017、2493，并解码为 “It appears there might”。输出与 vLLM reference 严格一致。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必须准确理解 functional backend。当前 XGraph command 会编码为与自定义 RISC-V 指令一致的 XOpenNPUX ISA packet，其中携带 rs1、rs2、rd、shape、stride、dtype 和 flags。C++ functional coprocessor 解码 packet 并执行相应语义。全模型路径没有让 Coral 核逐条 fetch 32,102 条指令，也没有使用完整 RTL MAC 阵列。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下一阶段保持编译器、lowering、ISA、CSR 和运行时 ABI 不变，只替换 ExecuteNext 后面的计算实现。先替换 TMMA，再替换 TDMA、Vector 和 SFU；每次替换都用已通过的 Token 结果及逐 Tensor trace 做回归。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4f069eb7640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be81a796e64ce3" /><Relationship Type="http://schemas.openxmlformats.org/officeDocument/2006/relationships/slideLayout" Target="/ppt/slideLayouts/slideLayout1.xml" Id="Rf06a22c2fabc46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6a22c2fabc46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eb8eb59374d8b" /><Relationship Type="http://schemas.openxmlformats.org/officeDocument/2006/relationships/notesSlide" Target="/ppt/notesSlides/notesSlide1.xml" Id="R6ee66abf7fc748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b130dfb5941b4" /><Relationship Type="http://schemas.openxmlformats.org/officeDocument/2006/relationships/notesSlide" Target="/ppt/notesSlides/notesSlide2.xml" Id="R37072218820645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021e7e2dc4373" /><Relationship Type="http://schemas.openxmlformats.org/officeDocument/2006/relationships/notesSlide" Target="/ppt/notesSlides/notesSlide3.xml" Id="R1884742a3bfb4c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0719fd28c4ddc" /><Relationship Type="http://schemas.openxmlformats.org/officeDocument/2006/relationships/notesSlide" Target="/ppt/notesSlides/notesSlide4.xml" Id="Rc3580aaeb0694f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cc771684742c0" /><Relationship Type="http://schemas.openxmlformats.org/officeDocument/2006/relationships/notesSlide" Target="/ppt/notesSlides/notesSlide5.xml" Id="Rd83721da9bda42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830f82305431d" /><Relationship Type="http://schemas.openxmlformats.org/officeDocument/2006/relationships/notesSlide" Target="/ppt/notesSlides/notesSlide6.xml" Id="Rd7b871e484c04d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title">
            <a:extLst xmlns:a="http://schemas.openxmlformats.org/drawingml/2006/main">
              <a:ext uri="{FF2B5EF4-FFF2-40B4-BE49-F238E27FC236}">
                <a16:creationId xmlns:a16="http://schemas.microsoft.com/office/drawing/2014/main" id="{F5B5DBE1-4942-4F7C-8E78-F7ED93CB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1450"/>
            <a:ext cx="1619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5CB8"/>
                </a:solidFill>
              </a:defRPr>
            </a:pPr>
            <a:r>
              <a:rPr sz="3150" b="1">
                <a:solidFill>
                  <a:srgbClr val="095CB8"/>
                </a:solidFill>
              </a:rPr>
              <a:t>GPTQ MatMul 三维分片：M/N/K Tile、Scratch 与正确投影宽度</a:t>
            </a:r>
          </a:p>
        </p:txBody>
      </p:sp>
      <p:sp>
        <p:nvSpPr>
          <p:cNvPr id="2" name="part">
            <a:extLst xmlns:a="http://schemas.openxmlformats.org/drawingml/2006/main">
              <a:ext uri="{FF2B5EF4-FFF2-40B4-BE49-F238E27FC236}">
                <a16:creationId xmlns:a16="http://schemas.microsoft.com/office/drawing/2014/main" id="{8B46CC67-94FD-41A4-86DB-6740DCCF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2857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890AD"/>
                </a:solidFill>
              </a:defRPr>
            </a:pPr>
            <a:r>
              <a:rPr sz="975" b="1">
                <a:solidFill>
                  <a:srgbClr val="7890AD"/>
                </a:solidFill>
              </a:rPr>
              <a:t>M/N/K TILING / SHADOW VERIFIED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66C5864-168C-473C-A18E-F2A524FC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00100"/>
            <a:ext cx="1760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8C5"/>
          </a:solidFill>
          <a:ln xmlns:a="http://schemas.openxmlformats.org/drawingml/2006/main" w="14288">
            <a:solidFill>
              <a:srgbClr val="1468C5"/>
            </a:solidFill>
            <a:prstDash val="solid"/>
          </a:ln>
        </p:spPr>
      </p:sp>
      <p:sp>
        <p:nvSpPr>
          <p:cNvPr id="4" name="summary">
            <a:extLst xmlns:a="http://schemas.openxmlformats.org/drawingml/2006/main">
              <a:ext uri="{FF2B5EF4-FFF2-40B4-BE49-F238E27FC236}">
                <a16:creationId xmlns:a16="http://schemas.microsoft.com/office/drawing/2014/main" id="{6CC2991C-FE4A-4085-AE5D-BA27EB3F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760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4288">
            <a:solidFill>
              <a:srgbClr val="C4D8F2"/>
            </a:solidFill>
            <a:prstDash val="solid"/>
          </a:ln>
        </p:spPr>
      </p:sp>
      <p:sp>
        <p:nvSpPr>
          <p:cNvPr id="5" name="summary-text">
            <a:extLst xmlns:a="http://schemas.openxmlformats.org/drawingml/2006/main">
              <a:ext uri="{FF2B5EF4-FFF2-40B4-BE49-F238E27FC236}">
                <a16:creationId xmlns:a16="http://schemas.microsoft.com/office/drawing/2014/main" id="{3A03624D-7428-436D-93D2-B4AFBE7B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95375"/>
            <a:ext cx="1724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9"/>
                </a:solidFill>
              </a:defRPr>
            </a:pPr>
            <a:r>
              <a:rPr sz="1350" b="0">
                <a:solidFill>
                  <a:srgbClr val="243B59"/>
                </a:solidFill>
              </a:rPr>
              <a:t>通用 lowering 从模型参数显式取得 M/N/K：M=runtime rows，K=input_features，N=output_features；再按 10-bit shape、INT4 pack、量化组和 Scratch 容量切片。Attention 输出投影必须使用 K=heads×head_dim，不能用 hidden_size 代替。</a:t>
            </a:r>
          </a:p>
        </p:txBody>
      </p:sp>
      <p:sp>
        <p:nvSpPr>
          <p:cNvPr id="6" name="flow-head">
            <a:extLst xmlns:a="http://schemas.openxmlformats.org/drawingml/2006/main">
              <a:ext uri="{FF2B5EF4-FFF2-40B4-BE49-F238E27FC236}">
                <a16:creationId xmlns:a16="http://schemas.microsoft.com/office/drawing/2014/main" id="{5C76817D-8A3C-4D0E-BCDF-ABF70239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5CB8"/>
                </a:solidFill>
              </a:defRPr>
            </a:pPr>
            <a:r>
              <a:rPr sz="1800" b="1">
                <a:solidFill>
                  <a:srgbClr val="095CB8"/>
                </a:solidFill>
              </a:rPr>
              <a:t>① 三维 Tile 规划：先确定真实 M/N/K，再施加 shape、量化组与 Scratch 约束</a:t>
            </a:r>
          </a:p>
        </p:txBody>
      </p:sp>
      <p:sp>
        <p:nvSpPr>
          <p:cNvPr id="7" name="flow-bg">
            <a:extLst xmlns:a="http://schemas.openxmlformats.org/drawingml/2006/main">
              <a:ext uri="{FF2B5EF4-FFF2-40B4-BE49-F238E27FC236}">
                <a16:creationId xmlns:a16="http://schemas.microsoft.com/office/drawing/2014/main" id="{A2FF3C8D-1650-49B0-9570-512FADE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47900"/>
            <a:ext cx="17602200" cy="3333750"/>
          </a:xfrm>
          <a:prstGeom xmlns:a="http://schemas.openxmlformats.org/drawingml/2006/main" prst="roundRect">
            <a:avLst>
              <a:gd name="adj" fmla="val 114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8" name="full-weight">
            <a:extLst xmlns:a="http://schemas.openxmlformats.org/drawingml/2006/main">
              <a:ext uri="{FF2B5EF4-FFF2-40B4-BE49-F238E27FC236}">
                <a16:creationId xmlns:a16="http://schemas.microsoft.com/office/drawing/2014/main" id="{08C5BB5C-23FB-4761-AFAA-6ADA615B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4765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4288">
            <a:solidFill>
              <a:srgbClr val="C85119"/>
            </a:solidFill>
            <a:prstDash val="solid"/>
          </a:ln>
        </p:spPr>
      </p:sp>
      <p:sp>
        <p:nvSpPr>
          <p:cNvPr id="9" name="full-weight-title">
            <a:extLst xmlns:a="http://schemas.openxmlformats.org/drawingml/2006/main">
              <a:ext uri="{FF2B5EF4-FFF2-40B4-BE49-F238E27FC236}">
                <a16:creationId xmlns:a16="http://schemas.microsoft.com/office/drawing/2014/main" id="{7FAACE2C-8D95-410F-A3BB-63206AD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GPTQ INT4 权重</a:t>
            </a:r>
          </a:p>
        </p:txBody>
      </p:sp>
      <p:sp>
        <p:nvSpPr>
          <p:cNvPr id="10" name="full-weight-sub">
            <a:extLst xmlns:a="http://schemas.openxmlformats.org/drawingml/2006/main">
              <a:ext uri="{FF2B5EF4-FFF2-40B4-BE49-F238E27FC236}">
                <a16:creationId xmlns:a16="http://schemas.microsoft.com/office/drawing/2014/main" id="{D9E86161-7DB6-4EFC-BC41-D43422FE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W[K=2048, N]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压缩权重不整体展开</a:t>
            </a:r>
          </a:p>
        </p:txBody>
      </p:sp>
      <p:sp>
        <p:nvSpPr>
          <p:cNvPr id="11" name="arrow-line-338-328">
            <a:extLst xmlns:a="http://schemas.openxmlformats.org/drawingml/2006/main">
              <a:ext uri="{FF2B5EF4-FFF2-40B4-BE49-F238E27FC236}">
                <a16:creationId xmlns:a16="http://schemas.microsoft.com/office/drawing/2014/main" id="{9A056411-4EB2-440C-A19E-F816FEE0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00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2B"/>
          </a:solidFill>
          <a:ln xmlns:a="http://schemas.openxmlformats.org/drawingml/2006/main" w="14288">
            <a:solidFill>
              <a:srgbClr val="E86A2B"/>
            </a:solidFill>
            <a:prstDash val="solid"/>
          </a:ln>
        </p:spPr>
      </p:sp>
      <p:sp>
        <p:nvSpPr>
          <p:cNvPr id="12" name="arrow-head-338-328">
            <a:extLst xmlns:a="http://schemas.openxmlformats.org/drawingml/2006/main">
              <a:ext uri="{FF2B5EF4-FFF2-40B4-BE49-F238E27FC236}">
                <a16:creationId xmlns:a16="http://schemas.microsoft.com/office/drawing/2014/main" id="{EF420C3B-41FC-42B3-9F6C-3392F8F6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86A2B"/>
          </a:solidFill>
          <a:ln xmlns:a="http://schemas.openxmlformats.org/drawingml/2006/main" w="0">
            <a:solidFill>
              <a:srgbClr val="E86A2B"/>
            </a:solidFill>
            <a:prstDash val="solid"/>
          </a:ln>
        </p:spPr>
      </p:sp>
      <p:sp>
        <p:nvSpPr>
          <p:cNvPr id="13" name="planner">
            <a:extLst xmlns:a="http://schemas.openxmlformats.org/drawingml/2006/main">
              <a:ext uri="{FF2B5EF4-FFF2-40B4-BE49-F238E27FC236}">
                <a16:creationId xmlns:a16="http://schemas.microsoft.com/office/drawing/2014/main" id="{077F3F6D-29E2-4FA0-B563-5E978BFE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71750"/>
            <a:ext cx="2857500" cy="1333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D67C1"/>
          </a:solidFill>
          <a:ln xmlns:a="http://schemas.openxmlformats.org/drawingml/2006/main" w="14288">
            <a:solidFill>
              <a:srgbClr val="0954A4"/>
            </a:solidFill>
            <a:prstDash val="solid"/>
          </a:ln>
        </p:spPr>
      </p:sp>
      <p:sp>
        <p:nvSpPr>
          <p:cNvPr id="14" name="planner-title">
            <a:extLst xmlns:a="http://schemas.openxmlformats.org/drawingml/2006/main">
              <a:ext uri="{FF2B5EF4-FFF2-40B4-BE49-F238E27FC236}">
                <a16:creationId xmlns:a16="http://schemas.microsoft.com/office/drawing/2014/main" id="{019EDB53-095C-4E30-8BD3-D79B2D71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M/N/K Tile Planner</a:t>
            </a:r>
          </a:p>
        </p:txBody>
      </p:sp>
      <p:sp>
        <p:nvSpPr>
          <p:cNvPr id="15" name="planner-sub">
            <a:extLst xmlns:a="http://schemas.openxmlformats.org/drawingml/2006/main">
              <a:ext uri="{FF2B5EF4-FFF2-40B4-BE49-F238E27FC236}">
                <a16:creationId xmlns:a16="http://schemas.microsoft.com/office/drawing/2014/main" id="{F9092A1F-B0AF-4C00-B0DF-0DADF3EB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52750"/>
            <a:ext cx="2628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M：runtime rows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K：input_features / group 对齐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N：output_features / Scratch 约束</a:t>
            </a:r>
          </a:p>
        </p:txBody>
      </p:sp>
      <p:sp>
        <p:nvSpPr>
          <p:cNvPr id="16" name="arrow-line-740-328">
            <a:extLst xmlns:a="http://schemas.openxmlformats.org/drawingml/2006/main">
              <a:ext uri="{FF2B5EF4-FFF2-40B4-BE49-F238E27FC236}">
                <a16:creationId xmlns:a16="http://schemas.microsoft.com/office/drawing/2014/main" id="{68A748DD-BCE0-48DA-A69C-207BE152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00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C1"/>
          </a:solidFill>
          <a:ln xmlns:a="http://schemas.openxmlformats.org/drawingml/2006/main" w="14288">
            <a:solidFill>
              <a:srgbClr val="1D67C1"/>
            </a:solidFill>
            <a:prstDash val="solid"/>
          </a:ln>
        </p:spPr>
      </p:sp>
      <p:sp>
        <p:nvSpPr>
          <p:cNvPr id="17" name="arrow-head-740-328">
            <a:extLst xmlns:a="http://schemas.openxmlformats.org/drawingml/2006/main">
              <a:ext uri="{FF2B5EF4-FFF2-40B4-BE49-F238E27FC236}">
                <a16:creationId xmlns:a16="http://schemas.microsoft.com/office/drawing/2014/main" id="{13E18069-69A8-45CC-9931-D9E12FBC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67C1"/>
          </a:solidFill>
          <a:ln xmlns:a="http://schemas.openxmlformats.org/drawingml/2006/main" w="0">
            <a:solidFill>
              <a:srgbClr val="1D67C1"/>
            </a:solidFill>
            <a:prstDash val="solid"/>
          </a:ln>
        </p:spPr>
      </p:sp>
      <p:sp>
        <p:nvSpPr>
          <p:cNvPr id="18" name="n-axis">
            <a:extLst xmlns:a="http://schemas.openxmlformats.org/drawingml/2006/main">
              <a:ext uri="{FF2B5EF4-FFF2-40B4-BE49-F238E27FC236}">
                <a16:creationId xmlns:a16="http://schemas.microsoft.com/office/drawing/2014/main" id="{13190DB1-D268-4997-8343-D5554D2D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06782"/>
                </a:solidFill>
              </a:defRPr>
            </a:pPr>
            <a:r>
              <a:rPr sz="1200" b="1">
                <a:solidFill>
                  <a:srgbClr val="506782"/>
                </a:solidFill>
              </a:rPr>
              <a:t>O-proj：K=4096，N=2048（独立切分）</a:t>
            </a:r>
          </a:p>
        </p:txBody>
      </p:sp>
      <p:sp>
        <p:nvSpPr>
          <p:cNvPr id="19" name="tile0">
            <a:extLst xmlns:a="http://schemas.openxmlformats.org/drawingml/2006/main">
              <a:ext uri="{FF2B5EF4-FFF2-40B4-BE49-F238E27FC236}">
                <a16:creationId xmlns:a16="http://schemas.microsoft.com/office/drawing/2014/main" id="{EF138672-D874-42C2-9211-A6304BCD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860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F"/>
          </a:solidFill>
          <a:ln xmlns:a="http://schemas.openxmlformats.org/drawingml/2006/main" w="14288">
            <a:solidFill>
              <a:srgbClr val="4D8BD8"/>
            </a:solidFill>
            <a:prstDash val="solid"/>
          </a:ln>
        </p:spPr>
      </p:sp>
      <p:sp>
        <p:nvSpPr>
          <p:cNvPr id="20" name="tile1">
            <a:extLst xmlns:a="http://schemas.openxmlformats.org/drawingml/2006/main">
              <a:ext uri="{FF2B5EF4-FFF2-40B4-BE49-F238E27FC236}">
                <a16:creationId xmlns:a16="http://schemas.microsoft.com/office/drawing/2014/main" id="{DB0A1754-2131-451D-AC3C-5CDE48D3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860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9FB"/>
          </a:solidFill>
          <a:ln xmlns:a="http://schemas.openxmlformats.org/drawingml/2006/main" w="14288">
            <a:solidFill>
              <a:srgbClr val="4D8BD8"/>
            </a:solidFill>
            <a:prstDash val="solid"/>
          </a:ln>
        </p:spPr>
      </p:sp>
      <p:sp>
        <p:nvSpPr>
          <p:cNvPr id="21" name="tile2">
            <a:extLst xmlns:a="http://schemas.openxmlformats.org/drawingml/2006/main">
              <a:ext uri="{FF2B5EF4-FFF2-40B4-BE49-F238E27FC236}">
                <a16:creationId xmlns:a16="http://schemas.microsoft.com/office/drawing/2014/main" id="{479B8291-DA18-45A5-85DF-ECD129C5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6860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BF1"/>
          </a:solidFill>
          <a:ln xmlns:a="http://schemas.openxmlformats.org/drawingml/2006/main" w="14288">
            <a:solidFill>
              <a:srgbClr val="4D8BD8"/>
            </a:solidFill>
            <a:prstDash val="solid"/>
          </a:ln>
        </p:spPr>
      </p:sp>
      <p:sp>
        <p:nvSpPr>
          <p:cNvPr id="22" name="tile0-t">
            <a:extLst xmlns:a="http://schemas.openxmlformats.org/drawingml/2006/main">
              <a:ext uri="{FF2B5EF4-FFF2-40B4-BE49-F238E27FC236}">
                <a16:creationId xmlns:a16="http://schemas.microsoft.com/office/drawing/2014/main" id="{C1435E1A-1153-4D99-A314-F630543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52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B85"/>
                </a:solidFill>
              </a:defRPr>
            </a:pPr>
            <a:r>
              <a:rPr sz="1125" b="1">
                <a:solidFill>
                  <a:srgbClr val="174B85"/>
                </a:solidFill>
              </a:rPr>
              <a:t>K0  [0,896)</a:t>
            </a:r>
          </a:p>
        </p:txBody>
      </p:sp>
      <p:sp>
        <p:nvSpPr>
          <p:cNvPr id="23" name="tile1-t">
            <a:extLst xmlns:a="http://schemas.openxmlformats.org/drawingml/2006/main">
              <a:ext uri="{FF2B5EF4-FFF2-40B4-BE49-F238E27FC236}">
                <a16:creationId xmlns:a16="http://schemas.microsoft.com/office/drawing/2014/main" id="{7E5C9B6A-DF01-4409-A7F2-5F74A1F7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52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B85"/>
                </a:solidFill>
              </a:defRPr>
            </a:pPr>
            <a:r>
              <a:rPr sz="1125" b="1">
                <a:solidFill>
                  <a:srgbClr val="174B85"/>
                </a:solidFill>
              </a:rPr>
              <a:t>K1  [896,1792)</a:t>
            </a:r>
          </a:p>
        </p:txBody>
      </p:sp>
      <p:sp>
        <p:nvSpPr>
          <p:cNvPr id="24" name="tile2-t">
            <a:extLst xmlns:a="http://schemas.openxmlformats.org/drawingml/2006/main">
              <a:ext uri="{FF2B5EF4-FFF2-40B4-BE49-F238E27FC236}">
                <a16:creationId xmlns:a16="http://schemas.microsoft.com/office/drawing/2014/main" id="{4DB446BB-B6F6-4008-BE4D-0C340F5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6860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4B85"/>
                </a:solidFill>
              </a:defRPr>
            </a:pPr>
            <a:r>
              <a:rPr sz="825" b="1">
                <a:solidFill>
                  <a:srgbClr val="174B85"/>
                </a:solidFill>
              </a:rPr>
              <a:t>尾块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74B85"/>
                </a:solidFill>
              </a:defRPr>
            </a:pPr>
            <a:r>
              <a:rPr sz="825" b="1">
                <a:solidFill>
                  <a:srgbClr val="174B85"/>
                </a:solidFill>
              </a:rPr>
              <a:t>K=256</a:t>
            </a:r>
          </a:p>
        </p:txBody>
      </p:sp>
      <p:sp>
        <p:nvSpPr>
          <p:cNvPr id="25" name="align-note">
            <a:extLst xmlns:a="http://schemas.openxmlformats.org/drawingml/2006/main">
              <a:ext uri="{FF2B5EF4-FFF2-40B4-BE49-F238E27FC236}">
                <a16:creationId xmlns:a16="http://schemas.microsoft.com/office/drawing/2014/main" id="{8C344825-2CAC-47F1-8D42-BB07E5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004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A18"/>
                </a:solidFill>
              </a:defRPr>
            </a:pPr>
            <a:r>
              <a:rPr sz="1125" b="1">
                <a:solidFill>
                  <a:srgbClr val="D85A18"/>
                </a:solidFill>
              </a:rPr>
              <a:t>896 = floor(1023 / LCM(8,128)) × 128</a:t>
            </a:r>
          </a:p>
        </p:txBody>
      </p:sp>
      <p:sp>
        <p:nvSpPr>
          <p:cNvPr id="26" name="tdequant">
            <a:extLst xmlns:a="http://schemas.openxmlformats.org/drawingml/2006/main">
              <a:ext uri="{FF2B5EF4-FFF2-40B4-BE49-F238E27FC236}">
                <a16:creationId xmlns:a16="http://schemas.microsoft.com/office/drawing/2014/main" id="{C2F22816-9FE1-439A-B6A3-421176C5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22860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4288">
            <a:solidFill>
              <a:srgbClr val="087D43"/>
            </a:solidFill>
            <a:prstDash val="solid"/>
          </a:ln>
        </p:spPr>
      </p:sp>
      <p:sp>
        <p:nvSpPr>
          <p:cNvPr id="27" name="tdequant-title">
            <a:extLst xmlns:a="http://schemas.openxmlformats.org/drawingml/2006/main">
              <a:ext uri="{FF2B5EF4-FFF2-40B4-BE49-F238E27FC236}">
                <a16:creationId xmlns:a16="http://schemas.microsoft.com/office/drawing/2014/main" id="{71D3A7BB-D7A0-49BF-9219-CE68A15F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TDEQUANT</a:t>
            </a:r>
          </a:p>
        </p:txBody>
      </p:sp>
      <p:sp>
        <p:nvSpPr>
          <p:cNvPr id="28" name="tdequant-sub">
            <a:extLst xmlns:a="http://schemas.openxmlformats.org/drawingml/2006/main">
              <a:ext uri="{FF2B5EF4-FFF2-40B4-BE49-F238E27FC236}">
                <a16:creationId xmlns:a16="http://schemas.microsoft.com/office/drawing/2014/main" id="{DC8DB275-68B4-4518-8FBE-266EE5EF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205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INT4 + zero + scale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→ FP32 [Ktile, Ntile]</a:t>
            </a:r>
          </a:p>
        </p:txBody>
      </p:sp>
      <p:sp>
        <p:nvSpPr>
          <p:cNvPr id="29" name="arrow-line-1094-432">
            <a:extLst xmlns:a="http://schemas.openxmlformats.org/drawingml/2006/main">
              <a:ext uri="{FF2B5EF4-FFF2-40B4-BE49-F238E27FC236}">
                <a16:creationId xmlns:a16="http://schemas.microsoft.com/office/drawing/2014/main" id="{5430C22C-A0A2-40DF-A289-EE1D52B5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D58"/>
          </a:solidFill>
          <a:ln xmlns:a="http://schemas.openxmlformats.org/drawingml/2006/main" w="14288">
            <a:solidFill>
              <a:srgbClr val="139D58"/>
            </a:solidFill>
            <a:prstDash val="solid"/>
          </a:ln>
        </p:spPr>
      </p:sp>
      <p:sp>
        <p:nvSpPr>
          <p:cNvPr id="30" name="arrow-head-1094-432">
            <a:extLst xmlns:a="http://schemas.openxmlformats.org/drawingml/2006/main">
              <a:ext uri="{FF2B5EF4-FFF2-40B4-BE49-F238E27FC236}">
                <a16:creationId xmlns:a16="http://schemas.microsoft.com/office/drawing/2014/main" id="{61CE0C93-B3FD-40FF-ABC8-817D3A89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148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9D58"/>
          </a:solidFill>
          <a:ln xmlns:a="http://schemas.openxmlformats.org/drawingml/2006/main" w="0">
            <a:solidFill>
              <a:srgbClr val="139D58"/>
            </a:solidFill>
            <a:prstDash val="solid"/>
          </a:ln>
        </p:spPr>
      </p:sp>
      <p:sp>
        <p:nvSpPr>
          <p:cNvPr id="31" name="scratch">
            <a:extLst xmlns:a="http://schemas.openxmlformats.org/drawingml/2006/main">
              <a:ext uri="{FF2B5EF4-FFF2-40B4-BE49-F238E27FC236}">
                <a16:creationId xmlns:a16="http://schemas.microsoft.com/office/drawing/2014/main" id="{ECF1D42C-E678-429D-831B-8AD5BD28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581400"/>
            <a:ext cx="2781300" cy="1295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2B94B"/>
          </a:solidFill>
          <a:ln xmlns:a="http://schemas.openxmlformats.org/drawingml/2006/main" w="14288">
            <a:solidFill>
              <a:srgbClr val="D39722"/>
            </a:solidFill>
            <a:prstDash val="solid"/>
          </a:ln>
        </p:spPr>
      </p:sp>
      <p:sp>
        <p:nvSpPr>
          <p:cNvPr id="32" name="scratch-title">
            <a:extLst xmlns:a="http://schemas.openxmlformats.org/drawingml/2006/main">
              <a:ext uri="{FF2B5EF4-FFF2-40B4-BE49-F238E27FC236}">
                <a16:creationId xmlns:a16="http://schemas.microsoft.com/office/drawing/2014/main" id="{CED5C86E-50CB-4AAD-9F4E-C0555A70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576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3320A"/>
                </a:solidFill>
              </a:defRPr>
            </a:pPr>
            <a:r>
              <a:rPr sz="1350" b="1">
                <a:solidFill>
                  <a:srgbClr val="43320A"/>
                </a:solidFill>
              </a:rPr>
              <a:t>Scratch 双工作区</a:t>
            </a:r>
          </a:p>
        </p:txBody>
      </p:sp>
      <p:sp>
        <p:nvSpPr>
          <p:cNvPr id="33" name="scratch-sub">
            <a:extLst xmlns:a="http://schemas.openxmlformats.org/drawingml/2006/main">
              <a:ext uri="{FF2B5EF4-FFF2-40B4-BE49-F238E27FC236}">
                <a16:creationId xmlns:a16="http://schemas.microsoft.com/office/drawing/2014/main" id="{B2304F39-AF6B-4833-B2F4-7DD4ACC6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962400"/>
            <a:ext cx="255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3320A"/>
                </a:solidFill>
              </a:defRPr>
            </a:pPr>
            <a:r>
              <a:rPr sz="975" b="0">
                <a:solidFill>
                  <a:srgbClr val="43320A"/>
                </a:solidFill>
              </a:rPr>
              <a:t>① Dequant Weight Tile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43320A"/>
                </a:solidFill>
              </a:defRPr>
            </a:pPr>
            <a:r>
              <a:rPr sz="975" b="0">
                <a:solidFill>
                  <a:srgbClr val="43320A"/>
                </a:solidFill>
              </a:rPr>
              <a:t>② Partial Output Row</a:t>
            </a:r>
          </a:p>
        </p:txBody>
      </p:sp>
      <p:sp>
        <p:nvSpPr>
          <p:cNvPr id="34" name="arrow-line-1468-432">
            <a:extLst xmlns:a="http://schemas.openxmlformats.org/drawingml/2006/main">
              <a:ext uri="{FF2B5EF4-FFF2-40B4-BE49-F238E27FC236}">
                <a16:creationId xmlns:a16="http://schemas.microsoft.com/office/drawing/2014/main" id="{7EDA047F-B64D-4CA4-9B48-66085842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1910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D58"/>
          </a:solidFill>
          <a:ln xmlns:a="http://schemas.openxmlformats.org/drawingml/2006/main" w="14288">
            <a:solidFill>
              <a:srgbClr val="139D58"/>
            </a:solidFill>
            <a:prstDash val="solid"/>
          </a:ln>
        </p:spPr>
      </p:sp>
      <p:sp>
        <p:nvSpPr>
          <p:cNvPr id="35" name="arrow-head-1468-432">
            <a:extLst xmlns:a="http://schemas.openxmlformats.org/drawingml/2006/main">
              <a:ext uri="{FF2B5EF4-FFF2-40B4-BE49-F238E27FC236}">
                <a16:creationId xmlns:a16="http://schemas.microsoft.com/office/drawing/2014/main" id="{E95BD54D-E6B2-4853-8ECD-BCF9ED72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1148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9D58"/>
          </a:solidFill>
          <a:ln xmlns:a="http://schemas.openxmlformats.org/drawingml/2006/main" w="0">
            <a:solidFill>
              <a:srgbClr val="139D58"/>
            </a:solidFill>
            <a:prstDash val="solid"/>
          </a:ln>
        </p:spPr>
      </p:sp>
      <p:sp>
        <p:nvSpPr>
          <p:cNvPr id="36" name="tmma">
            <a:extLst xmlns:a="http://schemas.openxmlformats.org/drawingml/2006/main">
              <a:ext uri="{FF2B5EF4-FFF2-40B4-BE49-F238E27FC236}">
                <a16:creationId xmlns:a16="http://schemas.microsoft.com/office/drawing/2014/main" id="{C8BC7BB6-C9F0-4A63-BAC2-51EE94B0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3695700"/>
            <a:ext cx="27432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54F9B"/>
          </a:solidFill>
          <a:ln xmlns:a="http://schemas.openxmlformats.org/drawingml/2006/main" w="14288">
            <a:solidFill>
              <a:srgbClr val="0B3974"/>
            </a:solidFill>
            <a:prstDash val="solid"/>
          </a:ln>
        </p:spPr>
      </p:sp>
      <p:sp>
        <p:nvSpPr>
          <p:cNvPr id="37" name="tmma-title">
            <a:extLst xmlns:a="http://schemas.openxmlformats.org/drawingml/2006/main">
              <a:ext uri="{FF2B5EF4-FFF2-40B4-BE49-F238E27FC236}">
                <a16:creationId xmlns:a16="http://schemas.microsoft.com/office/drawing/2014/main" id="{F802DAD7-3003-44FB-99BA-A6E6698A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37719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TMMA + TADD</a:t>
            </a:r>
          </a:p>
        </p:txBody>
      </p:sp>
      <p:sp>
        <p:nvSpPr>
          <p:cNvPr id="38" name="tmma-sub">
            <a:extLst xmlns:a="http://schemas.openxmlformats.org/drawingml/2006/main">
              <a:ext uri="{FF2B5EF4-FFF2-40B4-BE49-F238E27FC236}">
                <a16:creationId xmlns:a16="http://schemas.microsoft.com/office/drawing/2014/main" id="{6538C6B6-8F15-462B-A857-4369D7BD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4076700"/>
            <a:ext cx="251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首 K Tile：TMMA → C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后续：TMMA → Partial；C += Partial</a:t>
            </a:r>
          </a:p>
        </p:txBody>
      </p:sp>
      <p:sp>
        <p:nvSpPr>
          <p:cNvPr id="39" name="loop">
            <a:extLst xmlns:a="http://schemas.openxmlformats.org/drawingml/2006/main">
              <a:ext uri="{FF2B5EF4-FFF2-40B4-BE49-F238E27FC236}">
                <a16:creationId xmlns:a16="http://schemas.microsoft.com/office/drawing/2014/main" id="{23E24467-5320-436D-8A42-8D99A606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482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95CB8"/>
                </a:solidFill>
              </a:defRPr>
            </a:pPr>
            <a:r>
              <a:rPr sz="1275" b="1">
                <a:solidFill>
                  <a:srgbClr val="095CB8"/>
                </a:solidFill>
              </a:rPr>
              <a:t>执行次序：M Tile → N Tile → K Tile；首 K 写 C，后续 K 写 Partial 并累加，再切换 N/M Tile</a:t>
            </a:r>
          </a:p>
        </p:txBody>
      </p:sp>
      <p:sp>
        <p:nvSpPr>
          <p:cNvPr id="40" name="why-head">
            <a:extLst xmlns:a="http://schemas.openxmlformats.org/drawingml/2006/main">
              <a:ext uri="{FF2B5EF4-FFF2-40B4-BE49-F238E27FC236}">
                <a16:creationId xmlns:a16="http://schemas.microsoft.com/office/drawing/2014/main" id="{E358A0DC-CD7F-4DBE-9CA7-48F2620A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5CB8"/>
                </a:solidFill>
              </a:defRPr>
            </a:pPr>
            <a:r>
              <a:rPr sz="1800" b="1">
                <a:solidFill>
                  <a:srgbClr val="095CB8"/>
                </a:solidFill>
              </a:rPr>
              <a:t>② 完整 M/N/K 切片与宽度规则</a:t>
            </a:r>
          </a:p>
        </p:txBody>
      </p:sp>
      <p:sp>
        <p:nvSpPr>
          <p:cNvPr id="41" name="layout-head">
            <a:extLst xmlns:a="http://schemas.openxmlformats.org/drawingml/2006/main">
              <a:ext uri="{FF2B5EF4-FFF2-40B4-BE49-F238E27FC236}">
                <a16:creationId xmlns:a16="http://schemas.microsoft.com/office/drawing/2014/main" id="{B4B22D63-B812-4541-AC67-D76387A3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483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5CB8"/>
                </a:solidFill>
              </a:defRPr>
            </a:pPr>
            <a:r>
              <a:rPr sz="1800" b="1">
                <a:solidFill>
                  <a:srgbClr val="095CB8"/>
                </a:solidFill>
              </a:rPr>
              <a:t>③ 每个 Tile 的物理 View、地址范围与量化元数据</a:t>
            </a:r>
          </a:p>
        </p:txBody>
      </p:sp>
      <p:sp>
        <p:nvSpPr>
          <p:cNvPr id="42" name="hw-head">
            <a:extLst xmlns:a="http://schemas.openxmlformats.org/drawingml/2006/main">
              <a:ext uri="{FF2B5EF4-FFF2-40B4-BE49-F238E27FC236}">
                <a16:creationId xmlns:a16="http://schemas.microsoft.com/office/drawing/2014/main" id="{5435860D-3CFA-4921-99F2-431F775B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848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5CB8"/>
                </a:solidFill>
              </a:defRPr>
            </a:pPr>
            <a:r>
              <a:rPr sz="1800" b="1">
                <a:solidFill>
                  <a:srgbClr val="095CB8"/>
                </a:solidFill>
              </a:rPr>
              <a:t>④ Lowering 指令序列 / 功能硬件行为</a:t>
            </a:r>
          </a:p>
        </p:txBody>
      </p:sp>
      <p:sp>
        <p:nvSpPr>
          <p:cNvPr id="43" name="why-panel">
            <a:extLst xmlns:a="http://schemas.openxmlformats.org/drawingml/2006/main">
              <a:ext uri="{FF2B5EF4-FFF2-40B4-BE49-F238E27FC236}">
                <a16:creationId xmlns:a16="http://schemas.microsoft.com/office/drawing/2014/main" id="{0B26B47B-CC75-44E9-AE6F-5F25E3AD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67450"/>
            <a:ext cx="53340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14288">
            <a:solidFill>
              <a:srgbClr val="B8CAE4"/>
            </a:solidFill>
            <a:prstDash val="solid"/>
          </a:ln>
        </p:spPr>
      </p:sp>
      <p:sp>
        <p:nvSpPr>
          <p:cNvPr id="44" name="layout-panel">
            <a:extLst xmlns:a="http://schemas.openxmlformats.org/drawingml/2006/main">
              <a:ext uri="{FF2B5EF4-FFF2-40B4-BE49-F238E27FC236}">
                <a16:creationId xmlns:a16="http://schemas.microsoft.com/office/drawing/2014/main" id="{D3CB2ED8-B9DD-4839-BFF1-F4A08ED1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67450"/>
            <a:ext cx="7429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14288">
            <a:solidFill>
              <a:srgbClr val="B8CAE4"/>
            </a:solidFill>
            <a:prstDash val="solid"/>
          </a:ln>
        </p:spPr>
      </p:sp>
      <p:sp>
        <p:nvSpPr>
          <p:cNvPr id="45" name="hw-panel">
            <a:extLst xmlns:a="http://schemas.openxmlformats.org/drawingml/2006/main">
              <a:ext uri="{FF2B5EF4-FFF2-40B4-BE49-F238E27FC236}">
                <a16:creationId xmlns:a16="http://schemas.microsoft.com/office/drawing/2014/main" id="{93C319A0-C746-4C09-ABE4-83C7ADD4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6267450"/>
            <a:ext cx="4381500" cy="3143250"/>
          </a:xfrm>
          <a:prstGeom xmlns:a="http://schemas.openxmlformats.org/drawingml/2006/main" prst="roundRect">
            <a:avLst>
              <a:gd name="adj" fmla="val 1212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14288">
            <a:solidFill>
              <a:srgbClr val="B8CAE4"/>
            </a:solidFill>
            <a:prstDash val="solid"/>
          </a:ln>
        </p:spPr>
      </p:sp>
      <p:sp>
        <p:nvSpPr>
          <p:cNvPr id="46" name="formula1">
            <a:extLst xmlns:a="http://schemas.openxmlformats.org/drawingml/2006/main">
              <a:ext uri="{FF2B5EF4-FFF2-40B4-BE49-F238E27FC236}">
                <a16:creationId xmlns:a16="http://schemas.microsoft.com/office/drawing/2014/main" id="{9E1021D6-DFEE-446D-8D6D-C8B07EC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06782"/>
                </a:solidFill>
              </a:defRPr>
            </a:pPr>
            <a:r>
              <a:rPr sz="1275" b="1">
                <a:solidFill>
                  <a:srgbClr val="506782"/>
                </a:solidFill>
              </a:rPr>
              <a:t>N Tile 上限（给定 Ktile）</a:t>
            </a:r>
          </a:p>
        </p:txBody>
      </p:sp>
      <p:sp>
        <p:nvSpPr>
          <p:cNvPr id="47" name="formula2">
            <a:extLst xmlns:a="http://schemas.openxmlformats.org/drawingml/2006/main">
              <a:ext uri="{FF2B5EF4-FFF2-40B4-BE49-F238E27FC236}">
                <a16:creationId xmlns:a16="http://schemas.microsoft.com/office/drawing/2014/main" id="{5B0B2705-5D89-47DE-AD50-E823B910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38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85A18"/>
                </a:solidFill>
              </a:defRPr>
            </a:pPr>
            <a:r>
              <a:rPr sz="1875" b="1">
                <a:solidFill>
                  <a:srgbClr val="D85A18"/>
                </a:solidFill>
              </a:rPr>
              <a:t>⌊Scratch / ((Ktile+1)×4)⌋</a:t>
            </a:r>
          </a:p>
        </p:txBody>
      </p:sp>
      <p:sp>
        <p:nvSpPr>
          <p:cNvPr id="48" name="formula3">
            <a:extLst xmlns:a="http://schemas.openxmlformats.org/drawingml/2006/main">
              <a:ext uri="{FF2B5EF4-FFF2-40B4-BE49-F238E27FC236}">
                <a16:creationId xmlns:a16="http://schemas.microsoft.com/office/drawing/2014/main" id="{2145E21C-7F4B-4A1F-806B-7B1078C6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06782"/>
                </a:solidFill>
              </a:defRPr>
            </a:pPr>
            <a:r>
              <a:rPr sz="1275" b="1">
                <a:solidFill>
                  <a:srgbClr val="506782"/>
                </a:solidFill>
              </a:rPr>
              <a:t>Attention O-proj</a:t>
            </a:r>
          </a:p>
        </p:txBody>
      </p:sp>
      <p:sp>
        <p:nvSpPr>
          <p:cNvPr id="49" name="formula4">
            <a:extLst xmlns:a="http://schemas.openxmlformats.org/drawingml/2006/main">
              <a:ext uri="{FF2B5EF4-FFF2-40B4-BE49-F238E27FC236}">
                <a16:creationId xmlns:a16="http://schemas.microsoft.com/office/drawing/2014/main" id="{50FB92B0-7F83-4F0B-82AB-98E5A3A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5CB8"/>
                </a:solidFill>
              </a:defRPr>
            </a:pPr>
            <a:r>
              <a:rPr sz="1875" b="1">
                <a:solidFill>
                  <a:srgbClr val="095CB8"/>
                </a:solidFill>
              </a:rPr>
              <a:t>K=heads×head_dim；N=hidden</a:t>
            </a:r>
          </a:p>
        </p:txBody>
      </p:sp>
      <p:sp>
        <p:nvSpPr>
          <p:cNvPr id="50" name="why-copy">
            <a:extLst xmlns:a="http://schemas.openxmlformats.org/drawingml/2006/main">
              <a:ext uri="{FF2B5EF4-FFF2-40B4-BE49-F238E27FC236}">
                <a16:creationId xmlns:a16="http://schemas.microsoft.com/office/drawing/2014/main" id="{93D331AA-C51F-4E43-9C08-3C08A84F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7245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34A66"/>
                </a:solidFill>
              </a:defRPr>
            </a:pPr>
            <a:r>
              <a:rPr sz="1275" b="0">
                <a:solidFill>
                  <a:srgbClr val="334A66"/>
                </a:solidFill>
              </a:rPr>
              <a:t>• M：按 runtime row 切分并保留 tensor row stride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4A66"/>
                </a:solidFill>
              </a:defRPr>
            </a:pPr>
            <a:r>
              <a:rPr sz="1275" b="0">
                <a:solidFill>
                  <a:srgbClr val="334A66"/>
                </a:solidFill>
              </a:rPr>
              <a:t>• 非尾 N Tile 按 8 通道对齐；尾块允许非整除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4A66"/>
                </a:solidFill>
              </a:defRPr>
            </a:pPr>
            <a:r>
              <a:rPr sz="1275" b="0">
                <a:solidFill>
                  <a:srgbClr val="334A66"/>
                </a:solidFill>
              </a:rPr>
              <a:t>• K Tile 不拆 INT4 pack / quant group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34A66"/>
                </a:solidFill>
              </a:defRPr>
            </a:pPr>
            <a:r>
              <a:rPr sz="1275" b="0">
                <a:solidFill>
                  <a:srgbClr val="334A66"/>
                </a:solidFill>
              </a:rPr>
              <a:t>• 禁止从 hidden_size 猜测 K；编译器显式写入参数 ABI</a:t>
            </a:r>
          </a:p>
        </p:txBody>
      </p:sp>
      <p:sp>
        <p:nvSpPr>
          <p:cNvPr id="51" name="th-0">
            <a:extLst xmlns:a="http://schemas.openxmlformats.org/drawingml/2006/main">
              <a:ext uri="{FF2B5EF4-FFF2-40B4-BE49-F238E27FC236}">
                <a16:creationId xmlns:a16="http://schemas.microsoft.com/office/drawing/2014/main" id="{B03BCBF2-1729-4D17-BED6-9DEA7DBF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7225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52" name="tht-0">
            <a:extLst xmlns:a="http://schemas.openxmlformats.org/drawingml/2006/main">
              <a:ext uri="{FF2B5EF4-FFF2-40B4-BE49-F238E27FC236}">
                <a16:creationId xmlns:a16="http://schemas.microsoft.com/office/drawing/2014/main" id="{C51D8F2C-27CC-461F-948C-8EB08145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62940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B85"/>
                </a:solidFill>
              </a:defRPr>
            </a:pPr>
            <a:r>
              <a:rPr sz="1125" b="1">
                <a:solidFill>
                  <a:srgbClr val="174B85"/>
                </a:solidFill>
              </a:rPr>
              <a:t>分量</a:t>
            </a:r>
          </a:p>
        </p:txBody>
      </p:sp>
      <p:sp>
        <p:nvSpPr>
          <p:cNvPr id="53" name="th-1">
            <a:extLst xmlns:a="http://schemas.openxmlformats.org/drawingml/2006/main">
              <a:ext uri="{FF2B5EF4-FFF2-40B4-BE49-F238E27FC236}">
                <a16:creationId xmlns:a16="http://schemas.microsoft.com/office/drawing/2014/main" id="{A7FC161A-6105-4304-A1EB-9FFAC57E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5722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54" name="tht-1">
            <a:extLst xmlns:a="http://schemas.openxmlformats.org/drawingml/2006/main">
              <a:ext uri="{FF2B5EF4-FFF2-40B4-BE49-F238E27FC236}">
                <a16:creationId xmlns:a16="http://schemas.microsoft.com/office/drawing/2014/main" id="{F2F5BFCB-64DC-4E78-9CAD-E2B5B693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66294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B85"/>
                </a:solidFill>
              </a:defRPr>
            </a:pPr>
            <a:r>
              <a:rPr sz="1125" b="1">
                <a:solidFill>
                  <a:srgbClr val="174B85"/>
                </a:solidFill>
              </a:rPr>
              <a:t>K 视图</a:t>
            </a:r>
          </a:p>
        </p:txBody>
      </p:sp>
      <p:sp>
        <p:nvSpPr>
          <p:cNvPr id="55" name="th-2">
            <a:extLst xmlns:a="http://schemas.openxmlformats.org/drawingml/2006/main">
              <a:ext uri="{FF2B5EF4-FFF2-40B4-BE49-F238E27FC236}">
                <a16:creationId xmlns:a16="http://schemas.microsoft.com/office/drawing/2014/main" id="{F39D63B8-2360-4928-9A91-1823EF9A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56" name="tht-2">
            <a:extLst xmlns:a="http://schemas.openxmlformats.org/drawingml/2006/main">
              <a:ext uri="{FF2B5EF4-FFF2-40B4-BE49-F238E27FC236}">
                <a16:creationId xmlns:a16="http://schemas.microsoft.com/office/drawing/2014/main" id="{033948A7-D3FA-42D6-9095-4A80798D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6294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B85"/>
                </a:solidFill>
              </a:defRPr>
            </a:pPr>
            <a:r>
              <a:rPr sz="1125" b="1">
                <a:solidFill>
                  <a:srgbClr val="174B85"/>
                </a:solidFill>
              </a:rPr>
              <a:t>N 偏移</a:t>
            </a:r>
          </a:p>
        </p:txBody>
      </p:sp>
      <p:sp>
        <p:nvSpPr>
          <p:cNvPr id="57" name="th-3">
            <a:extLst xmlns:a="http://schemas.openxmlformats.org/drawingml/2006/main">
              <a:ext uri="{FF2B5EF4-FFF2-40B4-BE49-F238E27FC236}">
                <a16:creationId xmlns:a16="http://schemas.microsoft.com/office/drawing/2014/main" id="{39E1124C-7F33-4C8B-BA6F-85E15D28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58" name="tht-3">
            <a:extLst xmlns:a="http://schemas.openxmlformats.org/drawingml/2006/main">
              <a:ext uri="{FF2B5EF4-FFF2-40B4-BE49-F238E27FC236}">
                <a16:creationId xmlns:a16="http://schemas.microsoft.com/office/drawing/2014/main" id="{316E2120-ADBC-4706-8A9A-30C8FFCD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294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B85"/>
                </a:solidFill>
              </a:defRPr>
            </a:pPr>
            <a:r>
              <a:rPr sz="1125" b="1">
                <a:solidFill>
                  <a:srgbClr val="174B85"/>
                </a:solidFill>
              </a:rPr>
              <a:t>行跨度</a:t>
            </a:r>
          </a:p>
        </p:txBody>
      </p:sp>
      <p:sp>
        <p:nvSpPr>
          <p:cNvPr id="59" name="th-4">
            <a:extLst xmlns:a="http://schemas.openxmlformats.org/drawingml/2006/main">
              <a:ext uri="{FF2B5EF4-FFF2-40B4-BE49-F238E27FC236}">
                <a16:creationId xmlns:a16="http://schemas.microsoft.com/office/drawing/2014/main" id="{D35778A1-6C33-4C68-B75A-467A84E9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5722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60" name="tht-4">
            <a:extLst xmlns:a="http://schemas.openxmlformats.org/drawingml/2006/main">
              <a:ext uri="{FF2B5EF4-FFF2-40B4-BE49-F238E27FC236}">
                <a16:creationId xmlns:a16="http://schemas.microsoft.com/office/drawing/2014/main" id="{1DC279CB-7D4F-4D1C-9A16-3CDF946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66294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4B85"/>
                </a:solidFill>
              </a:defRPr>
            </a:pPr>
            <a:r>
              <a:rPr sz="1125" b="1">
                <a:solidFill>
                  <a:srgbClr val="174B85"/>
                </a:solidFill>
              </a:rPr>
              <a:t>语义</a:t>
            </a:r>
          </a:p>
        </p:txBody>
      </p:sp>
      <p:sp>
        <p:nvSpPr>
          <p:cNvPr id="61" name="td-0-0">
            <a:extLst xmlns:a="http://schemas.openxmlformats.org/drawingml/2006/main">
              <a:ext uri="{FF2B5EF4-FFF2-40B4-BE49-F238E27FC236}">
                <a16:creationId xmlns:a16="http://schemas.microsoft.com/office/drawing/2014/main" id="{6E4C12AE-6724-4D21-80A6-83DCA591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97230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62" name="tdt-0-0">
            <a:extLst xmlns:a="http://schemas.openxmlformats.org/drawingml/2006/main">
              <a:ext uri="{FF2B5EF4-FFF2-40B4-BE49-F238E27FC236}">
                <a16:creationId xmlns:a16="http://schemas.microsoft.com/office/drawing/2014/main" id="{6D944BC9-970A-4917-8886-773270C1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038975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qweight</a:t>
            </a:r>
          </a:p>
        </p:txBody>
      </p:sp>
      <p:sp>
        <p:nvSpPr>
          <p:cNvPr id="63" name="td-0-1">
            <a:extLst xmlns:a="http://schemas.openxmlformats.org/drawingml/2006/main">
              <a:ext uri="{FF2B5EF4-FFF2-40B4-BE49-F238E27FC236}">
                <a16:creationId xmlns:a16="http://schemas.microsoft.com/office/drawing/2014/main" id="{3F063763-1FC6-47C3-8C09-880A181C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9723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64" name="tdt-0-1">
            <a:extLst xmlns:a="http://schemas.openxmlformats.org/drawingml/2006/main">
              <a:ext uri="{FF2B5EF4-FFF2-40B4-BE49-F238E27FC236}">
                <a16:creationId xmlns:a16="http://schemas.microsoft.com/office/drawing/2014/main" id="{9EC689B6-DBEF-4F9A-877F-C4927531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7038975"/>
            <a:ext cx="1400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Kbase/8</a:t>
            </a:r>
          </a:p>
        </p:txBody>
      </p:sp>
      <p:sp>
        <p:nvSpPr>
          <p:cNvPr id="65" name="td-0-2">
            <a:extLst xmlns:a="http://schemas.openxmlformats.org/drawingml/2006/main">
              <a:ext uri="{FF2B5EF4-FFF2-40B4-BE49-F238E27FC236}">
                <a16:creationId xmlns:a16="http://schemas.microsoft.com/office/drawing/2014/main" id="{6E7851F7-0AC0-43E9-AEF4-51ABAA92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972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66" name="tdt-0-2">
            <a:extLst xmlns:a="http://schemas.openxmlformats.org/drawingml/2006/main">
              <a:ext uri="{FF2B5EF4-FFF2-40B4-BE49-F238E27FC236}">
                <a16:creationId xmlns:a16="http://schemas.microsoft.com/office/drawing/2014/main" id="{82146B18-2EAE-4E1E-BA01-532E9163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0389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Nbase×4</a:t>
            </a:r>
          </a:p>
        </p:txBody>
      </p:sp>
      <p:sp>
        <p:nvSpPr>
          <p:cNvPr id="67" name="td-0-3">
            <a:extLst xmlns:a="http://schemas.openxmlformats.org/drawingml/2006/main">
              <a:ext uri="{FF2B5EF4-FFF2-40B4-BE49-F238E27FC236}">
                <a16:creationId xmlns:a16="http://schemas.microsoft.com/office/drawing/2014/main" id="{1EE1AFA3-ED51-4950-9785-AA74BC56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9723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68" name="tdt-0-3">
            <a:extLst xmlns:a="http://schemas.openxmlformats.org/drawingml/2006/main">
              <a:ext uri="{FF2B5EF4-FFF2-40B4-BE49-F238E27FC236}">
                <a16:creationId xmlns:a16="http://schemas.microsoft.com/office/drawing/2014/main" id="{2FEA9887-635F-4AB2-82CD-6BD5F039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0389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FullN×4</a:t>
            </a:r>
          </a:p>
        </p:txBody>
      </p:sp>
      <p:sp>
        <p:nvSpPr>
          <p:cNvPr id="69" name="td-0-4">
            <a:extLst xmlns:a="http://schemas.openxmlformats.org/drawingml/2006/main">
              <a:ext uri="{FF2B5EF4-FFF2-40B4-BE49-F238E27FC236}">
                <a16:creationId xmlns:a16="http://schemas.microsoft.com/office/drawing/2014/main" id="{0E03356D-75C8-41F3-B8D0-3181F9C6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97230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70" name="tdt-0-4">
            <a:extLst xmlns:a="http://schemas.openxmlformats.org/drawingml/2006/main">
              <a:ext uri="{FF2B5EF4-FFF2-40B4-BE49-F238E27FC236}">
                <a16:creationId xmlns:a16="http://schemas.microsoft.com/office/drawing/2014/main" id="{B75E17E8-974F-4457-A54D-771A0536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703897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INT4</a:t>
            </a:r>
          </a:p>
        </p:txBody>
      </p:sp>
      <p:sp>
        <p:nvSpPr>
          <p:cNvPr id="71" name="td-1-0">
            <a:extLst xmlns:a="http://schemas.openxmlformats.org/drawingml/2006/main">
              <a:ext uri="{FF2B5EF4-FFF2-40B4-BE49-F238E27FC236}">
                <a16:creationId xmlns:a16="http://schemas.microsoft.com/office/drawing/2014/main" id="{921DB5C7-1571-44D4-95FE-38D241AC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72" name="tdt-1-0">
            <a:extLst xmlns:a="http://schemas.openxmlformats.org/drawingml/2006/main">
              <a:ext uri="{FF2B5EF4-FFF2-40B4-BE49-F238E27FC236}">
                <a16:creationId xmlns:a16="http://schemas.microsoft.com/office/drawing/2014/main" id="{F5B743F2-56F6-4E56-BA09-674BD20C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496175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qzeros</a:t>
            </a:r>
          </a:p>
        </p:txBody>
      </p:sp>
      <p:sp>
        <p:nvSpPr>
          <p:cNvPr id="73" name="td-1-1">
            <a:extLst xmlns:a="http://schemas.openxmlformats.org/drawingml/2006/main">
              <a:ext uri="{FF2B5EF4-FFF2-40B4-BE49-F238E27FC236}">
                <a16:creationId xmlns:a16="http://schemas.microsoft.com/office/drawing/2014/main" id="{52E53BF6-B8BA-445C-869A-D925E58A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4295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74" name="tdt-1-1">
            <a:extLst xmlns:a="http://schemas.openxmlformats.org/drawingml/2006/main">
              <a:ext uri="{FF2B5EF4-FFF2-40B4-BE49-F238E27FC236}">
                <a16:creationId xmlns:a16="http://schemas.microsoft.com/office/drawing/2014/main" id="{D6DA07C3-35CD-42A4-A681-601468DE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7496175"/>
            <a:ext cx="1400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global group</a:t>
            </a:r>
          </a:p>
        </p:txBody>
      </p:sp>
      <p:sp>
        <p:nvSpPr>
          <p:cNvPr id="75" name="td-1-2">
            <a:extLst xmlns:a="http://schemas.openxmlformats.org/drawingml/2006/main">
              <a:ext uri="{FF2B5EF4-FFF2-40B4-BE49-F238E27FC236}">
                <a16:creationId xmlns:a16="http://schemas.microsoft.com/office/drawing/2014/main" id="{A50416D7-DD62-4DF5-B8A6-05F503F5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4295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76" name="tdt-1-2">
            <a:extLst xmlns:a="http://schemas.openxmlformats.org/drawingml/2006/main">
              <a:ext uri="{FF2B5EF4-FFF2-40B4-BE49-F238E27FC236}">
                <a16:creationId xmlns:a16="http://schemas.microsoft.com/office/drawing/2014/main" id="{3A378929-91D8-4845-BE0A-786B7183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4961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Nbase/8×4</a:t>
            </a:r>
          </a:p>
        </p:txBody>
      </p:sp>
      <p:sp>
        <p:nvSpPr>
          <p:cNvPr id="77" name="td-1-3">
            <a:extLst xmlns:a="http://schemas.openxmlformats.org/drawingml/2006/main">
              <a:ext uri="{FF2B5EF4-FFF2-40B4-BE49-F238E27FC236}">
                <a16:creationId xmlns:a16="http://schemas.microsoft.com/office/drawing/2014/main" id="{9F26F744-1830-4AF4-950F-ED37E59F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4295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78" name="tdt-1-3">
            <a:extLst xmlns:a="http://schemas.openxmlformats.org/drawingml/2006/main">
              <a:ext uri="{FF2B5EF4-FFF2-40B4-BE49-F238E27FC236}">
                <a16:creationId xmlns:a16="http://schemas.microsoft.com/office/drawing/2014/main" id="{9F7649E8-A1E0-4A80-A2CD-E0223859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4961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ceil(FullN/8)×4</a:t>
            </a:r>
          </a:p>
        </p:txBody>
      </p:sp>
      <p:sp>
        <p:nvSpPr>
          <p:cNvPr id="79" name="td-1-4">
            <a:extLst xmlns:a="http://schemas.openxmlformats.org/drawingml/2006/main">
              <a:ext uri="{FF2B5EF4-FFF2-40B4-BE49-F238E27FC236}">
                <a16:creationId xmlns:a16="http://schemas.microsoft.com/office/drawing/2014/main" id="{F6BB6E6A-BC64-45CA-AA0A-1FAE70FA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2950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80" name="tdt-1-4">
            <a:extLst xmlns:a="http://schemas.openxmlformats.org/drawingml/2006/main">
              <a:ext uri="{FF2B5EF4-FFF2-40B4-BE49-F238E27FC236}">
                <a16:creationId xmlns:a16="http://schemas.microsoft.com/office/drawing/2014/main" id="{4F091F19-349C-467C-B4F2-440239B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749617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zero</a:t>
            </a:r>
          </a:p>
        </p:txBody>
      </p:sp>
      <p:sp>
        <p:nvSpPr>
          <p:cNvPr id="81" name="td-2-0">
            <a:extLst xmlns:a="http://schemas.openxmlformats.org/drawingml/2006/main">
              <a:ext uri="{FF2B5EF4-FFF2-40B4-BE49-F238E27FC236}">
                <a16:creationId xmlns:a16="http://schemas.microsoft.com/office/drawing/2014/main" id="{14F2B896-AB85-43FF-9CDA-3A9D3FA8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88670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82" name="tdt-2-0">
            <a:extLst xmlns:a="http://schemas.openxmlformats.org/drawingml/2006/main">
              <a:ext uri="{FF2B5EF4-FFF2-40B4-BE49-F238E27FC236}">
                <a16:creationId xmlns:a16="http://schemas.microsoft.com/office/drawing/2014/main" id="{7CBCC4EB-AC32-4AC1-9E79-6287121F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953375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scales</a:t>
            </a:r>
          </a:p>
        </p:txBody>
      </p:sp>
      <p:sp>
        <p:nvSpPr>
          <p:cNvPr id="83" name="td-2-1">
            <a:extLst xmlns:a="http://schemas.openxmlformats.org/drawingml/2006/main">
              <a:ext uri="{FF2B5EF4-FFF2-40B4-BE49-F238E27FC236}">
                <a16:creationId xmlns:a16="http://schemas.microsoft.com/office/drawing/2014/main" id="{C647F573-D1E8-4806-92CD-553372EA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8867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84" name="tdt-2-1">
            <a:extLst xmlns:a="http://schemas.openxmlformats.org/drawingml/2006/main">
              <a:ext uri="{FF2B5EF4-FFF2-40B4-BE49-F238E27FC236}">
                <a16:creationId xmlns:a16="http://schemas.microsoft.com/office/drawing/2014/main" id="{FCFBFEBF-3734-40FD-828A-66BFCAC3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7953375"/>
            <a:ext cx="1400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global group</a:t>
            </a:r>
          </a:p>
        </p:txBody>
      </p:sp>
      <p:sp>
        <p:nvSpPr>
          <p:cNvPr id="85" name="td-2-2">
            <a:extLst xmlns:a="http://schemas.openxmlformats.org/drawingml/2006/main">
              <a:ext uri="{FF2B5EF4-FFF2-40B4-BE49-F238E27FC236}">
                <a16:creationId xmlns:a16="http://schemas.microsoft.com/office/drawing/2014/main" id="{A8A7DE41-832A-402A-B990-E94AA059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8867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86" name="tdt-2-2">
            <a:extLst xmlns:a="http://schemas.openxmlformats.org/drawingml/2006/main">
              <a:ext uri="{FF2B5EF4-FFF2-40B4-BE49-F238E27FC236}">
                <a16:creationId xmlns:a16="http://schemas.microsoft.com/office/drawing/2014/main" id="{1D70D39B-4FB6-42B7-9D39-DF2DF894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9533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Nbase×dtypeB</a:t>
            </a:r>
          </a:p>
        </p:txBody>
      </p:sp>
      <p:sp>
        <p:nvSpPr>
          <p:cNvPr id="87" name="td-2-3">
            <a:extLst xmlns:a="http://schemas.openxmlformats.org/drawingml/2006/main">
              <a:ext uri="{FF2B5EF4-FFF2-40B4-BE49-F238E27FC236}">
                <a16:creationId xmlns:a16="http://schemas.microsoft.com/office/drawing/2014/main" id="{9D0B0298-6839-4A40-96A2-C9810B82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867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88" name="tdt-2-3">
            <a:extLst xmlns:a="http://schemas.openxmlformats.org/drawingml/2006/main">
              <a:ext uri="{FF2B5EF4-FFF2-40B4-BE49-F238E27FC236}">
                <a16:creationId xmlns:a16="http://schemas.microsoft.com/office/drawing/2014/main" id="{3B8FA1A1-0639-4324-A8F5-400EC557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9533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FullN×dtypeB</a:t>
            </a:r>
          </a:p>
        </p:txBody>
      </p:sp>
      <p:sp>
        <p:nvSpPr>
          <p:cNvPr id="89" name="td-2-4">
            <a:extLst xmlns:a="http://schemas.openxmlformats.org/drawingml/2006/main">
              <a:ext uri="{FF2B5EF4-FFF2-40B4-BE49-F238E27FC236}">
                <a16:creationId xmlns:a16="http://schemas.microsoft.com/office/drawing/2014/main" id="{1C0F3F16-D601-4606-86B5-E0E230DE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88670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90" name="tdt-2-4">
            <a:extLst xmlns:a="http://schemas.openxmlformats.org/drawingml/2006/main">
              <a:ext uri="{FF2B5EF4-FFF2-40B4-BE49-F238E27FC236}">
                <a16:creationId xmlns:a16="http://schemas.microsoft.com/office/drawing/2014/main" id="{DD262E53-0776-4DE1-807A-41A041CB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795337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scale</a:t>
            </a:r>
          </a:p>
        </p:txBody>
      </p:sp>
      <p:sp>
        <p:nvSpPr>
          <p:cNvPr id="91" name="td-3-0">
            <a:extLst xmlns:a="http://schemas.openxmlformats.org/drawingml/2006/main">
              <a:ext uri="{FF2B5EF4-FFF2-40B4-BE49-F238E27FC236}">
                <a16:creationId xmlns:a16="http://schemas.microsoft.com/office/drawing/2014/main" id="{E504A856-E678-4D84-98B3-A4A44DCB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34390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92" name="tdt-3-0">
            <a:extLst xmlns:a="http://schemas.openxmlformats.org/drawingml/2006/main">
              <a:ext uri="{FF2B5EF4-FFF2-40B4-BE49-F238E27FC236}">
                <a16:creationId xmlns:a16="http://schemas.microsoft.com/office/drawing/2014/main" id="{9719A258-60D3-4D09-A173-BED2C6F9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410575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input / output</a:t>
            </a:r>
          </a:p>
        </p:txBody>
      </p:sp>
      <p:sp>
        <p:nvSpPr>
          <p:cNvPr id="93" name="td-3-1">
            <a:extLst xmlns:a="http://schemas.openxmlformats.org/drawingml/2006/main">
              <a:ext uri="{FF2B5EF4-FFF2-40B4-BE49-F238E27FC236}">
                <a16:creationId xmlns:a16="http://schemas.microsoft.com/office/drawing/2014/main" id="{D9D06BA6-80E6-4094-903F-E2E58867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83439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94" name="tdt-3-1">
            <a:extLst xmlns:a="http://schemas.openxmlformats.org/drawingml/2006/main">
              <a:ext uri="{FF2B5EF4-FFF2-40B4-BE49-F238E27FC236}">
                <a16:creationId xmlns:a16="http://schemas.microsoft.com/office/drawing/2014/main" id="{26011C8A-ED07-49F4-8432-0DB41035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8410575"/>
            <a:ext cx="1400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Kbase / —</a:t>
            </a:r>
          </a:p>
        </p:txBody>
      </p:sp>
      <p:sp>
        <p:nvSpPr>
          <p:cNvPr id="95" name="td-3-2">
            <a:extLst xmlns:a="http://schemas.openxmlformats.org/drawingml/2006/main">
              <a:ext uri="{FF2B5EF4-FFF2-40B4-BE49-F238E27FC236}">
                <a16:creationId xmlns:a16="http://schemas.microsoft.com/office/drawing/2014/main" id="{AAA0BCAA-BB8A-4C13-BC90-627C0B88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3439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96" name="tdt-3-2">
            <a:extLst xmlns:a="http://schemas.openxmlformats.org/drawingml/2006/main">
              <a:ext uri="{FF2B5EF4-FFF2-40B4-BE49-F238E27FC236}">
                <a16:creationId xmlns:a16="http://schemas.microsoft.com/office/drawing/2014/main" id="{38180FA6-DC76-4021-87EA-E0F433E2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84105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— / Nbase</a:t>
            </a:r>
          </a:p>
        </p:txBody>
      </p:sp>
      <p:sp>
        <p:nvSpPr>
          <p:cNvPr id="97" name="td-3-3">
            <a:extLst xmlns:a="http://schemas.openxmlformats.org/drawingml/2006/main">
              <a:ext uri="{FF2B5EF4-FFF2-40B4-BE49-F238E27FC236}">
                <a16:creationId xmlns:a16="http://schemas.microsoft.com/office/drawing/2014/main" id="{696254F7-A4E1-4485-95BF-9DF4362F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3439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98" name="tdt-3-3">
            <a:extLst xmlns:a="http://schemas.openxmlformats.org/drawingml/2006/main">
              <a:ext uri="{FF2B5EF4-FFF2-40B4-BE49-F238E27FC236}">
                <a16:creationId xmlns:a16="http://schemas.microsoft.com/office/drawing/2014/main" id="{A14BFE81-9B1D-437B-899A-BB7B264C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8410575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FullK / FullN</a:t>
            </a:r>
          </a:p>
        </p:txBody>
      </p:sp>
      <p:sp>
        <p:nvSpPr>
          <p:cNvPr id="99" name="td-3-4">
            <a:extLst xmlns:a="http://schemas.openxmlformats.org/drawingml/2006/main">
              <a:ext uri="{FF2B5EF4-FFF2-40B4-BE49-F238E27FC236}">
                <a16:creationId xmlns:a16="http://schemas.microsoft.com/office/drawing/2014/main" id="{84A92958-6263-4745-995A-2BA90C7B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834390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00" name="tdt-3-4">
            <a:extLst xmlns:a="http://schemas.openxmlformats.org/drawingml/2006/main">
              <a:ext uri="{FF2B5EF4-FFF2-40B4-BE49-F238E27FC236}">
                <a16:creationId xmlns:a16="http://schemas.microsoft.com/office/drawing/2014/main" id="{822EEFC0-D88F-4A64-9B30-F87BDA1C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841057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计算/回写</a:t>
            </a:r>
          </a:p>
        </p:txBody>
      </p:sp>
      <p:sp>
        <p:nvSpPr>
          <p:cNvPr id="101" name="stride-note">
            <a:extLst xmlns:a="http://schemas.openxmlformats.org/drawingml/2006/main">
              <a:ext uri="{FF2B5EF4-FFF2-40B4-BE49-F238E27FC236}">
                <a16:creationId xmlns:a16="http://schemas.microsoft.com/office/drawing/2014/main" id="{3D74887D-A55C-4D70-8057-9E1D2582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915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A18"/>
                </a:solidFill>
              </a:defRPr>
            </a:pPr>
            <a:r>
              <a:rPr sz="1125" b="1">
                <a:solidFill>
                  <a:srgbClr val="D85A18"/>
                </a:solidFill>
              </a:rPr>
              <a:t>每个分量独立计算 base + M/N/K offset、row stride 与 byte range；权重按 [N,K] 行跨度寻址，g_idx/group_base 使用全局量化组编号。</a:t>
            </a:r>
          </a:p>
        </p:txBody>
      </p:sp>
      <p:sp>
        <p:nvSpPr>
          <p:cNvPr id="102" name="num-0">
            <a:extLst xmlns:a="http://schemas.openxmlformats.org/drawingml/2006/main">
              <a:ext uri="{FF2B5EF4-FFF2-40B4-BE49-F238E27FC236}">
                <a16:creationId xmlns:a16="http://schemas.microsoft.com/office/drawing/2014/main" id="{AB007010-5795-4629-AB1E-B2310B7E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65722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D67C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03" name="numt-0">
            <a:extLst xmlns:a="http://schemas.openxmlformats.org/drawingml/2006/main">
              <a:ext uri="{FF2B5EF4-FFF2-40B4-BE49-F238E27FC236}">
                <a16:creationId xmlns:a16="http://schemas.microsoft.com/office/drawing/2014/main" id="{76E4134C-E5A3-4AFF-8C71-B8325EC6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66008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4" name="step-0">
            <a:extLst xmlns:a="http://schemas.openxmlformats.org/drawingml/2006/main">
              <a:ext uri="{FF2B5EF4-FFF2-40B4-BE49-F238E27FC236}">
                <a16:creationId xmlns:a16="http://schemas.microsoft.com/office/drawing/2014/main" id="{C0B22922-3103-46A6-B5E7-18B3E606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553200"/>
            <a:ext cx="318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A66"/>
                </a:solidFill>
              </a:defRPr>
            </a:pPr>
            <a:r>
              <a:rPr sz="1125" b="0">
                <a:solidFill>
                  <a:srgbClr val="334A66"/>
                </a:solidFill>
              </a:rPr>
              <a:t>TDMA 建立 M/N/K Tile 的 strided views</a:t>
            </a:r>
          </a:p>
        </p:txBody>
      </p:sp>
      <p:sp>
        <p:nvSpPr>
          <p:cNvPr id="105" name="num-1">
            <a:extLst xmlns:a="http://schemas.openxmlformats.org/drawingml/2006/main">
              <a:ext uri="{FF2B5EF4-FFF2-40B4-BE49-F238E27FC236}">
                <a16:creationId xmlns:a16="http://schemas.microsoft.com/office/drawing/2014/main" id="{209B91D3-C184-4563-A7AB-DE15A968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2009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06" name="numt-1">
            <a:extLst xmlns:a="http://schemas.openxmlformats.org/drawingml/2006/main">
              <a:ext uri="{FF2B5EF4-FFF2-40B4-BE49-F238E27FC236}">
                <a16:creationId xmlns:a16="http://schemas.microsoft.com/office/drawing/2014/main" id="{E9B739FF-84CA-45AC-9AF3-75773CE4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2294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step-1">
            <a:extLst xmlns:a="http://schemas.openxmlformats.org/drawingml/2006/main">
              <a:ext uri="{FF2B5EF4-FFF2-40B4-BE49-F238E27FC236}">
                <a16:creationId xmlns:a16="http://schemas.microsoft.com/office/drawing/2014/main" id="{C858E862-27C4-4DDF-A2CF-D7339DBF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7181850"/>
            <a:ext cx="318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4A66"/>
                </a:solidFill>
              </a:defRPr>
            </a:pPr>
            <a:r>
              <a:rPr sz="1125" b="1">
                <a:solidFill>
                  <a:srgbClr val="334A66"/>
                </a:solidFill>
              </a:rPr>
              <a:t>TDEQUANT：INT4 Tile → NPU-local Scratch</a:t>
            </a:r>
          </a:p>
        </p:txBody>
      </p:sp>
      <p:sp>
        <p:nvSpPr>
          <p:cNvPr id="108" name="num-2">
            <a:extLst xmlns:a="http://schemas.openxmlformats.org/drawingml/2006/main">
              <a:ext uri="{FF2B5EF4-FFF2-40B4-BE49-F238E27FC236}">
                <a16:creationId xmlns:a16="http://schemas.microsoft.com/office/drawing/2014/main" id="{5D985ED8-DD77-4F3E-9123-16AD8C06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82955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09" name="numt-2">
            <a:extLst xmlns:a="http://schemas.openxmlformats.org/drawingml/2006/main">
              <a:ext uri="{FF2B5EF4-FFF2-40B4-BE49-F238E27FC236}">
                <a16:creationId xmlns:a16="http://schemas.microsoft.com/office/drawing/2014/main" id="{DF4557C2-309C-415B-BF87-D423A60B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8581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0" name="step-2">
            <a:extLst xmlns:a="http://schemas.openxmlformats.org/drawingml/2006/main">
              <a:ext uri="{FF2B5EF4-FFF2-40B4-BE49-F238E27FC236}">
                <a16:creationId xmlns:a16="http://schemas.microsoft.com/office/drawing/2014/main" id="{ED24543B-F96F-4C9B-B24E-037429EB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7810500"/>
            <a:ext cx="318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4A66"/>
                </a:solidFill>
              </a:defRPr>
            </a:pPr>
            <a:r>
              <a:rPr sz="1125" b="1">
                <a:solidFill>
                  <a:srgbClr val="334A66"/>
                </a:solidFill>
              </a:rPr>
              <a:t>TMMA：真实 K×N；首 K 写 C，后续写 Partial</a:t>
            </a:r>
          </a:p>
        </p:txBody>
      </p:sp>
      <p:sp>
        <p:nvSpPr>
          <p:cNvPr id="111" name="num-3">
            <a:extLst xmlns:a="http://schemas.openxmlformats.org/drawingml/2006/main">
              <a:ext uri="{FF2B5EF4-FFF2-40B4-BE49-F238E27FC236}">
                <a16:creationId xmlns:a16="http://schemas.microsoft.com/office/drawing/2014/main" id="{CF12E020-4091-4FCA-8312-71E3E238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458200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D67C1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12" name="numt-3">
            <a:extLst xmlns:a="http://schemas.openxmlformats.org/drawingml/2006/main">
              <a:ext uri="{FF2B5EF4-FFF2-40B4-BE49-F238E27FC236}">
                <a16:creationId xmlns:a16="http://schemas.microsoft.com/office/drawing/2014/main" id="{B92AE6E6-5C94-4753-A440-00831879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4867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3" name="step-3">
            <a:extLst xmlns:a="http://schemas.openxmlformats.org/drawingml/2006/main">
              <a:ext uri="{FF2B5EF4-FFF2-40B4-BE49-F238E27FC236}">
                <a16:creationId xmlns:a16="http://schemas.microsoft.com/office/drawing/2014/main" id="{499ABB49-A017-4FDD-88D3-D844C0D0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439150"/>
            <a:ext cx="3181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34A66"/>
                </a:solidFill>
              </a:defRPr>
            </a:pPr>
            <a:r>
              <a:rPr sz="1125" b="0">
                <a:solidFill>
                  <a:srgbClr val="334A66"/>
                </a:solidFill>
              </a:rPr>
              <a:t>TADD/accumulate；TFENCE 后安全复用 Scratch</a:t>
            </a:r>
          </a:p>
        </p:txBody>
      </p:sp>
      <p:sp>
        <p:nvSpPr>
          <p:cNvPr id="114" name="future">
            <a:extLst xmlns:a="http://schemas.openxmlformats.org/drawingml/2006/main">
              <a:ext uri="{FF2B5EF4-FFF2-40B4-BE49-F238E27FC236}">
                <a16:creationId xmlns:a16="http://schemas.microsoft.com/office/drawing/2014/main" id="{64A0FD0E-CE42-4F67-9E07-CE5B391C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99160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E"/>
          </a:solidFill>
          <a:ln xmlns:a="http://schemas.openxmlformats.org/drawingml/2006/main" w="14288">
            <a:solidFill>
              <a:srgbClr val="8BC8A6"/>
            </a:solidFill>
            <a:prstDash val="solid"/>
          </a:ln>
        </p:spPr>
      </p:sp>
      <p:sp>
        <p:nvSpPr>
          <p:cNvPr id="115" name="future-t">
            <a:extLst xmlns:a="http://schemas.openxmlformats.org/drawingml/2006/main">
              <a:ext uri="{FF2B5EF4-FFF2-40B4-BE49-F238E27FC236}">
                <a16:creationId xmlns:a16="http://schemas.microsoft.com/office/drawing/2014/main" id="{0D1ED578-0639-492F-AD61-779E8235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8991600"/>
            <a:ext cx="3638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D43"/>
                </a:solidFill>
              </a:defRPr>
            </a:pPr>
            <a:r>
              <a:rPr sz="1050" b="1">
                <a:solidFill>
                  <a:srgbClr val="087D43"/>
                </a:solidFill>
              </a:rPr>
              <a:t>最新验收：RoPE 与 10 层 O-proj shadow 逐输出 different=0</a:t>
            </a:r>
          </a:p>
        </p:txBody>
      </p:sp>
      <p:sp>
        <p:nvSpPr>
          <p:cNvPr id="116" name="footer">
            <a:extLst xmlns:a="http://schemas.openxmlformats.org/drawingml/2006/main">
              <a:ext uri="{FF2B5EF4-FFF2-40B4-BE49-F238E27FC236}">
                <a16:creationId xmlns:a16="http://schemas.microsoft.com/office/drawing/2014/main" id="{3087475D-561A-4074-B9F8-D34DCCEE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620250"/>
            <a:ext cx="1760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5CB8"/>
          </a:solidFill>
          <a:ln xmlns:a="http://schemas.openxmlformats.org/drawingml/2006/main" w="14288">
            <a:solidFill>
              <a:srgbClr val="095CB8"/>
            </a:solidFill>
            <a:prstDash val="solid"/>
          </a:ln>
        </p:spPr>
      </p:sp>
      <p:sp>
        <p:nvSpPr>
          <p:cNvPr id="117" name="footer-t">
            <a:extLst xmlns:a="http://schemas.openxmlformats.org/drawingml/2006/main">
              <a:ext uri="{FF2B5EF4-FFF2-40B4-BE49-F238E27FC236}">
                <a16:creationId xmlns:a16="http://schemas.microsoft.com/office/drawing/2014/main" id="{02BD617B-673D-4CDD-8DBE-F4D4686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67875"/>
            <a:ext cx="1722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结果：完整 M/N/K 切片、显式 stride/range、跨 K 累加与非方阵投影均已进入通用 lowering；XGraph 与 Host 功能参考逐输出一致。</a:t>
            </a:r>
          </a:p>
        </p:txBody>
      </p:sp>
    </p:spTree>
    <p:extLst>
      <p:ext uri="{BB962C8B-B14F-4D97-AF65-F5344CB8AC3E}">
        <p14:creationId xmlns:p14="http://schemas.microsoft.com/office/powerpoint/2010/main" val="1846435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mapping-title">
            <a:extLst xmlns:a="http://schemas.openxmlformats.org/drawingml/2006/main">
              <a:ext uri="{FF2B5EF4-FFF2-40B4-BE49-F238E27FC236}">
                <a16:creationId xmlns:a16="http://schemas.microsoft.com/office/drawing/2014/main" id="{815C2FDE-9D23-4901-A42F-6366B378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1450"/>
            <a:ext cx="1562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5CB8"/>
                </a:solidFill>
              </a:defRPr>
            </a:pPr>
            <a:r>
              <a:rPr sz="3150" b="1">
                <a:solidFill>
                  <a:srgbClr val="095CB8"/>
                </a:solidFill>
              </a:rPr>
              <a:t>通用模型算子到 XOpenNPUX：映射、分解与逐输出一致性</a:t>
            </a:r>
          </a:p>
        </p:txBody>
      </p:sp>
      <p:sp>
        <p:nvSpPr>
          <p:cNvPr id="2" name="mapping-part">
            <a:extLst xmlns:a="http://schemas.openxmlformats.org/drawingml/2006/main">
              <a:ext uri="{FF2B5EF4-FFF2-40B4-BE49-F238E27FC236}">
                <a16:creationId xmlns:a16="http://schemas.microsoft.com/office/drawing/2014/main" id="{D7FE08CB-BC36-40B6-8590-A14ABFD6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85750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890AD"/>
                </a:solidFill>
              </a:defRPr>
            </a:pPr>
            <a:r>
              <a:rPr sz="975" b="1">
                <a:solidFill>
                  <a:srgbClr val="7890AD"/>
                </a:solidFill>
              </a:rPr>
              <a:t>OPERATOR LOWERING / SHADOW ACCEPTANCE</a:t>
            </a:r>
          </a:p>
        </p:txBody>
      </p:sp>
      <p:sp>
        <p:nvSpPr>
          <p:cNvPr id="3" name="mapping-title-rule">
            <a:extLst xmlns:a="http://schemas.openxmlformats.org/drawingml/2006/main">
              <a:ext uri="{FF2B5EF4-FFF2-40B4-BE49-F238E27FC236}">
                <a16:creationId xmlns:a16="http://schemas.microsoft.com/office/drawing/2014/main" id="{D23DDCA0-9950-47F9-A45A-57294CB8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00100"/>
            <a:ext cx="1760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8C5"/>
          </a:solidFill>
          <a:ln xmlns:a="http://schemas.openxmlformats.org/drawingml/2006/main" w="14288">
            <a:solidFill>
              <a:srgbClr val="1468C5"/>
            </a:solidFill>
            <a:prstDash val="solid"/>
          </a:ln>
        </p:spPr>
      </p:sp>
      <p:sp>
        <p:nvSpPr>
          <p:cNvPr id="4" name="mapping-summary">
            <a:extLst xmlns:a="http://schemas.openxmlformats.org/drawingml/2006/main">
              <a:ext uri="{FF2B5EF4-FFF2-40B4-BE49-F238E27FC236}">
                <a16:creationId xmlns:a16="http://schemas.microsoft.com/office/drawing/2014/main" id="{8AFEAE49-AAF7-41C2-9165-414C5732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760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4288">
            <a:solidFill>
              <a:srgbClr val="C4D8F2"/>
            </a:solidFill>
            <a:prstDash val="solid"/>
          </a:ln>
        </p:spPr>
      </p:sp>
      <p:sp>
        <p:nvSpPr>
          <p:cNvPr id="5" name="mapping-summary-text">
            <a:extLst xmlns:a="http://schemas.openxmlformats.org/drawingml/2006/main">
              <a:ext uri="{FF2B5EF4-FFF2-40B4-BE49-F238E27FC236}">
                <a16:creationId xmlns:a16="http://schemas.microsoft.com/office/drawing/2014/main" id="{67E755AD-C7A4-4372-AF55-808A82CE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724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9"/>
                </a:solidFill>
              </a:defRPr>
            </a:pPr>
            <a:r>
              <a:rPr sz="1350" b="0">
                <a:solidFill>
                  <a:srgbClr val="243B59"/>
                </a:solidFill>
              </a:rPr>
              <a:t>20 类通用算子已通过独立 golden；真实 Qwen3.5-35B prefill 的 524 个 request 全部可 lower 为设备命令。最新 shadow 以相同输入状态分别执行 XGraph 与 Host reference，已启用路径的所有输出 different=0，并保持严格 token 一致。 </a:t>
            </a:r>
          </a:p>
        </p:txBody>
      </p:sp>
      <p:sp>
        <p:nvSpPr>
          <p:cNvPr id="6" name="metric-batches">
            <a:extLst xmlns:a="http://schemas.openxmlformats.org/drawingml/2006/main">
              <a:ext uri="{FF2B5EF4-FFF2-40B4-BE49-F238E27FC236}">
                <a16:creationId xmlns:a16="http://schemas.microsoft.com/office/drawing/2014/main" id="{5F7246D3-A3A0-4BDA-A529-B6DC3056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2428875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D67C1"/>
          </a:solidFill>
          <a:ln xmlns:a="http://schemas.openxmlformats.org/drawingml/2006/main" w="14288">
            <a:solidFill>
              <a:srgbClr val="0954A4"/>
            </a:solidFill>
            <a:prstDash val="solid"/>
          </a:ln>
        </p:spPr>
      </p:sp>
      <p:sp>
        <p:nvSpPr>
          <p:cNvPr id="7" name="metric-batches-value">
            <a:extLst xmlns:a="http://schemas.openxmlformats.org/drawingml/2006/main">
              <a:ext uri="{FF2B5EF4-FFF2-40B4-BE49-F238E27FC236}">
                <a16:creationId xmlns:a16="http://schemas.microsoft.com/office/drawing/2014/main" id="{F183B07C-1526-4122-84F3-C4565510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954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524</a:t>
            </a:r>
          </a:p>
        </p:txBody>
      </p:sp>
      <p:sp>
        <p:nvSpPr>
          <p:cNvPr id="8" name="metric-batches-label">
            <a:extLst xmlns:a="http://schemas.openxmlformats.org/drawingml/2006/main">
              <a:ext uri="{FF2B5EF4-FFF2-40B4-BE49-F238E27FC236}">
                <a16:creationId xmlns:a16="http://schemas.microsoft.com/office/drawing/2014/main" id="{BFAAF857-EACE-4F22-B4A8-BFD1A807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76475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Observed requests</a:t>
            </a:r>
          </a:p>
        </p:txBody>
      </p:sp>
      <p:sp>
        <p:nvSpPr>
          <p:cNvPr id="9" name="metric-requests">
            <a:extLst xmlns:a="http://schemas.openxmlformats.org/drawingml/2006/main">
              <a:ext uri="{FF2B5EF4-FFF2-40B4-BE49-F238E27FC236}">
                <a16:creationId xmlns:a16="http://schemas.microsoft.com/office/drawing/2014/main" id="{81089C32-4BF0-405C-9796-CC4A7EE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28800"/>
            <a:ext cx="2428875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D67C1"/>
          </a:solidFill>
          <a:ln xmlns:a="http://schemas.openxmlformats.org/drawingml/2006/main" w="14288">
            <a:solidFill>
              <a:srgbClr val="0954A4"/>
            </a:solidFill>
            <a:prstDash val="solid"/>
          </a:ln>
        </p:spPr>
      </p:sp>
      <p:sp>
        <p:nvSpPr>
          <p:cNvPr id="10" name="metric-requests-value">
            <a:extLst xmlns:a="http://schemas.openxmlformats.org/drawingml/2006/main">
              <a:ext uri="{FF2B5EF4-FFF2-40B4-BE49-F238E27FC236}">
                <a16:creationId xmlns:a16="http://schemas.microsoft.com/office/drawing/2014/main" id="{E5C880ED-59AC-4B9D-AA4E-1182986B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954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524</a:t>
            </a:r>
          </a:p>
        </p:txBody>
      </p:sp>
      <p:sp>
        <p:nvSpPr>
          <p:cNvPr id="11" name="metric-requests-label">
            <a:extLst xmlns:a="http://schemas.openxmlformats.org/drawingml/2006/main">
              <a:ext uri="{FF2B5EF4-FFF2-40B4-BE49-F238E27FC236}">
                <a16:creationId xmlns:a16="http://schemas.microsoft.com/office/drawing/2014/main" id="{89D1D463-EA06-493C-9DDF-73A9EF28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76475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Lowerable requests</a:t>
            </a:r>
          </a:p>
        </p:txBody>
      </p:sp>
      <p:sp>
        <p:nvSpPr>
          <p:cNvPr id="12" name="metric-commands">
            <a:extLst xmlns:a="http://schemas.openxmlformats.org/drawingml/2006/main">
              <a:ext uri="{FF2B5EF4-FFF2-40B4-BE49-F238E27FC236}">
                <a16:creationId xmlns:a16="http://schemas.microsoft.com/office/drawing/2014/main" id="{108CB2EB-C012-4EB1-8322-2680CC01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28800"/>
            <a:ext cx="2428875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4288">
            <a:solidFill>
              <a:srgbClr val="087D43"/>
            </a:solidFill>
            <a:prstDash val="solid"/>
          </a:ln>
        </p:spPr>
      </p:sp>
      <p:sp>
        <p:nvSpPr>
          <p:cNvPr id="13" name="metric-commands-value">
            <a:extLst xmlns:a="http://schemas.openxmlformats.org/drawingml/2006/main">
              <a:ext uri="{FF2B5EF4-FFF2-40B4-BE49-F238E27FC236}">
                <a16:creationId xmlns:a16="http://schemas.microsoft.com/office/drawing/2014/main" id="{150D6E11-7CB3-4A74-8363-93AA2714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954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4" name="metric-commands-label">
            <a:extLst xmlns:a="http://schemas.openxmlformats.org/drawingml/2006/main">
              <a:ext uri="{FF2B5EF4-FFF2-40B4-BE49-F238E27FC236}">
                <a16:creationId xmlns:a16="http://schemas.microsoft.com/office/drawing/2014/main" id="{C209BF19-68C6-483A-89BB-9EA22621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76475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Host-fused audit</a:t>
            </a:r>
          </a:p>
        </p:txBody>
      </p:sp>
      <p:sp>
        <p:nvSpPr>
          <p:cNvPr id="15" name="metric-cycles">
            <a:extLst xmlns:a="http://schemas.openxmlformats.org/drawingml/2006/main">
              <a:ext uri="{FF2B5EF4-FFF2-40B4-BE49-F238E27FC236}">
                <a16:creationId xmlns:a16="http://schemas.microsoft.com/office/drawing/2014/main" id="{CE8719A0-969C-416C-AE26-BC61CE23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28800"/>
            <a:ext cx="2428875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4288">
            <a:solidFill>
              <a:srgbClr val="087D43"/>
            </a:solidFill>
            <a:prstDash val="solid"/>
          </a:ln>
        </p:spPr>
      </p:sp>
      <p:sp>
        <p:nvSpPr>
          <p:cNvPr id="16" name="metric-cycles-value">
            <a:extLst xmlns:a="http://schemas.openxmlformats.org/drawingml/2006/main">
              <a:ext uri="{FF2B5EF4-FFF2-40B4-BE49-F238E27FC236}">
                <a16:creationId xmlns:a16="http://schemas.microsoft.com/office/drawing/2014/main" id="{2E179A1D-2A78-4C39-A60D-A2D5619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954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7732</a:t>
            </a:r>
          </a:p>
        </p:txBody>
      </p:sp>
      <p:sp>
        <p:nvSpPr>
          <p:cNvPr id="17" name="metric-cycles-label">
            <a:extLst xmlns:a="http://schemas.openxmlformats.org/drawingml/2006/main">
              <a:ext uri="{FF2B5EF4-FFF2-40B4-BE49-F238E27FC236}">
                <a16:creationId xmlns:a16="http://schemas.microsoft.com/office/drawing/2014/main" id="{AB6B49AD-019B-4767-A22B-FF8BF4B7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76475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Emitted commands</a:t>
            </a:r>
          </a:p>
        </p:txBody>
      </p:sp>
      <p:sp>
        <p:nvSpPr>
          <p:cNvPr id="18" name="metric-operations">
            <a:extLst xmlns:a="http://schemas.openxmlformats.org/drawingml/2006/main">
              <a:ext uri="{FF2B5EF4-FFF2-40B4-BE49-F238E27FC236}">
                <a16:creationId xmlns:a16="http://schemas.microsoft.com/office/drawing/2014/main" id="{7BE35F54-2793-48AD-A426-125AB86D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1828800"/>
            <a:ext cx="2428875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4288">
            <a:solidFill>
              <a:srgbClr val="C85119"/>
            </a:solidFill>
            <a:prstDash val="solid"/>
          </a:ln>
        </p:spPr>
      </p:sp>
      <p:sp>
        <p:nvSpPr>
          <p:cNvPr id="19" name="metric-operations-value">
            <a:extLst xmlns:a="http://schemas.openxmlformats.org/drawingml/2006/main">
              <a:ext uri="{FF2B5EF4-FFF2-40B4-BE49-F238E27FC236}">
                <a16:creationId xmlns:a16="http://schemas.microsoft.com/office/drawing/2014/main" id="{7677CB52-E8D4-4316-AF55-CA25AC50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8954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20" name="metric-operations-label">
            <a:extLst xmlns:a="http://schemas.openxmlformats.org/drawingml/2006/main">
              <a:ext uri="{FF2B5EF4-FFF2-40B4-BE49-F238E27FC236}">
                <a16:creationId xmlns:a16="http://schemas.microsoft.com/office/drawing/2014/main" id="{09DC6545-AFA4-4CF6-8BFF-5AB33019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276475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Operator classes tested</a:t>
            </a:r>
          </a:p>
        </p:txBody>
      </p:sp>
      <p:sp>
        <p:nvSpPr>
          <p:cNvPr id="21" name="metric-correctness">
            <a:extLst xmlns:a="http://schemas.openxmlformats.org/drawingml/2006/main">
              <a:ext uri="{FF2B5EF4-FFF2-40B4-BE49-F238E27FC236}">
                <a16:creationId xmlns:a16="http://schemas.microsoft.com/office/drawing/2014/main" id="{3EB1A88B-8E9F-4325-9CBB-231ED827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1828800"/>
            <a:ext cx="2428875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54F9B"/>
          </a:solidFill>
          <a:ln xmlns:a="http://schemas.openxmlformats.org/drawingml/2006/main" w="14288">
            <a:solidFill>
              <a:srgbClr val="0B3974"/>
            </a:solidFill>
            <a:prstDash val="solid"/>
          </a:ln>
        </p:spPr>
      </p:sp>
      <p:sp>
        <p:nvSpPr>
          <p:cNvPr id="22" name="metric-correctness-value">
            <a:extLst xmlns:a="http://schemas.openxmlformats.org/drawingml/2006/main">
              <a:ext uri="{FF2B5EF4-FFF2-40B4-BE49-F238E27FC236}">
                <a16:creationId xmlns:a16="http://schemas.microsoft.com/office/drawing/2014/main" id="{0E6E9F3F-34C0-4F3F-A53E-83B13811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1895475"/>
            <a:ext cx="2162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0 DIFF</a:t>
            </a:r>
          </a:p>
        </p:txBody>
      </p:sp>
      <p:sp>
        <p:nvSpPr>
          <p:cNvPr id="23" name="metric-correctness-label">
            <a:extLst xmlns:a="http://schemas.openxmlformats.org/drawingml/2006/main">
              <a:ext uri="{FF2B5EF4-FFF2-40B4-BE49-F238E27FC236}">
                <a16:creationId xmlns:a16="http://schemas.microsoft.com/office/drawing/2014/main" id="{440459B5-BD2E-4227-8369-5A17BF96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2276475"/>
            <a:ext cx="2162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Shadow outputs</a:t>
            </a:r>
          </a:p>
        </p:txBody>
      </p:sp>
      <p:sp>
        <p:nvSpPr>
          <p:cNvPr id="24" name="batch-0">
            <a:extLst xmlns:a="http://schemas.openxmlformats.org/drawingml/2006/main">
              <a:ext uri="{FF2B5EF4-FFF2-40B4-BE49-F238E27FC236}">
                <a16:creationId xmlns:a16="http://schemas.microsoft.com/office/drawing/2014/main" id="{63910065-D7F2-457A-A4A9-7785BB50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C1"/>
          </a:solidFill>
          <a:ln xmlns:a="http://schemas.openxmlformats.org/drawingml/2006/main" w="14288">
            <a:solidFill>
              <a:srgbClr val="1D67C1"/>
            </a:solidFill>
            <a:prstDash val="solid"/>
          </a:ln>
        </p:spPr>
      </p:sp>
      <p:sp>
        <p:nvSpPr>
          <p:cNvPr id="25" name="batch-0-title">
            <a:extLst xmlns:a="http://schemas.openxmlformats.org/drawingml/2006/main">
              <a:ext uri="{FF2B5EF4-FFF2-40B4-BE49-F238E27FC236}">
                <a16:creationId xmlns:a16="http://schemas.microsoft.com/office/drawing/2014/main" id="{70255687-528E-4273-B494-83E3B0E9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510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Primitive 算子</a:t>
            </a:r>
          </a:p>
        </p:txBody>
      </p:sp>
      <p:sp>
        <p:nvSpPr>
          <p:cNvPr id="26" name="batch-0-detail">
            <a:extLst xmlns:a="http://schemas.openxmlformats.org/drawingml/2006/main">
              <a:ext uri="{FF2B5EF4-FFF2-40B4-BE49-F238E27FC236}">
                <a16:creationId xmlns:a16="http://schemas.microsoft.com/office/drawing/2014/main" id="{A278D593-7814-4127-9156-3972DD42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独立 golden / checksum PASS</a:t>
            </a:r>
          </a:p>
        </p:txBody>
      </p:sp>
      <p:sp>
        <p:nvSpPr>
          <p:cNvPr id="27" name="batch-1">
            <a:extLst xmlns:a="http://schemas.openxmlformats.org/drawingml/2006/main">
              <a:ext uri="{FF2B5EF4-FFF2-40B4-BE49-F238E27FC236}">
                <a16:creationId xmlns:a16="http://schemas.microsoft.com/office/drawing/2014/main" id="{803BA8C9-1B98-4D33-8225-8ADFDE6E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194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D58"/>
          </a:solidFill>
          <a:ln xmlns:a="http://schemas.openxmlformats.org/drawingml/2006/main" w="14288">
            <a:solidFill>
              <a:srgbClr val="139D58"/>
            </a:solidFill>
            <a:prstDash val="solid"/>
          </a:ln>
        </p:spPr>
      </p:sp>
      <p:sp>
        <p:nvSpPr>
          <p:cNvPr id="28" name="batch-1-title">
            <a:extLst xmlns:a="http://schemas.openxmlformats.org/drawingml/2006/main">
              <a:ext uri="{FF2B5EF4-FFF2-40B4-BE49-F238E27FC236}">
                <a16:creationId xmlns:a16="http://schemas.microsoft.com/office/drawing/2014/main" id="{518105E8-8A02-4D03-A42E-F5FCA6D1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67025"/>
            <a:ext cx="377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复合计算</a:t>
            </a:r>
          </a:p>
        </p:txBody>
      </p:sp>
      <p:sp>
        <p:nvSpPr>
          <p:cNvPr id="29" name="batch-1-detail">
            <a:extLst xmlns:a="http://schemas.openxmlformats.org/drawingml/2006/main">
              <a:ext uri="{FF2B5EF4-FFF2-40B4-BE49-F238E27FC236}">
                <a16:creationId xmlns:a16="http://schemas.microsoft.com/office/drawing/2014/main" id="{F876F998-66BD-4CA7-B269-DB0E25B3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337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GPTQ / Router / Attention / Expert</a:t>
            </a:r>
          </a:p>
        </p:txBody>
      </p:sp>
      <p:sp>
        <p:nvSpPr>
          <p:cNvPr id="30" name="batch-2">
            <a:extLst xmlns:a="http://schemas.openxmlformats.org/drawingml/2006/main">
              <a:ext uri="{FF2B5EF4-FFF2-40B4-BE49-F238E27FC236}">
                <a16:creationId xmlns:a16="http://schemas.microsoft.com/office/drawing/2014/main" id="{2962B1CD-6C8A-4876-BAE3-8B6DBA0C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194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A2B"/>
          </a:solidFill>
          <a:ln xmlns:a="http://schemas.openxmlformats.org/drawingml/2006/main" w="14288">
            <a:solidFill>
              <a:srgbClr val="E86A2B"/>
            </a:solidFill>
            <a:prstDash val="solid"/>
          </a:ln>
        </p:spPr>
      </p:sp>
      <p:sp>
        <p:nvSpPr>
          <p:cNvPr id="31" name="batch-2-title">
            <a:extLst xmlns:a="http://schemas.openxmlformats.org/drawingml/2006/main">
              <a:ext uri="{FF2B5EF4-FFF2-40B4-BE49-F238E27FC236}">
                <a16:creationId xmlns:a16="http://schemas.microsoft.com/office/drawing/2014/main" id="{9A0CE75C-2735-47F9-9DAC-932971CC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67025"/>
            <a:ext cx="3771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状态与数据移动</a:t>
            </a:r>
          </a:p>
        </p:txBody>
      </p:sp>
      <p:sp>
        <p:nvSpPr>
          <p:cNvPr id="32" name="batch-2-detail">
            <a:extLst xmlns:a="http://schemas.openxmlformats.org/drawingml/2006/main">
              <a:ext uri="{FF2B5EF4-FFF2-40B4-BE49-F238E27FC236}">
                <a16:creationId xmlns:a16="http://schemas.microsoft.com/office/drawing/2014/main" id="{78B322B8-CFBA-43D8-AB45-A1A6B704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337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DMA / KV / Recurrent / Combine</a:t>
            </a:r>
          </a:p>
        </p:txBody>
      </p:sp>
      <p:sp>
        <p:nvSpPr>
          <p:cNvPr id="33" name="batch-3">
            <a:extLst xmlns:a="http://schemas.openxmlformats.org/drawingml/2006/main">
              <a:ext uri="{FF2B5EF4-FFF2-40B4-BE49-F238E27FC236}">
                <a16:creationId xmlns:a16="http://schemas.microsoft.com/office/drawing/2014/main" id="{0471A44D-4BBE-4399-88DF-C378E0CB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"/>
            <a:ext cx="392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F9B"/>
          </a:solidFill>
          <a:ln xmlns:a="http://schemas.openxmlformats.org/drawingml/2006/main" w="14288">
            <a:solidFill>
              <a:srgbClr val="154F9B"/>
            </a:solidFill>
            <a:prstDash val="solid"/>
          </a:ln>
        </p:spPr>
      </p:sp>
      <p:sp>
        <p:nvSpPr>
          <p:cNvPr id="34" name="batch-3-title">
            <a:extLst xmlns:a="http://schemas.openxmlformats.org/drawingml/2006/main">
              <a:ext uri="{FF2B5EF4-FFF2-40B4-BE49-F238E27FC236}">
                <a16:creationId xmlns:a16="http://schemas.microsoft.com/office/drawing/2014/main" id="{BB8044B3-6C36-4115-80C2-96B92AA0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867025"/>
            <a:ext cx="3695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数值等价</a:t>
            </a:r>
          </a:p>
        </p:txBody>
      </p:sp>
      <p:sp>
        <p:nvSpPr>
          <p:cNvPr id="35" name="batch-3-detail">
            <a:extLst xmlns:a="http://schemas.openxmlformats.org/drawingml/2006/main">
              <a:ext uri="{FF2B5EF4-FFF2-40B4-BE49-F238E27FC236}">
                <a16:creationId xmlns:a16="http://schemas.microsoft.com/office/drawing/2014/main" id="{857FBFF3-F215-41CF-9BA0-7EF20E2E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3133725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Shadow different=0 / strict token PASS</a:t>
            </a:r>
          </a:p>
        </p:txBody>
      </p:sp>
      <p:sp>
        <p:nvSpPr>
          <p:cNvPr id="36" name="direct-head">
            <a:extLst xmlns:a="http://schemas.openxmlformats.org/drawingml/2006/main">
              <a:ext uri="{FF2B5EF4-FFF2-40B4-BE49-F238E27FC236}">
                <a16:creationId xmlns:a16="http://schemas.microsoft.com/office/drawing/2014/main" id="{F78D2E4D-2EB5-43E1-8A20-934BC8FD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95CB8"/>
                </a:solidFill>
              </a:defRPr>
            </a:pPr>
            <a:r>
              <a:rPr sz="1725" b="1">
                <a:solidFill>
                  <a:srgbClr val="095CB8"/>
                </a:solidFill>
              </a:rPr>
              <a:t>① 通用 primitive：稳定语义映射到 XOpenNPUX 指令</a:t>
            </a:r>
          </a:p>
        </p:txBody>
      </p:sp>
      <p:sp>
        <p:nvSpPr>
          <p:cNvPr id="37" name="direct-panel">
            <a:extLst xmlns:a="http://schemas.openxmlformats.org/drawingml/2006/main">
              <a:ext uri="{FF2B5EF4-FFF2-40B4-BE49-F238E27FC236}">
                <a16:creationId xmlns:a16="http://schemas.microsoft.com/office/drawing/2014/main" id="{AA2725C3-A285-47CE-96EA-1CD6F69C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76700"/>
            <a:ext cx="10687050" cy="5162550"/>
          </a:xfrm>
          <a:prstGeom xmlns:a="http://schemas.openxmlformats.org/drawingml/2006/main" prst="roundRect">
            <a:avLst>
              <a:gd name="adj" fmla="val 738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14288">
            <a:solidFill>
              <a:srgbClr val="B8CAE4"/>
            </a:solidFill>
            <a:prstDash val="solid"/>
          </a:ln>
        </p:spPr>
      </p:sp>
      <p:sp>
        <p:nvSpPr>
          <p:cNvPr id="38" name="direct-head-0">
            <a:extLst xmlns:a="http://schemas.openxmlformats.org/drawingml/2006/main">
              <a:ext uri="{FF2B5EF4-FFF2-40B4-BE49-F238E27FC236}">
                <a16:creationId xmlns:a16="http://schemas.microsoft.com/office/drawing/2014/main" id="{C0F35936-6B4C-4452-AB9F-766341E3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2047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39" name="direct-head-text-0">
            <a:extLst xmlns:a="http://schemas.openxmlformats.org/drawingml/2006/main">
              <a:ext uri="{FF2B5EF4-FFF2-40B4-BE49-F238E27FC236}">
                <a16:creationId xmlns:a16="http://schemas.microsoft.com/office/drawing/2014/main" id="{50BC7F61-2B9A-433D-980F-26BC6ECF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B85"/>
                </a:solidFill>
              </a:defRPr>
            </a:pPr>
            <a:r>
              <a:rPr sz="1050" b="1">
                <a:solidFill>
                  <a:srgbClr val="174B85"/>
                </a:solidFill>
              </a:rPr>
              <a:t>Generic op</a:t>
            </a:r>
          </a:p>
        </p:txBody>
      </p:sp>
      <p:sp>
        <p:nvSpPr>
          <p:cNvPr id="40" name="direct-head-1">
            <a:extLst xmlns:a="http://schemas.openxmlformats.org/drawingml/2006/main">
              <a:ext uri="{FF2B5EF4-FFF2-40B4-BE49-F238E27FC236}">
                <a16:creationId xmlns:a16="http://schemas.microsoft.com/office/drawing/2014/main" id="{04F2221B-EEF7-462D-8193-8C3E9688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672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41" name="direct-head-text-1">
            <a:extLst xmlns:a="http://schemas.openxmlformats.org/drawingml/2006/main">
              <a:ext uri="{FF2B5EF4-FFF2-40B4-BE49-F238E27FC236}">
                <a16:creationId xmlns:a16="http://schemas.microsoft.com/office/drawing/2014/main" id="{8A3810CE-FEBC-491A-884A-11C7B2C0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B85"/>
                </a:solidFill>
              </a:defRPr>
            </a:pPr>
            <a:r>
              <a:rPr sz="1050" b="1">
                <a:solidFill>
                  <a:srgbClr val="174B85"/>
                </a:solidFill>
              </a:rPr>
              <a:t>XOpenNPUX</a:t>
            </a:r>
          </a:p>
        </p:txBody>
      </p:sp>
      <p:sp>
        <p:nvSpPr>
          <p:cNvPr id="42" name="direct-head-2">
            <a:extLst xmlns:a="http://schemas.openxmlformats.org/drawingml/2006/main">
              <a:ext uri="{FF2B5EF4-FFF2-40B4-BE49-F238E27FC236}">
                <a16:creationId xmlns:a16="http://schemas.microsoft.com/office/drawing/2014/main" id="{BFEB9764-A353-49CB-8979-B76C9609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672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43" name="direct-head-text-2">
            <a:extLst xmlns:a="http://schemas.openxmlformats.org/drawingml/2006/main">
              <a:ext uri="{FF2B5EF4-FFF2-40B4-BE49-F238E27FC236}">
                <a16:creationId xmlns:a16="http://schemas.microsoft.com/office/drawing/2014/main" id="{39445A94-AF29-4F2E-930A-45A405CF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B85"/>
                </a:solidFill>
              </a:defRPr>
            </a:pPr>
            <a:r>
              <a:rPr sz="1050" b="1">
                <a:solidFill>
                  <a:srgbClr val="174B85"/>
                </a:solidFill>
              </a:rPr>
              <a:t>Test shape</a:t>
            </a:r>
          </a:p>
        </p:txBody>
      </p:sp>
      <p:sp>
        <p:nvSpPr>
          <p:cNvPr id="44" name="direct-head-3">
            <a:extLst xmlns:a="http://schemas.openxmlformats.org/drawingml/2006/main">
              <a:ext uri="{FF2B5EF4-FFF2-40B4-BE49-F238E27FC236}">
                <a16:creationId xmlns:a16="http://schemas.microsoft.com/office/drawing/2014/main" id="{D6704137-6B17-40CB-9472-D2CB0CF4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6720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45" name="direct-head-text-3">
            <a:extLst xmlns:a="http://schemas.openxmlformats.org/drawingml/2006/main">
              <a:ext uri="{FF2B5EF4-FFF2-40B4-BE49-F238E27FC236}">
                <a16:creationId xmlns:a16="http://schemas.microsoft.com/office/drawing/2014/main" id="{85954B24-4A7A-4BF3-BA0C-BBCC4381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B85"/>
                </a:solidFill>
              </a:defRPr>
            </a:pPr>
            <a:r>
              <a:rPr sz="1050" b="1">
                <a:solidFill>
                  <a:srgbClr val="174B85"/>
                </a:solidFill>
              </a:rPr>
              <a:t>Cmd</a:t>
            </a:r>
          </a:p>
        </p:txBody>
      </p:sp>
      <p:sp>
        <p:nvSpPr>
          <p:cNvPr id="46" name="direct-head-4">
            <a:extLst xmlns:a="http://schemas.openxmlformats.org/drawingml/2006/main">
              <a:ext uri="{FF2B5EF4-FFF2-40B4-BE49-F238E27FC236}">
                <a16:creationId xmlns:a16="http://schemas.microsoft.com/office/drawing/2014/main" id="{A59CA48B-026A-48E6-96D1-89F8A18F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672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47" name="direct-head-text-4">
            <a:extLst xmlns:a="http://schemas.openxmlformats.org/drawingml/2006/main">
              <a:ext uri="{FF2B5EF4-FFF2-40B4-BE49-F238E27FC236}">
                <a16:creationId xmlns:a16="http://schemas.microsoft.com/office/drawing/2014/main" id="{2ABDF8DD-CBDD-4283-B207-8F25C90F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B85"/>
                </a:solidFill>
              </a:defRPr>
            </a:pPr>
            <a:r>
              <a:rPr sz="1050" b="1">
                <a:solidFill>
                  <a:srgbClr val="174B85"/>
                </a:solidFill>
              </a:rPr>
              <a:t>Cycles</a:t>
            </a:r>
          </a:p>
        </p:txBody>
      </p:sp>
      <p:sp>
        <p:nvSpPr>
          <p:cNvPr id="48" name="direct-r0-c0">
            <a:extLst xmlns:a="http://schemas.openxmlformats.org/drawingml/2006/main">
              <a:ext uri="{FF2B5EF4-FFF2-40B4-BE49-F238E27FC236}">
                <a16:creationId xmlns:a16="http://schemas.microsoft.com/office/drawing/2014/main" id="{EAD257AB-1DD1-4585-ACD5-21480237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2047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49" name="direct-r0-c0-text">
            <a:extLst xmlns:a="http://schemas.openxmlformats.org/drawingml/2006/main">
              <a:ext uri="{FF2B5EF4-FFF2-40B4-BE49-F238E27FC236}">
                <a16:creationId xmlns:a16="http://schemas.microsoft.com/office/drawing/2014/main" id="{C2F1E72F-BB3D-4BF1-9FF1-E07CC3F9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EMBED</a:t>
            </a:r>
          </a:p>
        </p:txBody>
      </p:sp>
      <p:sp>
        <p:nvSpPr>
          <p:cNvPr id="50" name="direct-r0-c1">
            <a:extLst xmlns:a="http://schemas.openxmlformats.org/drawingml/2006/main">
              <a:ext uri="{FF2B5EF4-FFF2-40B4-BE49-F238E27FC236}">
                <a16:creationId xmlns:a16="http://schemas.microsoft.com/office/drawing/2014/main" id="{4A30ED99-476B-4569-82C2-764CFE7E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482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51" name="direct-r0-c1-text">
            <a:extLst xmlns:a="http://schemas.openxmlformats.org/drawingml/2006/main">
              <a:ext uri="{FF2B5EF4-FFF2-40B4-BE49-F238E27FC236}">
                <a16:creationId xmlns:a16="http://schemas.microsoft.com/office/drawing/2014/main" id="{9464BC29-7AFA-444B-B383-D34E3561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767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TGATHER</a:t>
            </a:r>
          </a:p>
        </p:txBody>
      </p:sp>
      <p:sp>
        <p:nvSpPr>
          <p:cNvPr id="52" name="direct-r0-c2">
            <a:extLst xmlns:a="http://schemas.openxmlformats.org/drawingml/2006/main">
              <a:ext uri="{FF2B5EF4-FFF2-40B4-BE49-F238E27FC236}">
                <a16:creationId xmlns:a16="http://schemas.microsoft.com/office/drawing/2014/main" id="{D9B0E744-E564-441C-B28D-35A98AF1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482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53" name="direct-r0-c2-text">
            <a:extLst xmlns:a="http://schemas.openxmlformats.org/drawingml/2006/main">
              <a:ext uri="{FF2B5EF4-FFF2-40B4-BE49-F238E27FC236}">
                <a16:creationId xmlns:a16="http://schemas.microsoft.com/office/drawing/2014/main" id="{46AA8705-2568-450E-BFD0-01EECE94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767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token × hidden</a:t>
            </a:r>
          </a:p>
        </p:txBody>
      </p:sp>
      <p:sp>
        <p:nvSpPr>
          <p:cNvPr id="54" name="direct-r0-c3">
            <a:extLst xmlns:a="http://schemas.openxmlformats.org/drawingml/2006/main">
              <a:ext uri="{FF2B5EF4-FFF2-40B4-BE49-F238E27FC236}">
                <a16:creationId xmlns:a16="http://schemas.microsoft.com/office/drawing/2014/main" id="{B28150F6-6379-47B1-91FB-A6B3C9F3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55" name="direct-r0-c3-text">
            <a:extLst xmlns:a="http://schemas.openxmlformats.org/drawingml/2006/main">
              <a:ext uri="{FF2B5EF4-FFF2-40B4-BE49-F238E27FC236}">
                <a16:creationId xmlns:a16="http://schemas.microsoft.com/office/drawing/2014/main" id="{C37E960B-C5C2-4E2B-A117-C2470D59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767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1</a:t>
            </a:r>
          </a:p>
        </p:txBody>
      </p:sp>
      <p:sp>
        <p:nvSpPr>
          <p:cNvPr id="56" name="direct-r0-c4">
            <a:extLst xmlns:a="http://schemas.openxmlformats.org/drawingml/2006/main">
              <a:ext uri="{FF2B5EF4-FFF2-40B4-BE49-F238E27FC236}">
                <a16:creationId xmlns:a16="http://schemas.microsoft.com/office/drawing/2014/main" id="{DDD8D2B4-CBBE-4416-A357-BE1A4BC5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57" name="direct-r0-c4-text">
            <a:extLst xmlns:a="http://schemas.openxmlformats.org/drawingml/2006/main">
              <a:ext uri="{FF2B5EF4-FFF2-40B4-BE49-F238E27FC236}">
                <a16:creationId xmlns:a16="http://schemas.microsoft.com/office/drawing/2014/main" id="{141A6483-F2F0-4F7B-93C8-FF71B9B0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767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elements</a:t>
            </a:r>
          </a:p>
        </p:txBody>
      </p:sp>
      <p:sp>
        <p:nvSpPr>
          <p:cNvPr id="58" name="direct-r1-c0">
            <a:extLst xmlns:a="http://schemas.openxmlformats.org/drawingml/2006/main">
              <a:ext uri="{FF2B5EF4-FFF2-40B4-BE49-F238E27FC236}">
                <a16:creationId xmlns:a16="http://schemas.microsoft.com/office/drawing/2014/main" id="{BDE5074F-AB8F-4B25-980E-CA62FBBC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2047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59" name="direct-r1-c0-text">
            <a:extLst xmlns:a="http://schemas.openxmlformats.org/drawingml/2006/main">
              <a:ext uri="{FF2B5EF4-FFF2-40B4-BE49-F238E27FC236}">
                <a16:creationId xmlns:a16="http://schemas.microsoft.com/office/drawing/2014/main" id="{B27505E0-0FB9-436A-8EF5-B32CC42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5302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MATMUL FP32</a:t>
            </a:r>
          </a:p>
        </p:txBody>
      </p:sp>
      <p:sp>
        <p:nvSpPr>
          <p:cNvPr id="60" name="direct-r1-c1">
            <a:extLst xmlns:a="http://schemas.openxmlformats.org/drawingml/2006/main">
              <a:ext uri="{FF2B5EF4-FFF2-40B4-BE49-F238E27FC236}">
                <a16:creationId xmlns:a16="http://schemas.microsoft.com/office/drawing/2014/main" id="{2BA18D6F-C0A0-49C6-8D8C-663AFEEB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244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61" name="direct-r1-c1-text">
            <a:extLst xmlns:a="http://schemas.openxmlformats.org/drawingml/2006/main">
              <a:ext uri="{FF2B5EF4-FFF2-40B4-BE49-F238E27FC236}">
                <a16:creationId xmlns:a16="http://schemas.microsoft.com/office/drawing/2014/main" id="{9B0AC771-D24F-4C10-B84E-51009696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530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TMMA</a:t>
            </a:r>
          </a:p>
        </p:txBody>
      </p:sp>
      <p:sp>
        <p:nvSpPr>
          <p:cNvPr id="62" name="direct-r1-c2">
            <a:extLst xmlns:a="http://schemas.openxmlformats.org/drawingml/2006/main">
              <a:ext uri="{FF2B5EF4-FFF2-40B4-BE49-F238E27FC236}">
                <a16:creationId xmlns:a16="http://schemas.microsoft.com/office/drawing/2014/main" id="{AC89AA32-77E0-4EAB-9189-E535D445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244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63" name="direct-r1-c2-text">
            <a:extLst xmlns:a="http://schemas.openxmlformats.org/drawingml/2006/main">
              <a:ext uri="{FF2B5EF4-FFF2-40B4-BE49-F238E27FC236}">
                <a16:creationId xmlns:a16="http://schemas.microsoft.com/office/drawing/2014/main" id="{32F55B36-D4E7-41B2-9404-ACD11B0E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530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M/N/K tiled</a:t>
            </a:r>
          </a:p>
        </p:txBody>
      </p:sp>
      <p:sp>
        <p:nvSpPr>
          <p:cNvPr id="64" name="direct-r1-c3">
            <a:extLst xmlns:a="http://schemas.openxmlformats.org/drawingml/2006/main">
              <a:ext uri="{FF2B5EF4-FFF2-40B4-BE49-F238E27FC236}">
                <a16:creationId xmlns:a16="http://schemas.microsoft.com/office/drawing/2014/main" id="{06C1CA6F-FB82-4315-A4B7-D52DF51C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244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65" name="direct-r1-c3-text">
            <a:extLst xmlns:a="http://schemas.openxmlformats.org/drawingml/2006/main">
              <a:ext uri="{FF2B5EF4-FFF2-40B4-BE49-F238E27FC236}">
                <a16:creationId xmlns:a16="http://schemas.microsoft.com/office/drawing/2014/main" id="{3B0FD820-9D81-42E4-A333-B8AF6A8B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530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1+</a:t>
            </a:r>
          </a:p>
        </p:txBody>
      </p:sp>
      <p:sp>
        <p:nvSpPr>
          <p:cNvPr id="66" name="direct-r1-c4">
            <a:extLst xmlns:a="http://schemas.openxmlformats.org/drawingml/2006/main">
              <a:ext uri="{FF2B5EF4-FFF2-40B4-BE49-F238E27FC236}">
                <a16:creationId xmlns:a16="http://schemas.microsoft.com/office/drawing/2014/main" id="{FD906905-1D85-47BA-BFF5-F17BF3CE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244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67" name="direct-r1-c4-text">
            <a:extLst xmlns:a="http://schemas.openxmlformats.org/drawingml/2006/main">
              <a:ext uri="{FF2B5EF4-FFF2-40B4-BE49-F238E27FC236}">
                <a16:creationId xmlns:a16="http://schemas.microsoft.com/office/drawing/2014/main" id="{9E523DC8-6DFE-47B0-B827-DE780F97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530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MACs</a:t>
            </a:r>
          </a:p>
        </p:txBody>
      </p:sp>
      <p:sp>
        <p:nvSpPr>
          <p:cNvPr id="68" name="direct-r2-c0">
            <a:extLst xmlns:a="http://schemas.openxmlformats.org/drawingml/2006/main">
              <a:ext uri="{FF2B5EF4-FFF2-40B4-BE49-F238E27FC236}">
                <a16:creationId xmlns:a16="http://schemas.microsoft.com/office/drawing/2014/main" id="{DC17FA9E-89FE-4E34-BC68-5048D979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2047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69" name="direct-r2-c0-text">
            <a:extLst xmlns:a="http://schemas.openxmlformats.org/drawingml/2006/main">
              <a:ext uri="{FF2B5EF4-FFF2-40B4-BE49-F238E27FC236}">
                <a16:creationId xmlns:a16="http://schemas.microsoft.com/office/drawing/2014/main" id="{B031DCE9-A9F0-46FA-8D09-9DD1F13F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292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ADD</a:t>
            </a:r>
          </a:p>
        </p:txBody>
      </p:sp>
      <p:sp>
        <p:nvSpPr>
          <p:cNvPr id="70" name="direct-r2-c1">
            <a:extLst xmlns:a="http://schemas.openxmlformats.org/drawingml/2006/main">
              <a:ext uri="{FF2B5EF4-FFF2-40B4-BE49-F238E27FC236}">
                <a16:creationId xmlns:a16="http://schemas.microsoft.com/office/drawing/2014/main" id="{A137AF36-77E5-49E4-A711-C4098CDB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6007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71" name="direct-r2-c1-text">
            <a:extLst xmlns:a="http://schemas.openxmlformats.org/drawingml/2006/main">
              <a:ext uri="{FF2B5EF4-FFF2-40B4-BE49-F238E27FC236}">
                <a16:creationId xmlns:a16="http://schemas.microsoft.com/office/drawing/2014/main" id="{EA6B63D3-F223-47DA-8E9E-6D7DB63E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292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TADD</a:t>
            </a:r>
          </a:p>
        </p:txBody>
      </p:sp>
      <p:sp>
        <p:nvSpPr>
          <p:cNvPr id="72" name="direct-r2-c2">
            <a:extLst xmlns:a="http://schemas.openxmlformats.org/drawingml/2006/main">
              <a:ext uri="{FF2B5EF4-FFF2-40B4-BE49-F238E27FC236}">
                <a16:creationId xmlns:a16="http://schemas.microsoft.com/office/drawing/2014/main" id="{C19535E2-8BCE-4AAE-81EE-F3D22019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007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73" name="direct-r2-c2-text">
            <a:extLst xmlns:a="http://schemas.openxmlformats.org/drawingml/2006/main">
              <a:ext uri="{FF2B5EF4-FFF2-40B4-BE49-F238E27FC236}">
                <a16:creationId xmlns:a16="http://schemas.microsoft.com/office/drawing/2014/main" id="{368E8EB3-58B3-42C2-A517-4B42E24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292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broadcast / element</a:t>
            </a:r>
          </a:p>
        </p:txBody>
      </p:sp>
      <p:sp>
        <p:nvSpPr>
          <p:cNvPr id="74" name="direct-r2-c3">
            <a:extLst xmlns:a="http://schemas.openxmlformats.org/drawingml/2006/main">
              <a:ext uri="{FF2B5EF4-FFF2-40B4-BE49-F238E27FC236}">
                <a16:creationId xmlns:a16="http://schemas.microsoft.com/office/drawing/2014/main" id="{2B648D9A-9292-465B-9FFE-C1DBF183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6007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75" name="direct-r2-c3-text">
            <a:extLst xmlns:a="http://schemas.openxmlformats.org/drawingml/2006/main">
              <a:ext uri="{FF2B5EF4-FFF2-40B4-BE49-F238E27FC236}">
                <a16:creationId xmlns:a16="http://schemas.microsoft.com/office/drawing/2014/main" id="{41DDCE3D-B7E7-4DFF-B97E-6A728AE0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292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1+</a:t>
            </a:r>
          </a:p>
        </p:txBody>
      </p:sp>
      <p:sp>
        <p:nvSpPr>
          <p:cNvPr id="76" name="direct-r2-c4">
            <a:extLst xmlns:a="http://schemas.openxmlformats.org/drawingml/2006/main">
              <a:ext uri="{FF2B5EF4-FFF2-40B4-BE49-F238E27FC236}">
                <a16:creationId xmlns:a16="http://schemas.microsoft.com/office/drawing/2014/main" id="{72BEBC68-2909-4641-8E0A-0549B2EB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6007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77" name="direct-r2-c4-text">
            <a:extLst xmlns:a="http://schemas.openxmlformats.org/drawingml/2006/main">
              <a:ext uri="{FF2B5EF4-FFF2-40B4-BE49-F238E27FC236}">
                <a16:creationId xmlns:a16="http://schemas.microsoft.com/office/drawing/2014/main" id="{E87BC2B4-01AF-4B82-B68C-5C91179F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292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elements</a:t>
            </a:r>
          </a:p>
        </p:txBody>
      </p:sp>
      <p:sp>
        <p:nvSpPr>
          <p:cNvPr id="78" name="direct-r3-c0">
            <a:extLst xmlns:a="http://schemas.openxmlformats.org/drawingml/2006/main">
              <a:ext uri="{FF2B5EF4-FFF2-40B4-BE49-F238E27FC236}">
                <a16:creationId xmlns:a16="http://schemas.microsoft.com/office/drawing/2014/main" id="{4D93A7FC-D027-4667-B32B-5A300EAB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2047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79" name="direct-r3-c0-text">
            <a:extLst xmlns:a="http://schemas.openxmlformats.org/drawingml/2006/main">
              <a:ext uri="{FF2B5EF4-FFF2-40B4-BE49-F238E27FC236}">
                <a16:creationId xmlns:a16="http://schemas.microsoft.com/office/drawing/2014/main" id="{80E32EB6-0369-4A79-86C1-2FB3335A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0552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MUL</a:t>
            </a:r>
          </a:p>
        </p:txBody>
      </p:sp>
      <p:sp>
        <p:nvSpPr>
          <p:cNvPr id="80" name="direct-r3-c1">
            <a:extLst xmlns:a="http://schemas.openxmlformats.org/drawingml/2006/main">
              <a:ext uri="{FF2B5EF4-FFF2-40B4-BE49-F238E27FC236}">
                <a16:creationId xmlns:a16="http://schemas.microsoft.com/office/drawing/2014/main" id="{6E383239-3588-4942-BB45-ACD7A625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0769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81" name="direct-r3-c1-text">
            <a:extLst xmlns:a="http://schemas.openxmlformats.org/drawingml/2006/main">
              <a:ext uri="{FF2B5EF4-FFF2-40B4-BE49-F238E27FC236}">
                <a16:creationId xmlns:a16="http://schemas.microsoft.com/office/drawing/2014/main" id="{C1DBA41A-D7DF-466D-A5CC-BCD967C5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1055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TMUL</a:t>
            </a:r>
          </a:p>
        </p:txBody>
      </p:sp>
      <p:sp>
        <p:nvSpPr>
          <p:cNvPr id="82" name="direct-r3-c2">
            <a:extLst xmlns:a="http://schemas.openxmlformats.org/drawingml/2006/main">
              <a:ext uri="{FF2B5EF4-FFF2-40B4-BE49-F238E27FC236}">
                <a16:creationId xmlns:a16="http://schemas.microsoft.com/office/drawing/2014/main" id="{3254FF35-F1EC-4FBD-B3A9-1E36D050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0769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83" name="direct-r3-c2-text">
            <a:extLst xmlns:a="http://schemas.openxmlformats.org/drawingml/2006/main">
              <a:ext uri="{FF2B5EF4-FFF2-40B4-BE49-F238E27FC236}">
                <a16:creationId xmlns:a16="http://schemas.microsoft.com/office/drawing/2014/main" id="{0EE74B66-2D0F-40F8-8394-21DBDA87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055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broadcast / element</a:t>
            </a:r>
          </a:p>
        </p:txBody>
      </p:sp>
      <p:sp>
        <p:nvSpPr>
          <p:cNvPr id="84" name="direct-r3-c3">
            <a:extLst xmlns:a="http://schemas.openxmlformats.org/drawingml/2006/main">
              <a:ext uri="{FF2B5EF4-FFF2-40B4-BE49-F238E27FC236}">
                <a16:creationId xmlns:a16="http://schemas.microsoft.com/office/drawing/2014/main" id="{A20A5A81-FD2E-4BC6-8A9C-8458AB9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0769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85" name="direct-r3-c3-text">
            <a:extLst xmlns:a="http://schemas.openxmlformats.org/drawingml/2006/main">
              <a:ext uri="{FF2B5EF4-FFF2-40B4-BE49-F238E27FC236}">
                <a16:creationId xmlns:a16="http://schemas.microsoft.com/office/drawing/2014/main" id="{EB138DD8-7DBE-4600-A03D-9E2A90F2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055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1+</a:t>
            </a:r>
          </a:p>
        </p:txBody>
      </p:sp>
      <p:sp>
        <p:nvSpPr>
          <p:cNvPr id="86" name="direct-r3-c4">
            <a:extLst xmlns:a="http://schemas.openxmlformats.org/drawingml/2006/main">
              <a:ext uri="{FF2B5EF4-FFF2-40B4-BE49-F238E27FC236}">
                <a16:creationId xmlns:a16="http://schemas.microsoft.com/office/drawing/2014/main" id="{0A3B6129-0F5B-42AE-976C-B9AD4193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076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87" name="direct-r3-c4-text">
            <a:extLst xmlns:a="http://schemas.openxmlformats.org/drawingml/2006/main">
              <a:ext uri="{FF2B5EF4-FFF2-40B4-BE49-F238E27FC236}">
                <a16:creationId xmlns:a16="http://schemas.microsoft.com/office/drawing/2014/main" id="{9050B7F3-154F-489C-A278-0DADACDC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055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elements</a:t>
            </a:r>
          </a:p>
        </p:txBody>
      </p:sp>
      <p:sp>
        <p:nvSpPr>
          <p:cNvPr id="88" name="direct-r4-c0">
            <a:extLst xmlns:a="http://schemas.openxmlformats.org/drawingml/2006/main">
              <a:ext uri="{FF2B5EF4-FFF2-40B4-BE49-F238E27FC236}">
                <a16:creationId xmlns:a16="http://schemas.microsoft.com/office/drawing/2014/main" id="{787CA056-B17C-49B7-925D-CC69DA8F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2047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89" name="direct-r4-c0-text">
            <a:extLst xmlns:a="http://schemas.openxmlformats.org/drawingml/2006/main">
              <a:ext uri="{FF2B5EF4-FFF2-40B4-BE49-F238E27FC236}">
                <a16:creationId xmlns:a16="http://schemas.microsoft.com/office/drawing/2014/main" id="{4466D4E2-367C-4BD8-8FDB-486668D7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817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NORMALIZE</a:t>
            </a:r>
          </a:p>
        </p:txBody>
      </p:sp>
      <p:sp>
        <p:nvSpPr>
          <p:cNvPr id="90" name="direct-r4-c1">
            <a:extLst xmlns:a="http://schemas.openxmlformats.org/drawingml/2006/main">
              <a:ext uri="{FF2B5EF4-FFF2-40B4-BE49-F238E27FC236}">
                <a16:creationId xmlns:a16="http://schemas.microsoft.com/office/drawing/2014/main" id="{CCDDB8BF-2E17-46B5-ADD6-9F04ADD4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5532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91" name="direct-r4-c1-text">
            <a:extLst xmlns:a="http://schemas.openxmlformats.org/drawingml/2006/main">
              <a:ext uri="{FF2B5EF4-FFF2-40B4-BE49-F238E27FC236}">
                <a16:creationId xmlns:a16="http://schemas.microsoft.com/office/drawing/2014/main" id="{6D1C8480-9CB0-41FD-B419-63CDF691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5817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TRMSNORM</a:t>
            </a:r>
          </a:p>
        </p:txBody>
      </p:sp>
      <p:sp>
        <p:nvSpPr>
          <p:cNvPr id="92" name="direct-r4-c2">
            <a:extLst xmlns:a="http://schemas.openxmlformats.org/drawingml/2006/main">
              <a:ext uri="{FF2B5EF4-FFF2-40B4-BE49-F238E27FC236}">
                <a16:creationId xmlns:a16="http://schemas.microsoft.com/office/drawing/2014/main" id="{7467AFCE-42C7-49B7-A036-E9E9CF5F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5532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93" name="direct-r4-c2-text">
            <a:extLst xmlns:a="http://schemas.openxmlformats.org/drawingml/2006/main">
              <a:ext uri="{FF2B5EF4-FFF2-40B4-BE49-F238E27FC236}">
                <a16:creationId xmlns:a16="http://schemas.microsoft.com/office/drawing/2014/main" id="{0963133D-7825-46EA-842C-C4B8C243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817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rows × hidden</a:t>
            </a:r>
          </a:p>
        </p:txBody>
      </p:sp>
      <p:sp>
        <p:nvSpPr>
          <p:cNvPr id="94" name="direct-r4-c3">
            <a:extLst xmlns:a="http://schemas.openxmlformats.org/drawingml/2006/main">
              <a:ext uri="{FF2B5EF4-FFF2-40B4-BE49-F238E27FC236}">
                <a16:creationId xmlns:a16="http://schemas.microsoft.com/office/drawing/2014/main" id="{3F988D09-31E7-4720-B84B-38A48DD6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5532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95" name="direct-r4-c3-text">
            <a:extLst xmlns:a="http://schemas.openxmlformats.org/drawingml/2006/main">
              <a:ext uri="{FF2B5EF4-FFF2-40B4-BE49-F238E27FC236}">
                <a16:creationId xmlns:a16="http://schemas.microsoft.com/office/drawing/2014/main" id="{6ACE7921-2816-40A4-A1CF-C50DA13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817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1+</a:t>
            </a:r>
          </a:p>
        </p:txBody>
      </p:sp>
      <p:sp>
        <p:nvSpPr>
          <p:cNvPr id="96" name="direct-r4-c4">
            <a:extLst xmlns:a="http://schemas.openxmlformats.org/drawingml/2006/main">
              <a:ext uri="{FF2B5EF4-FFF2-40B4-BE49-F238E27FC236}">
                <a16:creationId xmlns:a16="http://schemas.microsoft.com/office/drawing/2014/main" id="{8A6F57BC-DFB5-42D0-AAE0-016EBB17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5532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97" name="direct-r4-c4-text">
            <a:extLst xmlns:a="http://schemas.openxmlformats.org/drawingml/2006/main">
              <a:ext uri="{FF2B5EF4-FFF2-40B4-BE49-F238E27FC236}">
                <a16:creationId xmlns:a16="http://schemas.microsoft.com/office/drawing/2014/main" id="{9D93FAB6-D538-4D8B-94A1-3D76EFC5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817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elements</a:t>
            </a:r>
          </a:p>
        </p:txBody>
      </p:sp>
      <p:sp>
        <p:nvSpPr>
          <p:cNvPr id="98" name="direct-r5-c0">
            <a:extLst xmlns:a="http://schemas.openxmlformats.org/drawingml/2006/main">
              <a:ext uri="{FF2B5EF4-FFF2-40B4-BE49-F238E27FC236}">
                <a16:creationId xmlns:a16="http://schemas.microsoft.com/office/drawing/2014/main" id="{1FAEB857-3034-4BF2-AED3-01A40F2E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29450"/>
            <a:ext cx="2047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99" name="direct-r5-c0-text">
            <a:extLst xmlns:a="http://schemas.openxmlformats.org/drawingml/2006/main">
              <a:ext uri="{FF2B5EF4-FFF2-40B4-BE49-F238E27FC236}">
                <a16:creationId xmlns:a16="http://schemas.microsoft.com/office/drawing/2014/main" id="{7F65EDAC-E88F-4782-98B3-BFB25D78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5802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ROPE</a:t>
            </a:r>
          </a:p>
        </p:txBody>
      </p:sp>
      <p:sp>
        <p:nvSpPr>
          <p:cNvPr id="100" name="direct-r5-c1">
            <a:extLst xmlns:a="http://schemas.openxmlformats.org/drawingml/2006/main">
              <a:ext uri="{FF2B5EF4-FFF2-40B4-BE49-F238E27FC236}">
                <a16:creationId xmlns:a16="http://schemas.microsoft.com/office/drawing/2014/main" id="{6816A8EC-5B86-43FC-ACC0-11D8803B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0294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01" name="direct-r5-c1-text">
            <a:extLst xmlns:a="http://schemas.openxmlformats.org/drawingml/2006/main">
              <a:ext uri="{FF2B5EF4-FFF2-40B4-BE49-F238E27FC236}">
                <a16:creationId xmlns:a16="http://schemas.microsoft.com/office/drawing/2014/main" id="{C713A1FB-CB08-496F-80E9-843F7A9A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580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TROPE + tail TDMA</a:t>
            </a:r>
          </a:p>
        </p:txBody>
      </p:sp>
      <p:sp>
        <p:nvSpPr>
          <p:cNvPr id="102" name="direct-r5-c2">
            <a:extLst xmlns:a="http://schemas.openxmlformats.org/drawingml/2006/main">
              <a:ext uri="{FF2B5EF4-FFF2-40B4-BE49-F238E27FC236}">
                <a16:creationId xmlns:a16="http://schemas.microsoft.com/office/drawing/2014/main" id="{28961647-491A-4391-BF83-D8010DDE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70294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03" name="direct-r5-c2-text">
            <a:extLst xmlns:a="http://schemas.openxmlformats.org/drawingml/2006/main">
              <a:ext uri="{FF2B5EF4-FFF2-40B4-BE49-F238E27FC236}">
                <a16:creationId xmlns:a16="http://schemas.microsoft.com/office/drawing/2014/main" id="{3A3795D8-6F47-4AC2-84BD-56F4448F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0580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row × Q/K head</a:t>
            </a:r>
          </a:p>
        </p:txBody>
      </p:sp>
      <p:sp>
        <p:nvSpPr>
          <p:cNvPr id="104" name="direct-r5-c3">
            <a:extLst xmlns:a="http://schemas.openxmlformats.org/drawingml/2006/main">
              <a:ext uri="{FF2B5EF4-FFF2-40B4-BE49-F238E27FC236}">
                <a16:creationId xmlns:a16="http://schemas.microsoft.com/office/drawing/2014/main" id="{21354DB2-F924-4F0F-BCE9-58EEEC36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0294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05" name="direct-r5-c3-text">
            <a:extLst xmlns:a="http://schemas.openxmlformats.org/drawingml/2006/main">
              <a:ext uri="{FF2B5EF4-FFF2-40B4-BE49-F238E27FC236}">
                <a16:creationId xmlns:a16="http://schemas.microsoft.com/office/drawing/2014/main" id="{5C624C33-BBED-4BE3-A82F-1C261107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0580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2×R×H+</a:t>
            </a:r>
          </a:p>
        </p:txBody>
      </p:sp>
      <p:sp>
        <p:nvSpPr>
          <p:cNvPr id="106" name="direct-r5-c4">
            <a:extLst xmlns:a="http://schemas.openxmlformats.org/drawingml/2006/main">
              <a:ext uri="{FF2B5EF4-FFF2-40B4-BE49-F238E27FC236}">
                <a16:creationId xmlns:a16="http://schemas.microsoft.com/office/drawing/2014/main" id="{8BCFBB42-96DC-4DFC-A958-B8BD8F1F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0294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07" name="direct-r5-c4-text">
            <a:extLst xmlns:a="http://schemas.openxmlformats.org/drawingml/2006/main">
              <a:ext uri="{FF2B5EF4-FFF2-40B4-BE49-F238E27FC236}">
                <a16:creationId xmlns:a16="http://schemas.microsoft.com/office/drawing/2014/main" id="{0BF3DC00-DA35-4DA4-8B15-DF7A2BC7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0580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rotary elems</a:t>
            </a:r>
          </a:p>
        </p:txBody>
      </p:sp>
      <p:sp>
        <p:nvSpPr>
          <p:cNvPr id="108" name="direct-r6-c0">
            <a:extLst xmlns:a="http://schemas.openxmlformats.org/drawingml/2006/main">
              <a:ext uri="{FF2B5EF4-FFF2-40B4-BE49-F238E27FC236}">
                <a16:creationId xmlns:a16="http://schemas.microsoft.com/office/drawing/2014/main" id="{6568F749-C329-47D1-B7CF-944B1382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05700"/>
            <a:ext cx="2047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09" name="direct-r6-c0-text">
            <a:extLst xmlns:a="http://schemas.openxmlformats.org/drawingml/2006/main">
              <a:ext uri="{FF2B5EF4-FFF2-40B4-BE49-F238E27FC236}">
                <a16:creationId xmlns:a16="http://schemas.microsoft.com/office/drawing/2014/main" id="{BCE4A198-811B-4672-AB28-7F65E975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5342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SiLU</a:t>
            </a:r>
          </a:p>
        </p:txBody>
      </p:sp>
      <p:sp>
        <p:nvSpPr>
          <p:cNvPr id="110" name="direct-r6-c1">
            <a:extLst xmlns:a="http://schemas.openxmlformats.org/drawingml/2006/main">
              <a:ext uri="{FF2B5EF4-FFF2-40B4-BE49-F238E27FC236}">
                <a16:creationId xmlns:a16="http://schemas.microsoft.com/office/drawing/2014/main" id="{84A668C3-EE73-4B0A-997D-44B82809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5057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11" name="direct-r6-c1-text">
            <a:extLst xmlns:a="http://schemas.openxmlformats.org/drawingml/2006/main">
              <a:ext uri="{FF2B5EF4-FFF2-40B4-BE49-F238E27FC236}">
                <a16:creationId xmlns:a16="http://schemas.microsoft.com/office/drawing/2014/main" id="{0CA3A712-42A8-47F5-BA1A-08F12BDE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342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TSILU</a:t>
            </a:r>
          </a:p>
        </p:txBody>
      </p:sp>
      <p:sp>
        <p:nvSpPr>
          <p:cNvPr id="112" name="direct-r6-c2">
            <a:extLst xmlns:a="http://schemas.openxmlformats.org/drawingml/2006/main">
              <a:ext uri="{FF2B5EF4-FFF2-40B4-BE49-F238E27FC236}">
                <a16:creationId xmlns:a16="http://schemas.microsoft.com/office/drawing/2014/main" id="{26B8B974-1FED-4402-A37B-D15F45A6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75057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13" name="direct-r6-c2-text">
            <a:extLst xmlns:a="http://schemas.openxmlformats.org/drawingml/2006/main">
              <a:ext uri="{FF2B5EF4-FFF2-40B4-BE49-F238E27FC236}">
                <a16:creationId xmlns:a16="http://schemas.microsoft.com/office/drawing/2014/main" id="{BB452718-3B9F-4F65-8CEE-89144B77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5342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rows × hidden</a:t>
            </a:r>
          </a:p>
        </p:txBody>
      </p:sp>
      <p:sp>
        <p:nvSpPr>
          <p:cNvPr id="114" name="direct-r6-c3">
            <a:extLst xmlns:a="http://schemas.openxmlformats.org/drawingml/2006/main">
              <a:ext uri="{FF2B5EF4-FFF2-40B4-BE49-F238E27FC236}">
                <a16:creationId xmlns:a16="http://schemas.microsoft.com/office/drawing/2014/main" id="{59C0151C-9D68-41E3-9CDD-44AE3944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5057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15" name="direct-r6-c3-text">
            <a:extLst xmlns:a="http://schemas.openxmlformats.org/drawingml/2006/main">
              <a:ext uri="{FF2B5EF4-FFF2-40B4-BE49-F238E27FC236}">
                <a16:creationId xmlns:a16="http://schemas.microsoft.com/office/drawing/2014/main" id="{6E560DE6-DF41-41B2-B10C-AABEF1BD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5342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1+</a:t>
            </a:r>
          </a:p>
        </p:txBody>
      </p:sp>
      <p:sp>
        <p:nvSpPr>
          <p:cNvPr id="116" name="direct-r6-c4">
            <a:extLst xmlns:a="http://schemas.openxmlformats.org/drawingml/2006/main">
              <a:ext uri="{FF2B5EF4-FFF2-40B4-BE49-F238E27FC236}">
                <a16:creationId xmlns:a16="http://schemas.microsoft.com/office/drawing/2014/main" id="{C15DBF63-4BAB-4034-9CB7-449C1262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5057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17" name="direct-r6-c4-text">
            <a:extLst xmlns:a="http://schemas.openxmlformats.org/drawingml/2006/main">
              <a:ext uri="{FF2B5EF4-FFF2-40B4-BE49-F238E27FC236}">
                <a16:creationId xmlns:a16="http://schemas.microsoft.com/office/drawing/2014/main" id="{6A8918A9-B261-49F0-B89D-9DD180BE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5342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elements</a:t>
            </a:r>
          </a:p>
        </p:txBody>
      </p:sp>
      <p:sp>
        <p:nvSpPr>
          <p:cNvPr id="118" name="direct-r7-c0">
            <a:extLst xmlns:a="http://schemas.openxmlformats.org/drawingml/2006/main">
              <a:ext uri="{FF2B5EF4-FFF2-40B4-BE49-F238E27FC236}">
                <a16:creationId xmlns:a16="http://schemas.microsoft.com/office/drawing/2014/main" id="{98690D3C-081F-4ABD-84A8-75CAA69B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981950"/>
            <a:ext cx="2047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19" name="direct-r7-c0-text">
            <a:extLst xmlns:a="http://schemas.openxmlformats.org/drawingml/2006/main">
              <a:ext uri="{FF2B5EF4-FFF2-40B4-BE49-F238E27FC236}">
                <a16:creationId xmlns:a16="http://schemas.microsoft.com/office/drawing/2014/main" id="{461BCC35-B27C-4C5D-AD9C-391CB65B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01052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SOFTMAX</a:t>
            </a:r>
          </a:p>
        </p:txBody>
      </p:sp>
      <p:sp>
        <p:nvSpPr>
          <p:cNvPr id="120" name="direct-r7-c1">
            <a:extLst xmlns:a="http://schemas.openxmlformats.org/drawingml/2006/main">
              <a:ext uri="{FF2B5EF4-FFF2-40B4-BE49-F238E27FC236}">
                <a16:creationId xmlns:a16="http://schemas.microsoft.com/office/drawing/2014/main" id="{80610547-84D9-4AC5-B6D0-C8A09CAC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9819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21" name="direct-r7-c1-text">
            <a:extLst xmlns:a="http://schemas.openxmlformats.org/drawingml/2006/main">
              <a:ext uri="{FF2B5EF4-FFF2-40B4-BE49-F238E27FC236}">
                <a16:creationId xmlns:a16="http://schemas.microsoft.com/office/drawing/2014/main" id="{7E32AAA0-C282-44E8-A0E6-A43535FA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0105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TSOFTMAX</a:t>
            </a:r>
          </a:p>
        </p:txBody>
      </p:sp>
      <p:sp>
        <p:nvSpPr>
          <p:cNvPr id="122" name="direct-r7-c2">
            <a:extLst xmlns:a="http://schemas.openxmlformats.org/drawingml/2006/main">
              <a:ext uri="{FF2B5EF4-FFF2-40B4-BE49-F238E27FC236}">
                <a16:creationId xmlns:a16="http://schemas.microsoft.com/office/drawing/2014/main" id="{1E9C5215-E709-4518-8E79-7C7DD61C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79819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23" name="direct-r7-c2-text">
            <a:extLst xmlns:a="http://schemas.openxmlformats.org/drawingml/2006/main">
              <a:ext uri="{FF2B5EF4-FFF2-40B4-BE49-F238E27FC236}">
                <a16:creationId xmlns:a16="http://schemas.microsoft.com/office/drawing/2014/main" id="{79E5C100-FE86-42D6-9A1D-A32B9C96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0105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rows × width</a:t>
            </a:r>
          </a:p>
        </p:txBody>
      </p:sp>
      <p:sp>
        <p:nvSpPr>
          <p:cNvPr id="124" name="direct-r7-c3">
            <a:extLst xmlns:a="http://schemas.openxmlformats.org/drawingml/2006/main">
              <a:ext uri="{FF2B5EF4-FFF2-40B4-BE49-F238E27FC236}">
                <a16:creationId xmlns:a16="http://schemas.microsoft.com/office/drawing/2014/main" id="{633FE4BC-1410-4AEF-BC05-5BBB607F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9819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25" name="direct-r7-c3-text">
            <a:extLst xmlns:a="http://schemas.openxmlformats.org/drawingml/2006/main">
              <a:ext uri="{FF2B5EF4-FFF2-40B4-BE49-F238E27FC236}">
                <a16:creationId xmlns:a16="http://schemas.microsoft.com/office/drawing/2014/main" id="{A3DE74FB-27A9-4027-878A-FE99D5C3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0105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1+</a:t>
            </a:r>
          </a:p>
        </p:txBody>
      </p:sp>
      <p:sp>
        <p:nvSpPr>
          <p:cNvPr id="126" name="direct-r7-c4">
            <a:extLst xmlns:a="http://schemas.openxmlformats.org/drawingml/2006/main">
              <a:ext uri="{FF2B5EF4-FFF2-40B4-BE49-F238E27FC236}">
                <a16:creationId xmlns:a16="http://schemas.microsoft.com/office/drawing/2014/main" id="{03DCEC3C-2833-4A7D-BF99-E4CAE562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79819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27" name="direct-r7-c4-text">
            <a:extLst xmlns:a="http://schemas.openxmlformats.org/drawingml/2006/main">
              <a:ext uri="{FF2B5EF4-FFF2-40B4-BE49-F238E27FC236}">
                <a16:creationId xmlns:a16="http://schemas.microsoft.com/office/drawing/2014/main" id="{5B3DCEB8-AB9B-42B2-A5A0-4FA5FA62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0105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elements</a:t>
            </a:r>
          </a:p>
        </p:txBody>
      </p:sp>
      <p:sp>
        <p:nvSpPr>
          <p:cNvPr id="128" name="direct-r8-c0">
            <a:extLst xmlns:a="http://schemas.openxmlformats.org/drawingml/2006/main">
              <a:ext uri="{FF2B5EF4-FFF2-40B4-BE49-F238E27FC236}">
                <a16:creationId xmlns:a16="http://schemas.microsoft.com/office/drawing/2014/main" id="{922EDB61-CB04-4C68-B881-49EDCA7A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58200"/>
            <a:ext cx="2047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29" name="direct-r8-c0-text">
            <a:extLst xmlns:a="http://schemas.openxmlformats.org/drawingml/2006/main">
              <a:ext uri="{FF2B5EF4-FFF2-40B4-BE49-F238E27FC236}">
                <a16:creationId xmlns:a16="http://schemas.microsoft.com/office/drawing/2014/main" id="{088E2A6F-D0E7-4A97-B21A-F16712F0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4867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95CB8"/>
                </a:solidFill>
              </a:defRPr>
            </a:pPr>
            <a:r>
              <a:rPr sz="1050" b="1">
                <a:solidFill>
                  <a:srgbClr val="095CB8"/>
                </a:solidFill>
              </a:rPr>
              <a:t>TOPK</a:t>
            </a:r>
          </a:p>
        </p:txBody>
      </p:sp>
      <p:sp>
        <p:nvSpPr>
          <p:cNvPr id="130" name="direct-r8-c1">
            <a:extLst xmlns:a="http://schemas.openxmlformats.org/drawingml/2006/main">
              <a:ext uri="{FF2B5EF4-FFF2-40B4-BE49-F238E27FC236}">
                <a16:creationId xmlns:a16="http://schemas.microsoft.com/office/drawing/2014/main" id="{E5762558-9928-4441-9FE5-FBDF7687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4582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31" name="direct-r8-c1-text">
            <a:extLst xmlns:a="http://schemas.openxmlformats.org/drawingml/2006/main">
              <a:ext uri="{FF2B5EF4-FFF2-40B4-BE49-F238E27FC236}">
                <a16:creationId xmlns:a16="http://schemas.microsoft.com/office/drawing/2014/main" id="{AD52C734-420E-4BE3-B304-DD2589DB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4867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TTOPK</a:t>
            </a:r>
          </a:p>
        </p:txBody>
      </p:sp>
      <p:sp>
        <p:nvSpPr>
          <p:cNvPr id="132" name="direct-r8-c2">
            <a:extLst xmlns:a="http://schemas.openxmlformats.org/drawingml/2006/main">
              <a:ext uri="{FF2B5EF4-FFF2-40B4-BE49-F238E27FC236}">
                <a16:creationId xmlns:a16="http://schemas.microsoft.com/office/drawing/2014/main" id="{48860C72-E77B-4002-A374-BA130122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84582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33" name="direct-r8-c2-text">
            <a:extLst xmlns:a="http://schemas.openxmlformats.org/drawingml/2006/main">
              <a:ext uri="{FF2B5EF4-FFF2-40B4-BE49-F238E27FC236}">
                <a16:creationId xmlns:a16="http://schemas.microsoft.com/office/drawing/2014/main" id="{96BF0430-8734-4B33-B50D-82DA2613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4867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values + indices</a:t>
            </a:r>
          </a:p>
        </p:txBody>
      </p:sp>
      <p:sp>
        <p:nvSpPr>
          <p:cNvPr id="134" name="direct-r8-c3">
            <a:extLst xmlns:a="http://schemas.openxmlformats.org/drawingml/2006/main">
              <a:ext uri="{FF2B5EF4-FFF2-40B4-BE49-F238E27FC236}">
                <a16:creationId xmlns:a16="http://schemas.microsoft.com/office/drawing/2014/main" id="{AC630FFA-BA46-4FAF-A534-52A27175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4582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35" name="direct-r8-c3-text">
            <a:extLst xmlns:a="http://schemas.openxmlformats.org/drawingml/2006/main">
              <a:ext uri="{FF2B5EF4-FFF2-40B4-BE49-F238E27FC236}">
                <a16:creationId xmlns:a16="http://schemas.microsoft.com/office/drawing/2014/main" id="{C06C6CA1-408A-4005-A69F-58C10968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4867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1+</a:t>
            </a:r>
          </a:p>
        </p:txBody>
      </p:sp>
      <p:sp>
        <p:nvSpPr>
          <p:cNvPr id="136" name="direct-r8-c4">
            <a:extLst xmlns:a="http://schemas.openxmlformats.org/drawingml/2006/main">
              <a:ext uri="{FF2B5EF4-FFF2-40B4-BE49-F238E27FC236}">
                <a16:creationId xmlns:a16="http://schemas.microsoft.com/office/drawing/2014/main" id="{6978C308-3253-4831-9E1B-858CB4E5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4582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37" name="direct-r8-c4-text">
            <a:extLst xmlns:a="http://schemas.openxmlformats.org/drawingml/2006/main">
              <a:ext uri="{FF2B5EF4-FFF2-40B4-BE49-F238E27FC236}">
                <a16:creationId xmlns:a16="http://schemas.microsoft.com/office/drawing/2014/main" id="{35D24F9D-63CA-4F5A-BE23-EFB6663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4867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34A66"/>
                </a:solidFill>
              </a:defRPr>
            </a:pPr>
            <a:r>
              <a:rPr sz="1050" b="0">
                <a:solidFill>
                  <a:srgbClr val="334A66"/>
                </a:solidFill>
              </a:rPr>
              <a:t>elements</a:t>
            </a:r>
          </a:p>
        </p:txBody>
      </p:sp>
      <p:sp>
        <p:nvSpPr>
          <p:cNvPr id="138" name="composite-head">
            <a:extLst xmlns:a="http://schemas.openxmlformats.org/drawingml/2006/main">
              <a:ext uri="{FF2B5EF4-FFF2-40B4-BE49-F238E27FC236}">
                <a16:creationId xmlns:a16="http://schemas.microsoft.com/office/drawing/2014/main" id="{FB592FF3-5EFF-4B7D-800A-7B4B6EC6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766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95CB8"/>
                </a:solidFill>
              </a:defRPr>
            </a:pPr>
            <a:r>
              <a:rPr sz="1725" b="1">
                <a:solidFill>
                  <a:srgbClr val="095CB8"/>
                </a:solidFill>
              </a:rPr>
              <a:t>② 复合 lowering：通用 request 展开为可调度设备命令链</a:t>
            </a:r>
          </a:p>
        </p:txBody>
      </p:sp>
      <p:sp>
        <p:nvSpPr>
          <p:cNvPr id="139" name="composite-panel">
            <a:extLst xmlns:a="http://schemas.openxmlformats.org/drawingml/2006/main">
              <a:ext uri="{FF2B5EF4-FFF2-40B4-BE49-F238E27FC236}">
                <a16:creationId xmlns:a16="http://schemas.microsoft.com/office/drawing/2014/main" id="{111B826B-25F8-419E-A8D3-930E88AD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76700"/>
            <a:ext cx="6705600" cy="5162550"/>
          </a:xfrm>
          <a:prstGeom xmlns:a="http://schemas.openxmlformats.org/drawingml/2006/main" prst="roundRect">
            <a:avLst>
              <a:gd name="adj" fmla="val 738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14288">
            <a:solidFill>
              <a:srgbClr val="B8CAE4"/>
            </a:solidFill>
            <a:prstDash val="solid"/>
          </a:ln>
        </p:spPr>
      </p:sp>
      <p:sp>
        <p:nvSpPr>
          <p:cNvPr id="140" name="composite-head-0">
            <a:extLst xmlns:a="http://schemas.openxmlformats.org/drawingml/2006/main">
              <a:ext uri="{FF2B5EF4-FFF2-40B4-BE49-F238E27FC236}">
                <a16:creationId xmlns:a16="http://schemas.microsoft.com/office/drawing/2014/main" id="{D6707B1D-C2C0-4F43-BD13-2FB4A505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2672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141" name="composite-head-text-0">
            <a:extLst xmlns:a="http://schemas.openxmlformats.org/drawingml/2006/main">
              <a:ext uri="{FF2B5EF4-FFF2-40B4-BE49-F238E27FC236}">
                <a16:creationId xmlns:a16="http://schemas.microsoft.com/office/drawing/2014/main" id="{9CB3B3B3-6538-4551-B49C-F0A22159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305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B85"/>
                </a:solidFill>
              </a:defRPr>
            </a:pPr>
            <a:r>
              <a:rPr sz="1050" b="1">
                <a:solidFill>
                  <a:srgbClr val="174B85"/>
                </a:solidFill>
              </a:rPr>
              <a:t>Generic op</a:t>
            </a:r>
          </a:p>
        </p:txBody>
      </p:sp>
      <p:sp>
        <p:nvSpPr>
          <p:cNvPr id="142" name="composite-head-1">
            <a:extLst xmlns:a="http://schemas.openxmlformats.org/drawingml/2006/main">
              <a:ext uri="{FF2B5EF4-FFF2-40B4-BE49-F238E27FC236}">
                <a16:creationId xmlns:a16="http://schemas.microsoft.com/office/drawing/2014/main" id="{2454674C-C8CC-4BCB-BAE2-B6E1EC86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267200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143" name="composite-head-text-1">
            <a:extLst xmlns:a="http://schemas.openxmlformats.org/drawingml/2006/main">
              <a:ext uri="{FF2B5EF4-FFF2-40B4-BE49-F238E27FC236}">
                <a16:creationId xmlns:a16="http://schemas.microsoft.com/office/drawing/2014/main" id="{D6B2C3B8-5395-48BB-8488-C4319610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43053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B85"/>
                </a:solidFill>
              </a:defRPr>
            </a:pPr>
            <a:r>
              <a:rPr sz="1050" b="1">
                <a:solidFill>
                  <a:srgbClr val="174B85"/>
                </a:solidFill>
              </a:rPr>
              <a:t>Lowered sequence</a:t>
            </a:r>
          </a:p>
        </p:txBody>
      </p:sp>
      <p:sp>
        <p:nvSpPr>
          <p:cNvPr id="144" name="composite-head-2">
            <a:extLst xmlns:a="http://schemas.openxmlformats.org/drawingml/2006/main">
              <a:ext uri="{FF2B5EF4-FFF2-40B4-BE49-F238E27FC236}">
                <a16:creationId xmlns:a16="http://schemas.microsoft.com/office/drawing/2014/main" id="{CA318C66-5447-4716-B7A2-A4CAD4D6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4267200"/>
            <a:ext cx="76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145" name="composite-head-text-2">
            <a:extLst xmlns:a="http://schemas.openxmlformats.org/drawingml/2006/main">
              <a:ext uri="{FF2B5EF4-FFF2-40B4-BE49-F238E27FC236}">
                <a16:creationId xmlns:a16="http://schemas.microsoft.com/office/drawing/2014/main" id="{2BA57157-186D-4E8E-941B-72D37FE1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43053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B85"/>
                </a:solidFill>
              </a:defRPr>
            </a:pPr>
            <a:r>
              <a:rPr sz="1050" b="1">
                <a:solidFill>
                  <a:srgbClr val="174B85"/>
                </a:solidFill>
              </a:rPr>
              <a:t>Cmd</a:t>
            </a:r>
          </a:p>
        </p:txBody>
      </p:sp>
      <p:sp>
        <p:nvSpPr>
          <p:cNvPr id="146" name="composite-head-3">
            <a:extLst xmlns:a="http://schemas.openxmlformats.org/drawingml/2006/main">
              <a:ext uri="{FF2B5EF4-FFF2-40B4-BE49-F238E27FC236}">
                <a16:creationId xmlns:a16="http://schemas.microsoft.com/office/drawing/2014/main" id="{3E1E52B9-9F9D-45A7-BD8B-B3BB68D4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4267200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B"/>
          </a:solidFill>
          <a:ln xmlns:a="http://schemas.openxmlformats.org/drawingml/2006/main" w="14288">
            <a:solidFill>
              <a:srgbClr val="9ABCE5"/>
            </a:solidFill>
            <a:prstDash val="solid"/>
          </a:ln>
        </p:spPr>
      </p:sp>
      <p:sp>
        <p:nvSpPr>
          <p:cNvPr id="147" name="composite-head-text-3">
            <a:extLst xmlns:a="http://schemas.openxmlformats.org/drawingml/2006/main">
              <a:ext uri="{FF2B5EF4-FFF2-40B4-BE49-F238E27FC236}">
                <a16:creationId xmlns:a16="http://schemas.microsoft.com/office/drawing/2014/main" id="{B21B0429-CCE0-4E44-95AE-E8C67778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4305300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B85"/>
                </a:solidFill>
              </a:defRPr>
            </a:pPr>
            <a:r>
              <a:rPr sz="1050" b="1">
                <a:solidFill>
                  <a:srgbClr val="174B85"/>
                </a:solidFill>
              </a:rPr>
              <a:t>Cycles</a:t>
            </a:r>
          </a:p>
        </p:txBody>
      </p:sp>
      <p:sp>
        <p:nvSpPr>
          <p:cNvPr id="148" name="composite-r0-c0">
            <a:extLst xmlns:a="http://schemas.openxmlformats.org/drawingml/2006/main">
              <a:ext uri="{FF2B5EF4-FFF2-40B4-BE49-F238E27FC236}">
                <a16:creationId xmlns:a16="http://schemas.microsoft.com/office/drawing/2014/main" id="{5E47CC65-06CA-4CCF-B011-5F366041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6482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49" name="composite-r0-c0-text">
            <a:extLst xmlns:a="http://schemas.openxmlformats.org/drawingml/2006/main">
              <a:ext uri="{FF2B5EF4-FFF2-40B4-BE49-F238E27FC236}">
                <a16:creationId xmlns:a16="http://schemas.microsoft.com/office/drawing/2014/main" id="{8269B995-2C64-4AB4-BDBC-18F1552C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46767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95CB8"/>
                </a:solidFill>
              </a:defRPr>
            </a:pPr>
            <a:r>
              <a:rPr sz="825" b="1">
                <a:solidFill>
                  <a:srgbClr val="095CB8"/>
                </a:solidFill>
              </a:rPr>
              <a:t>GPTQ MATMUL</a:t>
            </a:r>
          </a:p>
        </p:txBody>
      </p:sp>
      <p:sp>
        <p:nvSpPr>
          <p:cNvPr id="150" name="composite-r0-c1">
            <a:extLst xmlns:a="http://schemas.openxmlformats.org/drawingml/2006/main">
              <a:ext uri="{FF2B5EF4-FFF2-40B4-BE49-F238E27FC236}">
                <a16:creationId xmlns:a16="http://schemas.microsoft.com/office/drawing/2014/main" id="{E8FCD758-A045-4BA1-B27F-CBC35E3D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648200"/>
            <a:ext cx="3000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51" name="composite-r0-c1-text">
            <a:extLst xmlns:a="http://schemas.openxmlformats.org/drawingml/2006/main">
              <a:ext uri="{FF2B5EF4-FFF2-40B4-BE49-F238E27FC236}">
                <a16:creationId xmlns:a16="http://schemas.microsoft.com/office/drawing/2014/main" id="{0EAD5E0E-6544-472E-A793-CA523BA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46767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TDEQUANT + tiled TMMA (+TADD)</a:t>
            </a:r>
          </a:p>
        </p:txBody>
      </p:sp>
      <p:sp>
        <p:nvSpPr>
          <p:cNvPr id="152" name="composite-r0-c2">
            <a:extLst xmlns:a="http://schemas.openxmlformats.org/drawingml/2006/main">
              <a:ext uri="{FF2B5EF4-FFF2-40B4-BE49-F238E27FC236}">
                <a16:creationId xmlns:a16="http://schemas.microsoft.com/office/drawing/2014/main" id="{31A1FD81-BC2B-4B33-81D7-E97713DA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46482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53" name="composite-r0-c2-text">
            <a:extLst xmlns:a="http://schemas.openxmlformats.org/drawingml/2006/main">
              <a:ext uri="{FF2B5EF4-FFF2-40B4-BE49-F238E27FC236}">
                <a16:creationId xmlns:a16="http://schemas.microsoft.com/office/drawing/2014/main" id="{2847138A-8961-47E0-9EC4-AD219DF1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46767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N×K tiles</a:t>
            </a:r>
          </a:p>
        </p:txBody>
      </p:sp>
      <p:sp>
        <p:nvSpPr>
          <p:cNvPr id="154" name="composite-r0-c3">
            <a:extLst xmlns:a="http://schemas.openxmlformats.org/drawingml/2006/main">
              <a:ext uri="{FF2B5EF4-FFF2-40B4-BE49-F238E27FC236}">
                <a16:creationId xmlns:a16="http://schemas.microsoft.com/office/drawing/2014/main" id="{D2BDF165-6BC0-4861-9790-197A0167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46482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55" name="composite-r0-c3-text">
            <a:extLst xmlns:a="http://schemas.openxmlformats.org/drawingml/2006/main">
              <a:ext uri="{FF2B5EF4-FFF2-40B4-BE49-F238E27FC236}">
                <a16:creationId xmlns:a16="http://schemas.microsoft.com/office/drawing/2014/main" id="{3A91F089-65F7-4AB8-8183-BEEFAA99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46767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tile/MAC</a:t>
            </a:r>
          </a:p>
        </p:txBody>
      </p:sp>
      <p:sp>
        <p:nvSpPr>
          <p:cNvPr id="156" name="composite-r1-c0">
            <a:extLst xmlns:a="http://schemas.openxmlformats.org/drawingml/2006/main">
              <a:ext uri="{FF2B5EF4-FFF2-40B4-BE49-F238E27FC236}">
                <a16:creationId xmlns:a16="http://schemas.microsoft.com/office/drawing/2014/main" id="{CF8839B5-73D0-4F48-A1D2-4706FDB9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991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57" name="composite-r1-c0-text">
            <a:extLst xmlns:a="http://schemas.openxmlformats.org/drawingml/2006/main">
              <a:ext uri="{FF2B5EF4-FFF2-40B4-BE49-F238E27FC236}">
                <a16:creationId xmlns:a16="http://schemas.microsoft.com/office/drawing/2014/main" id="{5C311D7C-02D8-4417-B79B-F72446B2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50196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95CB8"/>
                </a:solidFill>
              </a:defRPr>
            </a:pPr>
            <a:r>
              <a:rPr sz="825" b="1">
                <a:solidFill>
                  <a:srgbClr val="095CB8"/>
                </a:solidFill>
              </a:rPr>
              <a:t>QKV PROJECTION</a:t>
            </a:r>
          </a:p>
        </p:txBody>
      </p:sp>
      <p:sp>
        <p:nvSpPr>
          <p:cNvPr id="158" name="composite-r1-c1">
            <a:extLst xmlns:a="http://schemas.openxmlformats.org/drawingml/2006/main">
              <a:ext uri="{FF2B5EF4-FFF2-40B4-BE49-F238E27FC236}">
                <a16:creationId xmlns:a16="http://schemas.microsoft.com/office/drawing/2014/main" id="{DC62FB60-6F38-4F44-AC83-91B7CD62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991100"/>
            <a:ext cx="3000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59" name="composite-r1-c1-text">
            <a:extLst xmlns:a="http://schemas.openxmlformats.org/drawingml/2006/main">
              <a:ext uri="{FF2B5EF4-FFF2-40B4-BE49-F238E27FC236}">
                <a16:creationId xmlns:a16="http://schemas.microsoft.com/office/drawing/2014/main" id="{E4DA20EB-225C-472C-B464-C8E09D2F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50196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tiled TMMA + Q/K TRMSNORM</a:t>
            </a:r>
          </a:p>
        </p:txBody>
      </p:sp>
      <p:sp>
        <p:nvSpPr>
          <p:cNvPr id="160" name="composite-r1-c2">
            <a:extLst xmlns:a="http://schemas.openxmlformats.org/drawingml/2006/main">
              <a:ext uri="{FF2B5EF4-FFF2-40B4-BE49-F238E27FC236}">
                <a16:creationId xmlns:a16="http://schemas.microsoft.com/office/drawing/2014/main" id="{6918B720-EAAE-4858-AAA6-D4E62A50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49911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61" name="composite-r1-c2-text">
            <a:extLst xmlns:a="http://schemas.openxmlformats.org/drawingml/2006/main">
              <a:ext uri="{FF2B5EF4-FFF2-40B4-BE49-F238E27FC236}">
                <a16:creationId xmlns:a16="http://schemas.microsoft.com/office/drawing/2014/main" id="{38BB80F9-AFA6-43A9-85B1-AD1FCD98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5019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3 groups+</a:t>
            </a:r>
          </a:p>
        </p:txBody>
      </p:sp>
      <p:sp>
        <p:nvSpPr>
          <p:cNvPr id="162" name="composite-r1-c3">
            <a:extLst xmlns:a="http://schemas.openxmlformats.org/drawingml/2006/main">
              <a:ext uri="{FF2B5EF4-FFF2-40B4-BE49-F238E27FC236}">
                <a16:creationId xmlns:a16="http://schemas.microsoft.com/office/drawing/2014/main" id="{80A1A688-3904-42CB-9A4C-8D663D08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49911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63" name="composite-r1-c3-text">
            <a:extLst xmlns:a="http://schemas.openxmlformats.org/drawingml/2006/main">
              <a:ext uri="{FF2B5EF4-FFF2-40B4-BE49-F238E27FC236}">
                <a16:creationId xmlns:a16="http://schemas.microsoft.com/office/drawing/2014/main" id="{A6959641-9721-4AAC-BF3E-597F0DDB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50196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shape</a:t>
            </a:r>
          </a:p>
        </p:txBody>
      </p:sp>
      <p:sp>
        <p:nvSpPr>
          <p:cNvPr id="164" name="composite-r2-c0">
            <a:extLst xmlns:a="http://schemas.openxmlformats.org/drawingml/2006/main">
              <a:ext uri="{FF2B5EF4-FFF2-40B4-BE49-F238E27FC236}">
                <a16:creationId xmlns:a16="http://schemas.microsoft.com/office/drawing/2014/main" id="{FD722B14-EF14-4076-916C-76DAB0BC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3340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65" name="composite-r2-c0-text">
            <a:extLst xmlns:a="http://schemas.openxmlformats.org/drawingml/2006/main">
              <a:ext uri="{FF2B5EF4-FFF2-40B4-BE49-F238E27FC236}">
                <a16:creationId xmlns:a16="http://schemas.microsoft.com/office/drawing/2014/main" id="{49B016C8-CB5A-49E9-819C-6D61228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53625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95CB8"/>
                </a:solidFill>
              </a:defRPr>
            </a:pPr>
            <a:r>
              <a:rPr sz="825" b="1">
                <a:solidFill>
                  <a:srgbClr val="095CB8"/>
                </a:solidFill>
              </a:rPr>
              <a:t>ROPE / ATTENTION</a:t>
            </a:r>
          </a:p>
        </p:txBody>
      </p:sp>
      <p:sp>
        <p:nvSpPr>
          <p:cNvPr id="166" name="composite-r2-c1">
            <a:extLst xmlns:a="http://schemas.openxmlformats.org/drawingml/2006/main">
              <a:ext uri="{FF2B5EF4-FFF2-40B4-BE49-F238E27FC236}">
                <a16:creationId xmlns:a16="http://schemas.microsoft.com/office/drawing/2014/main" id="{913DA7EB-8513-4BF1-93F2-916D2CD2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334000"/>
            <a:ext cx="3000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67" name="composite-r2-c1-text">
            <a:extLst xmlns:a="http://schemas.openxmlformats.org/drawingml/2006/main">
              <a:ext uri="{FF2B5EF4-FFF2-40B4-BE49-F238E27FC236}">
                <a16:creationId xmlns:a16="http://schemas.microsoft.com/office/drawing/2014/main" id="{B5E77CAA-61E5-4FC2-AF70-A32B55D8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53625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per-head TROPE + TATTENTION</a:t>
            </a:r>
          </a:p>
        </p:txBody>
      </p:sp>
      <p:sp>
        <p:nvSpPr>
          <p:cNvPr id="168" name="composite-r2-c2">
            <a:extLst xmlns:a="http://schemas.openxmlformats.org/drawingml/2006/main">
              <a:ext uri="{FF2B5EF4-FFF2-40B4-BE49-F238E27FC236}">
                <a16:creationId xmlns:a16="http://schemas.microsoft.com/office/drawing/2014/main" id="{B59FECCF-CC7C-4AEA-BAC7-0DEE9A56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53340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69" name="composite-r2-c2-text">
            <a:extLst xmlns:a="http://schemas.openxmlformats.org/drawingml/2006/main">
              <a:ext uri="{FF2B5EF4-FFF2-40B4-BE49-F238E27FC236}">
                <a16:creationId xmlns:a16="http://schemas.microsoft.com/office/drawing/2014/main" id="{E3EB4F17-0AE8-44FF-9732-307C7437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53625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R×heads+</a:t>
            </a:r>
          </a:p>
        </p:txBody>
      </p:sp>
      <p:sp>
        <p:nvSpPr>
          <p:cNvPr id="170" name="composite-r2-c3">
            <a:extLst xmlns:a="http://schemas.openxmlformats.org/drawingml/2006/main">
              <a:ext uri="{FF2B5EF4-FFF2-40B4-BE49-F238E27FC236}">
                <a16:creationId xmlns:a16="http://schemas.microsoft.com/office/drawing/2014/main" id="{6FD0EC31-5325-4B93-BEB7-6AA0391D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53340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71" name="composite-r2-c3-text">
            <a:extLst xmlns:a="http://schemas.openxmlformats.org/drawingml/2006/main">
              <a:ext uri="{FF2B5EF4-FFF2-40B4-BE49-F238E27FC236}">
                <a16:creationId xmlns:a16="http://schemas.microsoft.com/office/drawing/2014/main" id="{FCBFA25E-18EA-49B8-980B-53BFBC0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53625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elements</a:t>
            </a:r>
          </a:p>
        </p:txBody>
      </p:sp>
      <p:sp>
        <p:nvSpPr>
          <p:cNvPr id="172" name="composite-r3-c0">
            <a:extLst xmlns:a="http://schemas.openxmlformats.org/drawingml/2006/main">
              <a:ext uri="{FF2B5EF4-FFF2-40B4-BE49-F238E27FC236}">
                <a16:creationId xmlns:a16="http://schemas.microsoft.com/office/drawing/2014/main" id="{E7E7D450-626C-474A-856B-7FB4F531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6769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73" name="composite-r3-c0-text">
            <a:extLst xmlns:a="http://schemas.openxmlformats.org/drawingml/2006/main">
              <a:ext uri="{FF2B5EF4-FFF2-40B4-BE49-F238E27FC236}">
                <a16:creationId xmlns:a16="http://schemas.microsoft.com/office/drawing/2014/main" id="{78B0DC30-0DEC-4C7D-9CFC-17302BDB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57054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95CB8"/>
                </a:solidFill>
              </a:defRPr>
            </a:pPr>
            <a:r>
              <a:rPr sz="825" b="1">
                <a:solidFill>
                  <a:srgbClr val="095CB8"/>
                </a:solidFill>
              </a:rPr>
              <a:t>O-PROJECTION</a:t>
            </a:r>
          </a:p>
        </p:txBody>
      </p:sp>
      <p:sp>
        <p:nvSpPr>
          <p:cNvPr id="174" name="composite-r3-c1">
            <a:extLst xmlns:a="http://schemas.openxmlformats.org/drawingml/2006/main">
              <a:ext uri="{FF2B5EF4-FFF2-40B4-BE49-F238E27FC236}">
                <a16:creationId xmlns:a16="http://schemas.microsoft.com/office/drawing/2014/main" id="{16971D7C-CE9B-4DFB-BC8F-32511CCE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676900"/>
            <a:ext cx="3000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75" name="composite-r3-c1-text">
            <a:extLst xmlns:a="http://schemas.openxmlformats.org/drawingml/2006/main">
              <a:ext uri="{FF2B5EF4-FFF2-40B4-BE49-F238E27FC236}">
                <a16:creationId xmlns:a16="http://schemas.microsoft.com/office/drawing/2014/main" id="{087001D9-7065-4D1E-9259-7FF8E628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57054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TMMA: K=heads×head_dim → N=hidden</a:t>
            </a:r>
          </a:p>
        </p:txBody>
      </p:sp>
      <p:sp>
        <p:nvSpPr>
          <p:cNvPr id="176" name="composite-r3-c2">
            <a:extLst xmlns:a="http://schemas.openxmlformats.org/drawingml/2006/main">
              <a:ext uri="{FF2B5EF4-FFF2-40B4-BE49-F238E27FC236}">
                <a16:creationId xmlns:a16="http://schemas.microsoft.com/office/drawing/2014/main" id="{3AC2FDE7-AE94-43C5-9566-6E9E4146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56769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77" name="composite-r3-c2-text">
            <a:extLst xmlns:a="http://schemas.openxmlformats.org/drawingml/2006/main">
              <a:ext uri="{FF2B5EF4-FFF2-40B4-BE49-F238E27FC236}">
                <a16:creationId xmlns:a16="http://schemas.microsoft.com/office/drawing/2014/main" id="{E0217A21-C9EA-44B0-9022-B4489707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57054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M/N/K</a:t>
            </a:r>
          </a:p>
        </p:txBody>
      </p:sp>
      <p:sp>
        <p:nvSpPr>
          <p:cNvPr id="178" name="composite-r3-c3">
            <a:extLst xmlns:a="http://schemas.openxmlformats.org/drawingml/2006/main">
              <a:ext uri="{FF2B5EF4-FFF2-40B4-BE49-F238E27FC236}">
                <a16:creationId xmlns:a16="http://schemas.microsoft.com/office/drawing/2014/main" id="{396B228E-FD56-4A35-8F7E-C06831D5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56769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79" name="composite-r3-c3-text">
            <a:extLst xmlns:a="http://schemas.openxmlformats.org/drawingml/2006/main">
              <a:ext uri="{FF2B5EF4-FFF2-40B4-BE49-F238E27FC236}">
                <a16:creationId xmlns:a16="http://schemas.microsoft.com/office/drawing/2014/main" id="{8E40E8EA-302A-4A9C-B0D9-63002A0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57054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MACs</a:t>
            </a:r>
          </a:p>
        </p:txBody>
      </p:sp>
      <p:sp>
        <p:nvSpPr>
          <p:cNvPr id="180" name="composite-r4-c0">
            <a:extLst xmlns:a="http://schemas.openxmlformats.org/drawingml/2006/main">
              <a:ext uri="{FF2B5EF4-FFF2-40B4-BE49-F238E27FC236}">
                <a16:creationId xmlns:a16="http://schemas.microsoft.com/office/drawing/2014/main" id="{CBCC10F2-BB4B-4AD6-827B-6A3271F7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0198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81" name="composite-r4-c0-text">
            <a:extLst xmlns:a="http://schemas.openxmlformats.org/drawingml/2006/main">
              <a:ext uri="{FF2B5EF4-FFF2-40B4-BE49-F238E27FC236}">
                <a16:creationId xmlns:a16="http://schemas.microsoft.com/office/drawing/2014/main" id="{DF5319FF-64B0-4DBB-8B24-48C13C41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60483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95CB8"/>
                </a:solidFill>
              </a:defRPr>
            </a:pPr>
            <a:r>
              <a:rPr sz="825" b="1">
                <a:solidFill>
                  <a:srgbClr val="095CB8"/>
                </a:solidFill>
              </a:rPr>
              <a:t>ROUTER</a:t>
            </a:r>
          </a:p>
        </p:txBody>
      </p:sp>
      <p:sp>
        <p:nvSpPr>
          <p:cNvPr id="182" name="composite-r4-c1">
            <a:extLst xmlns:a="http://schemas.openxmlformats.org/drawingml/2006/main">
              <a:ext uri="{FF2B5EF4-FFF2-40B4-BE49-F238E27FC236}">
                <a16:creationId xmlns:a16="http://schemas.microsoft.com/office/drawing/2014/main" id="{08737823-E6C1-4CFE-AB79-A2ABAA2B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6019800"/>
            <a:ext cx="3000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83" name="composite-r4-c1-text">
            <a:extLst xmlns:a="http://schemas.openxmlformats.org/drawingml/2006/main">
              <a:ext uri="{FF2B5EF4-FFF2-40B4-BE49-F238E27FC236}">
                <a16:creationId xmlns:a16="http://schemas.microsoft.com/office/drawing/2014/main" id="{4E378817-0E0D-4D08-ACA2-96E21E39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60483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TMMA + TTOPK + TSOFTMAX + TDMA</a:t>
            </a:r>
          </a:p>
        </p:txBody>
      </p:sp>
      <p:sp>
        <p:nvSpPr>
          <p:cNvPr id="184" name="composite-r4-c2">
            <a:extLst xmlns:a="http://schemas.openxmlformats.org/drawingml/2006/main">
              <a:ext uri="{FF2B5EF4-FFF2-40B4-BE49-F238E27FC236}">
                <a16:creationId xmlns:a16="http://schemas.microsoft.com/office/drawing/2014/main" id="{80327301-7583-42FC-A065-12C52F97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60198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85" name="composite-r4-c2-text">
            <a:extLst xmlns:a="http://schemas.openxmlformats.org/drawingml/2006/main">
              <a:ext uri="{FF2B5EF4-FFF2-40B4-BE49-F238E27FC236}">
                <a16:creationId xmlns:a16="http://schemas.microsoft.com/office/drawing/2014/main" id="{7B756917-2ECE-4C9E-84C5-B706ABC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60483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5+</a:t>
            </a:r>
          </a:p>
        </p:txBody>
      </p:sp>
      <p:sp>
        <p:nvSpPr>
          <p:cNvPr id="186" name="composite-r4-c3">
            <a:extLst xmlns:a="http://schemas.openxmlformats.org/drawingml/2006/main">
              <a:ext uri="{FF2B5EF4-FFF2-40B4-BE49-F238E27FC236}">
                <a16:creationId xmlns:a16="http://schemas.microsoft.com/office/drawing/2014/main" id="{791C0811-C1BB-4E2F-B792-B106D8BE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60198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87" name="composite-r4-c3-text">
            <a:extLst xmlns:a="http://schemas.openxmlformats.org/drawingml/2006/main">
              <a:ext uri="{FF2B5EF4-FFF2-40B4-BE49-F238E27FC236}">
                <a16:creationId xmlns:a16="http://schemas.microsoft.com/office/drawing/2014/main" id="{A9E9AEBF-1572-46FC-A511-C3923FF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60483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data</a:t>
            </a:r>
          </a:p>
        </p:txBody>
      </p:sp>
      <p:sp>
        <p:nvSpPr>
          <p:cNvPr id="188" name="composite-r5-c0">
            <a:extLst xmlns:a="http://schemas.openxmlformats.org/drawingml/2006/main">
              <a:ext uri="{FF2B5EF4-FFF2-40B4-BE49-F238E27FC236}">
                <a16:creationId xmlns:a16="http://schemas.microsoft.com/office/drawing/2014/main" id="{7871DFF9-148E-4F13-ABE4-9732ADC6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627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89" name="composite-r5-c0-text">
            <a:extLst xmlns:a="http://schemas.openxmlformats.org/drawingml/2006/main">
              <a:ext uri="{FF2B5EF4-FFF2-40B4-BE49-F238E27FC236}">
                <a16:creationId xmlns:a16="http://schemas.microsoft.com/office/drawing/2014/main" id="{AB00897A-1C15-46A0-8C5D-F31901DA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6391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95CB8"/>
                </a:solidFill>
              </a:defRPr>
            </a:pPr>
            <a:r>
              <a:rPr sz="825" b="1">
                <a:solidFill>
                  <a:srgbClr val="095CB8"/>
                </a:solidFill>
              </a:rPr>
              <a:t>EXPERT</a:t>
            </a:r>
          </a:p>
        </p:txBody>
      </p:sp>
      <p:sp>
        <p:nvSpPr>
          <p:cNvPr id="190" name="composite-r5-c1">
            <a:extLst xmlns:a="http://schemas.openxmlformats.org/drawingml/2006/main">
              <a:ext uri="{FF2B5EF4-FFF2-40B4-BE49-F238E27FC236}">
                <a16:creationId xmlns:a16="http://schemas.microsoft.com/office/drawing/2014/main" id="{D849DBC7-1278-4B0D-9B39-D2C93949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6362700"/>
            <a:ext cx="3000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91" name="composite-r5-c1-text">
            <a:extLst xmlns:a="http://schemas.openxmlformats.org/drawingml/2006/main">
              <a:ext uri="{FF2B5EF4-FFF2-40B4-BE49-F238E27FC236}">
                <a16:creationId xmlns:a16="http://schemas.microsoft.com/office/drawing/2014/main" id="{B3EB3E26-731F-46FF-BFE3-3BBF5504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63912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3×GPTQ projection + SiLU/Mul</a:t>
            </a:r>
          </a:p>
        </p:txBody>
      </p:sp>
      <p:sp>
        <p:nvSpPr>
          <p:cNvPr id="192" name="composite-r5-c2">
            <a:extLst xmlns:a="http://schemas.openxmlformats.org/drawingml/2006/main">
              <a:ext uri="{FF2B5EF4-FFF2-40B4-BE49-F238E27FC236}">
                <a16:creationId xmlns:a16="http://schemas.microsoft.com/office/drawing/2014/main" id="{05ADF551-0737-43A1-8161-D4E9B2CE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63627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93" name="composite-r5-c2-text">
            <a:extLst xmlns:a="http://schemas.openxmlformats.org/drawingml/2006/main">
              <a:ext uri="{FF2B5EF4-FFF2-40B4-BE49-F238E27FC236}">
                <a16:creationId xmlns:a16="http://schemas.microsoft.com/office/drawing/2014/main" id="{4F49DAC0-9283-459C-A9E5-E1A1D9EB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63912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8+</a:t>
            </a:r>
          </a:p>
        </p:txBody>
      </p:sp>
      <p:sp>
        <p:nvSpPr>
          <p:cNvPr id="194" name="composite-r5-c3">
            <a:extLst xmlns:a="http://schemas.openxmlformats.org/drawingml/2006/main">
              <a:ext uri="{FF2B5EF4-FFF2-40B4-BE49-F238E27FC236}">
                <a16:creationId xmlns:a16="http://schemas.microsoft.com/office/drawing/2014/main" id="{F64101D8-756B-4AE4-B6C1-E660A4C3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63627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95" name="composite-r5-c3-text">
            <a:extLst xmlns:a="http://schemas.openxmlformats.org/drawingml/2006/main">
              <a:ext uri="{FF2B5EF4-FFF2-40B4-BE49-F238E27FC236}">
                <a16:creationId xmlns:a16="http://schemas.microsoft.com/office/drawing/2014/main" id="{8F69DA16-4053-4729-B112-64D96ED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63912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tile</a:t>
            </a:r>
          </a:p>
        </p:txBody>
      </p:sp>
      <p:sp>
        <p:nvSpPr>
          <p:cNvPr id="196" name="composite-r6-c0">
            <a:extLst xmlns:a="http://schemas.openxmlformats.org/drawingml/2006/main">
              <a:ext uri="{FF2B5EF4-FFF2-40B4-BE49-F238E27FC236}">
                <a16:creationId xmlns:a16="http://schemas.microsoft.com/office/drawing/2014/main" id="{6167345B-2734-404F-A847-497FEAB5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7056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97" name="composite-r6-c0-text">
            <a:extLst xmlns:a="http://schemas.openxmlformats.org/drawingml/2006/main">
              <a:ext uri="{FF2B5EF4-FFF2-40B4-BE49-F238E27FC236}">
                <a16:creationId xmlns:a16="http://schemas.microsoft.com/office/drawing/2014/main" id="{2BBE4235-8217-44BF-B938-9C946380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67341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95CB8"/>
                </a:solidFill>
              </a:defRPr>
            </a:pPr>
            <a:r>
              <a:rPr sz="825" b="1">
                <a:solidFill>
                  <a:srgbClr val="095CB8"/>
                </a:solidFill>
              </a:rPr>
              <a:t>CONV / RECURRENT</a:t>
            </a:r>
          </a:p>
        </p:txBody>
      </p:sp>
      <p:sp>
        <p:nvSpPr>
          <p:cNvPr id="198" name="composite-r6-c1">
            <a:extLst xmlns:a="http://schemas.openxmlformats.org/drawingml/2006/main">
              <a:ext uri="{FF2B5EF4-FFF2-40B4-BE49-F238E27FC236}">
                <a16:creationId xmlns:a16="http://schemas.microsoft.com/office/drawing/2014/main" id="{661DE6D1-1F4B-4697-B729-E7CDB2A4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6705600"/>
            <a:ext cx="3000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199" name="composite-r6-c1-text">
            <a:extLst xmlns:a="http://schemas.openxmlformats.org/drawingml/2006/main">
              <a:ext uri="{FF2B5EF4-FFF2-40B4-BE49-F238E27FC236}">
                <a16:creationId xmlns:a16="http://schemas.microsoft.com/office/drawing/2014/main" id="{CD6C82FE-C7CB-4950-8BD0-9A4F37CF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67341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TCONV / TCAUSALCONV / TRECURRENT</a:t>
            </a:r>
          </a:p>
        </p:txBody>
      </p:sp>
      <p:sp>
        <p:nvSpPr>
          <p:cNvPr id="200" name="composite-r6-c2">
            <a:extLst xmlns:a="http://schemas.openxmlformats.org/drawingml/2006/main">
              <a:ext uri="{FF2B5EF4-FFF2-40B4-BE49-F238E27FC236}">
                <a16:creationId xmlns:a16="http://schemas.microsoft.com/office/drawing/2014/main" id="{85A1093F-91B6-4746-8C7E-491904C3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67056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201" name="composite-r6-c2-text">
            <a:extLst xmlns:a="http://schemas.openxmlformats.org/drawingml/2006/main">
              <a:ext uri="{FF2B5EF4-FFF2-40B4-BE49-F238E27FC236}">
                <a16:creationId xmlns:a16="http://schemas.microsoft.com/office/drawing/2014/main" id="{F5700C7B-2CC5-4B60-8F40-75BF585D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67341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1+</a:t>
            </a:r>
          </a:p>
        </p:txBody>
      </p:sp>
      <p:sp>
        <p:nvSpPr>
          <p:cNvPr id="202" name="composite-r6-c3">
            <a:extLst xmlns:a="http://schemas.openxmlformats.org/drawingml/2006/main">
              <a:ext uri="{FF2B5EF4-FFF2-40B4-BE49-F238E27FC236}">
                <a16:creationId xmlns:a16="http://schemas.microsoft.com/office/drawing/2014/main" id="{B5813823-F641-4574-A810-E19F08E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67056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203" name="composite-r6-c3-text">
            <a:extLst xmlns:a="http://schemas.openxmlformats.org/drawingml/2006/main">
              <a:ext uri="{FF2B5EF4-FFF2-40B4-BE49-F238E27FC236}">
                <a16:creationId xmlns:a16="http://schemas.microsoft.com/office/drawing/2014/main" id="{44626BFE-659A-4D26-BB9B-E7FFC37A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67341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state</a:t>
            </a:r>
          </a:p>
        </p:txBody>
      </p:sp>
      <p:sp>
        <p:nvSpPr>
          <p:cNvPr id="204" name="composite-r7-c0">
            <a:extLst xmlns:a="http://schemas.openxmlformats.org/drawingml/2006/main">
              <a:ext uri="{FF2B5EF4-FFF2-40B4-BE49-F238E27FC236}">
                <a16:creationId xmlns:a16="http://schemas.microsoft.com/office/drawing/2014/main" id="{16060215-D121-4EB3-837D-B2CD0340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0485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205" name="composite-r7-c0-text">
            <a:extLst xmlns:a="http://schemas.openxmlformats.org/drawingml/2006/main">
              <a:ext uri="{FF2B5EF4-FFF2-40B4-BE49-F238E27FC236}">
                <a16:creationId xmlns:a16="http://schemas.microsoft.com/office/drawing/2014/main" id="{09BABF23-5D98-49E6-B8CB-A19A9EC0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7077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95CB8"/>
                </a:solidFill>
              </a:defRPr>
            </a:pPr>
            <a:r>
              <a:rPr sz="825" b="1">
                <a:solidFill>
                  <a:srgbClr val="095CB8"/>
                </a:solidFill>
              </a:rPr>
              <a:t>DMA / COMBINE</a:t>
            </a:r>
          </a:p>
        </p:txBody>
      </p:sp>
      <p:sp>
        <p:nvSpPr>
          <p:cNvPr id="206" name="composite-r7-c1">
            <a:extLst xmlns:a="http://schemas.openxmlformats.org/drawingml/2006/main">
              <a:ext uri="{FF2B5EF4-FFF2-40B4-BE49-F238E27FC236}">
                <a16:creationId xmlns:a16="http://schemas.microsoft.com/office/drawing/2014/main" id="{9DAD0253-CEA1-4E07-A44D-BF7F637D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7048500"/>
            <a:ext cx="3000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207" name="composite-r7-c1-text">
            <a:extLst xmlns:a="http://schemas.openxmlformats.org/drawingml/2006/main">
              <a:ext uri="{FF2B5EF4-FFF2-40B4-BE49-F238E27FC236}">
                <a16:creationId xmlns:a16="http://schemas.microsoft.com/office/drawing/2014/main" id="{D78093BC-ABFE-49C8-8831-F3EA4862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7077075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TDMA / TADD</a:t>
            </a:r>
          </a:p>
        </p:txBody>
      </p:sp>
      <p:sp>
        <p:nvSpPr>
          <p:cNvPr id="208" name="composite-r7-c2">
            <a:extLst xmlns:a="http://schemas.openxmlformats.org/drawingml/2006/main">
              <a:ext uri="{FF2B5EF4-FFF2-40B4-BE49-F238E27FC236}">
                <a16:creationId xmlns:a16="http://schemas.microsoft.com/office/drawing/2014/main" id="{43FAE737-CC5E-476F-B91B-C7228789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75" y="70485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209" name="composite-r7-c2-text">
            <a:extLst xmlns:a="http://schemas.openxmlformats.org/drawingml/2006/main">
              <a:ext uri="{FF2B5EF4-FFF2-40B4-BE49-F238E27FC236}">
                <a16:creationId xmlns:a16="http://schemas.microsoft.com/office/drawing/2014/main" id="{BFBCD6B1-7E89-4216-A871-D5FFC01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0600" y="70770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1+</a:t>
            </a:r>
          </a:p>
        </p:txBody>
      </p:sp>
      <p:sp>
        <p:nvSpPr>
          <p:cNvPr id="210" name="composite-r7-c3">
            <a:extLst xmlns:a="http://schemas.openxmlformats.org/drawingml/2006/main">
              <a:ext uri="{FF2B5EF4-FFF2-40B4-BE49-F238E27FC236}">
                <a16:creationId xmlns:a16="http://schemas.microsoft.com/office/drawing/2014/main" id="{145654D2-66A1-443A-9CDB-FF319429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75" y="704850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E"/>
          </a:solidFill>
          <a:ln xmlns:a="http://schemas.openxmlformats.org/drawingml/2006/main" w="14288">
            <a:solidFill>
              <a:srgbClr val="D5E0EC"/>
            </a:solidFill>
            <a:prstDash val="solid"/>
          </a:ln>
        </p:spPr>
      </p:sp>
      <p:sp>
        <p:nvSpPr>
          <p:cNvPr id="211" name="composite-r7-c3-text">
            <a:extLst xmlns:a="http://schemas.openxmlformats.org/drawingml/2006/main">
              <a:ext uri="{FF2B5EF4-FFF2-40B4-BE49-F238E27FC236}">
                <a16:creationId xmlns:a16="http://schemas.microsoft.com/office/drawing/2014/main" id="{ED8253B1-03EA-4393-97DC-1152777B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2600" y="7077075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334A66"/>
                </a:solidFill>
              </a:defRPr>
            </a:pPr>
            <a:r>
              <a:rPr sz="825" b="0">
                <a:solidFill>
                  <a:srgbClr val="334A66"/>
                </a:solidFill>
              </a:rPr>
              <a:t>bytes</a:t>
            </a:r>
          </a:p>
        </p:txBody>
      </p:sp>
      <p:sp>
        <p:nvSpPr>
          <p:cNvPr id="212" name="todo-box">
            <a:extLst xmlns:a="http://schemas.openxmlformats.org/drawingml/2006/main">
              <a:ext uri="{FF2B5EF4-FFF2-40B4-BE49-F238E27FC236}">
                <a16:creationId xmlns:a16="http://schemas.microsoft.com/office/drawing/2014/main" id="{F56FC033-D9E2-4F03-ABF0-1C43CAC7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524750"/>
            <a:ext cx="6248400" cy="857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4288">
            <a:solidFill>
              <a:srgbClr val="E8B966"/>
            </a:solidFill>
            <a:prstDash val="solid"/>
          </a:ln>
        </p:spPr>
      </p:sp>
      <p:sp>
        <p:nvSpPr>
          <p:cNvPr id="213" name="todo-title">
            <a:extLst xmlns:a="http://schemas.openxmlformats.org/drawingml/2006/main">
              <a:ext uri="{FF2B5EF4-FFF2-40B4-BE49-F238E27FC236}">
                <a16:creationId xmlns:a16="http://schemas.microsoft.com/office/drawing/2014/main" id="{A9959657-C52A-404F-B6E2-C9C9D636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60095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65B00"/>
                </a:solidFill>
              </a:defRPr>
            </a:pPr>
            <a:r>
              <a:rPr sz="1275" b="1">
                <a:solidFill>
                  <a:srgbClr val="A65B00"/>
                </a:solidFill>
              </a:rPr>
              <a:t>最新正确性闭环</a:t>
            </a:r>
          </a:p>
        </p:txBody>
      </p:sp>
      <p:sp>
        <p:nvSpPr>
          <p:cNvPr id="214" name="todo-copy">
            <a:extLst xmlns:a="http://schemas.openxmlformats.org/drawingml/2006/main">
              <a:ext uri="{FF2B5EF4-FFF2-40B4-BE49-F238E27FC236}">
                <a16:creationId xmlns:a16="http://schemas.microsoft.com/office/drawing/2014/main" id="{5CA9F652-6F37-4779-991C-AF82C887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886700"/>
            <a:ext cx="586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4728"/>
                </a:solidFill>
              </a:defRPr>
            </a:pPr>
            <a:r>
              <a:rPr sz="1050" b="0">
                <a:solidFill>
                  <a:srgbClr val="5D4728"/>
                </a:solidFill>
              </a:rPr>
              <a:t>先修正 shadow 状态隔离，再补多头 Q/K RoPE；最终修正 O-proj 的 K=16×256=4096（原错误为 hidden=2048）。10 层投影及全部已启用输出均达到 different=0。 </a:t>
            </a:r>
          </a:p>
        </p:txBody>
      </p:sp>
      <p:sp>
        <p:nvSpPr>
          <p:cNvPr id="215" name="rule-box">
            <a:extLst xmlns:a="http://schemas.openxmlformats.org/drawingml/2006/main">
              <a:ext uri="{FF2B5EF4-FFF2-40B4-BE49-F238E27FC236}">
                <a16:creationId xmlns:a16="http://schemas.microsoft.com/office/drawing/2014/main" id="{C6D2C94F-1450-4811-A252-9433387A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8515350"/>
            <a:ext cx="624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E"/>
          </a:solidFill>
          <a:ln xmlns:a="http://schemas.openxmlformats.org/drawingml/2006/main" w="14288">
            <a:solidFill>
              <a:srgbClr val="8BC8A6"/>
            </a:solidFill>
            <a:prstDash val="solid"/>
          </a:ln>
        </p:spPr>
      </p:sp>
      <p:sp>
        <p:nvSpPr>
          <p:cNvPr id="216" name="rule-text">
            <a:extLst xmlns:a="http://schemas.openxmlformats.org/drawingml/2006/main">
              <a:ext uri="{FF2B5EF4-FFF2-40B4-BE49-F238E27FC236}">
                <a16:creationId xmlns:a16="http://schemas.microsoft.com/office/drawing/2014/main" id="{A528E204-BBCD-4AB6-9446-F8B7A639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8582025"/>
            <a:ext cx="601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87D43"/>
                </a:solidFill>
              </a:defRPr>
            </a:pPr>
            <a:r>
              <a:rPr sz="1050" b="1">
                <a:solidFill>
                  <a:srgbClr val="087D43"/>
                </a:solidFill>
              </a:rPr>
              <a:t>验收链：独立算子 golden PASS / 524-request lowering PASS / shadow different=0 / strict token PASS</a:t>
            </a:r>
          </a:p>
        </p:txBody>
      </p:sp>
      <p:sp>
        <p:nvSpPr>
          <p:cNvPr id="217" name="mapping-footer">
            <a:extLst xmlns:a="http://schemas.openxmlformats.org/drawingml/2006/main">
              <a:ext uri="{FF2B5EF4-FFF2-40B4-BE49-F238E27FC236}">
                <a16:creationId xmlns:a16="http://schemas.microsoft.com/office/drawing/2014/main" id="{FC4724BA-14F0-45FA-84A5-986F5472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620250"/>
            <a:ext cx="17602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5CB8"/>
          </a:solidFill>
          <a:ln xmlns:a="http://schemas.openxmlformats.org/drawingml/2006/main" w="14288">
            <a:solidFill>
              <a:srgbClr val="095CB8"/>
            </a:solidFill>
            <a:prstDash val="solid"/>
          </a:ln>
        </p:spPr>
      </p:sp>
      <p:sp>
        <p:nvSpPr>
          <p:cNvPr id="218" name="mapping-footer-text">
            <a:extLst xmlns:a="http://schemas.openxmlformats.org/drawingml/2006/main">
              <a:ext uri="{FF2B5EF4-FFF2-40B4-BE49-F238E27FC236}">
                <a16:creationId xmlns:a16="http://schemas.microsoft.com/office/drawing/2014/main" id="{171812C8-66ED-4792-9FCD-10C96EF5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67875"/>
            <a:ext cx="1722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边界说明：当前结果证明通用指令 lowering 与 C++ NPU 功能模型的数值正确性；7732 是物理命令数，不是 Full RTL 周期，后续由 RTL pager、scheduler 与算子流水逐步替换。 </a:t>
            </a:r>
          </a:p>
        </p:txBody>
      </p:sp>
    </p:spTree>
    <p:extLst>
      <p:ext uri="{BB962C8B-B14F-4D97-AF65-F5344CB8AC3E}">
        <p14:creationId xmlns:p14="http://schemas.microsoft.com/office/powerpoint/2010/main" val="1894600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compiler-title">
            <a:extLst xmlns:a="http://schemas.openxmlformats.org/drawingml/2006/main">
              <a:ext uri="{FF2B5EF4-FFF2-40B4-BE49-F238E27FC236}">
                <a16:creationId xmlns:a16="http://schemas.microsoft.com/office/drawing/2014/main" id="{795F10B0-4557-4383-BD4B-E10CC1F8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1450"/>
            <a:ext cx="1600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95CB8"/>
                </a:solidFill>
              </a:defRPr>
            </a:pPr>
            <a:r>
              <a:rPr sz="3000" b="1">
                <a:solidFill>
                  <a:srgbClr val="095CB8"/>
                </a:solidFill>
              </a:rPr>
              <a:t>TVM+BYOC vs Mojo/MAX：通用模型到自定义 NPU 的完整技术栈</a:t>
            </a:r>
          </a:p>
        </p:txBody>
      </p:sp>
      <p:sp>
        <p:nvSpPr>
          <p:cNvPr id="2" name="compiler-part">
            <a:extLst xmlns:a="http://schemas.openxmlformats.org/drawingml/2006/main">
              <a:ext uri="{FF2B5EF4-FFF2-40B4-BE49-F238E27FC236}">
                <a16:creationId xmlns:a16="http://schemas.microsoft.com/office/drawing/2014/main" id="{949B9415-BAEB-4436-94E0-433494F0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247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890AD"/>
                </a:solidFill>
              </a:defRPr>
            </a:pPr>
            <a:r>
              <a:rPr sz="975" b="1">
                <a:solidFill>
                  <a:srgbClr val="7890AD"/>
                </a:solidFill>
              </a:rPr>
              <a:t>COMPILER STACK / CUSTOM NPU BACKEND</a:t>
            </a:r>
          </a:p>
        </p:txBody>
      </p:sp>
      <p:sp>
        <p:nvSpPr>
          <p:cNvPr id="3" name="compiler-title-rule">
            <a:extLst xmlns:a="http://schemas.openxmlformats.org/drawingml/2006/main">
              <a:ext uri="{FF2B5EF4-FFF2-40B4-BE49-F238E27FC236}">
                <a16:creationId xmlns:a16="http://schemas.microsoft.com/office/drawing/2014/main" id="{79865459-8E24-42D6-BBA5-849FD3A8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00100"/>
            <a:ext cx="1760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8C5"/>
          </a:solidFill>
          <a:ln xmlns:a="http://schemas.openxmlformats.org/drawingml/2006/main" w="13335">
            <a:solidFill>
              <a:srgbClr val="1468C5"/>
            </a:solidFill>
            <a:prstDash val="solid"/>
          </a:ln>
        </p:spPr>
      </p:sp>
      <p:sp>
        <p:nvSpPr>
          <p:cNvPr id="4" name="compiler-summary">
            <a:extLst xmlns:a="http://schemas.openxmlformats.org/drawingml/2006/main">
              <a:ext uri="{FF2B5EF4-FFF2-40B4-BE49-F238E27FC236}">
                <a16:creationId xmlns:a16="http://schemas.microsoft.com/office/drawing/2014/main" id="{EDBAF9C9-FD90-4745-99AD-DB82A66A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7602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3335">
            <a:solidFill>
              <a:srgbClr val="C4D8F2"/>
            </a:solidFill>
            <a:prstDash val="solid"/>
          </a:ln>
        </p:spPr>
      </p:sp>
      <p:sp>
        <p:nvSpPr>
          <p:cNvPr id="5" name="compiler-summary-text">
            <a:extLst xmlns:a="http://schemas.openxmlformats.org/drawingml/2006/main">
              <a:ext uri="{FF2B5EF4-FFF2-40B4-BE49-F238E27FC236}">
                <a16:creationId xmlns:a16="http://schemas.microsoft.com/office/drawing/2014/main" id="{32EDCD36-23DC-4398-B48E-91D1F769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722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F"/>
                </a:solidFill>
              </a:defRPr>
            </a:pPr>
            <a:r>
              <a:rPr sz="1350" b="0">
                <a:solidFill>
                  <a:srgbClr val="26384F"/>
                </a:solidFill>
              </a:rPr>
              <a:t>两边采用完全相同的七级流程。蓝色=框架已有能力；绿色=当前 OpenNPUX/Coral 链路可复用；橙色=接入自定义 NPU 必须新增。比较重点是同一阶段需要开发多少，而不是语言或前端谁更易用。</a:t>
            </a:r>
          </a:p>
        </p:txBody>
      </p:sp>
      <p:sp>
        <p:nvSpPr>
          <p:cNvPr id="6" name="legend-framework">
            <a:extLst xmlns:a="http://schemas.openxmlformats.org/drawingml/2006/main">
              <a:ext uri="{FF2B5EF4-FFF2-40B4-BE49-F238E27FC236}">
                <a16:creationId xmlns:a16="http://schemas.microsoft.com/office/drawing/2014/main" id="{2D68F92F-50E2-4D46-8E20-962C8722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526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7" name="legend-framework-text">
            <a:extLst xmlns:a="http://schemas.openxmlformats.org/drawingml/2006/main">
              <a:ext uri="{FF2B5EF4-FFF2-40B4-BE49-F238E27FC236}">
                <a16:creationId xmlns:a16="http://schemas.microsoft.com/office/drawing/2014/main" id="{ADBA9FB0-BD49-44B9-B94F-E158C6EA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14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48D"/>
                </a:solidFill>
              </a:defRPr>
            </a:pPr>
            <a:r>
              <a:rPr sz="1050" b="1">
                <a:solidFill>
                  <a:srgbClr val="60748D"/>
                </a:solidFill>
              </a:rPr>
              <a:t>框架已有</a:t>
            </a:r>
          </a:p>
        </p:txBody>
      </p:sp>
      <p:sp>
        <p:nvSpPr>
          <p:cNvPr id="8" name="legend-reuse">
            <a:extLst xmlns:a="http://schemas.openxmlformats.org/drawingml/2006/main">
              <a:ext uri="{FF2B5EF4-FFF2-40B4-BE49-F238E27FC236}">
                <a16:creationId xmlns:a16="http://schemas.microsoft.com/office/drawing/2014/main" id="{598BBE2D-89AC-42A7-ACBF-F07E77CB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17526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E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9" name="legend-reuse-text">
            <a:extLst xmlns:a="http://schemas.openxmlformats.org/drawingml/2006/main">
              <a:ext uri="{FF2B5EF4-FFF2-40B4-BE49-F238E27FC236}">
                <a16:creationId xmlns:a16="http://schemas.microsoft.com/office/drawing/2014/main" id="{5F42BE3D-5869-4918-94AE-16AF7E0B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171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48D"/>
                </a:solidFill>
              </a:defRPr>
            </a:pPr>
            <a:r>
              <a:rPr sz="1050" b="1">
                <a:solidFill>
                  <a:srgbClr val="60748D"/>
                </a:solidFill>
              </a:rPr>
              <a:t>项目可复用</a:t>
            </a:r>
          </a:p>
        </p:txBody>
      </p:sp>
      <p:sp>
        <p:nvSpPr>
          <p:cNvPr id="10" name="legend-increment">
            <a:extLst xmlns:a="http://schemas.openxmlformats.org/drawingml/2006/main">
              <a:ext uri="{FF2B5EF4-FFF2-40B4-BE49-F238E27FC236}">
                <a16:creationId xmlns:a16="http://schemas.microsoft.com/office/drawing/2014/main" id="{26F2E540-4F1F-44DF-B119-D2ABE5AC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17526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11" name="legend-increment-text">
            <a:extLst xmlns:a="http://schemas.openxmlformats.org/drawingml/2006/main">
              <a:ext uri="{FF2B5EF4-FFF2-40B4-BE49-F238E27FC236}">
                <a16:creationId xmlns:a16="http://schemas.microsoft.com/office/drawing/2014/main" id="{8D404787-68F0-4495-9B70-94200DFA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1714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48D"/>
                </a:solidFill>
              </a:defRPr>
            </a:pPr>
            <a:r>
              <a:rPr sz="1050" b="1">
                <a:solidFill>
                  <a:srgbClr val="60748D"/>
                </a:solidFill>
              </a:rPr>
              <a:t>增量开发</a:t>
            </a:r>
          </a:p>
        </p:txBody>
      </p:sp>
      <p:sp>
        <p:nvSpPr>
          <p:cNvPr id="12" name="tvm-header">
            <a:extLst xmlns:a="http://schemas.openxmlformats.org/drawingml/2006/main">
              <a:ext uri="{FF2B5EF4-FFF2-40B4-BE49-F238E27FC236}">
                <a16:creationId xmlns:a16="http://schemas.microsoft.com/office/drawing/2014/main" id="{4129EFAC-BA65-4613-9745-B55A4E9E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83629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95CB8"/>
          </a:solidFill>
          <a:ln xmlns:a="http://schemas.openxmlformats.org/drawingml/2006/main" w="13335">
            <a:solidFill>
              <a:srgbClr val="095CB8"/>
            </a:solidFill>
            <a:prstDash val="solid"/>
          </a:ln>
        </p:spPr>
      </p:sp>
      <p:sp>
        <p:nvSpPr>
          <p:cNvPr id="13" name="tvm-header-text">
            <a:extLst xmlns:a="http://schemas.openxmlformats.org/drawingml/2006/main">
              <a:ext uri="{FF2B5EF4-FFF2-40B4-BE49-F238E27FC236}">
                <a16:creationId xmlns:a16="http://schemas.microsoft.com/office/drawing/2014/main" id="{93C6296E-6839-41B0-94A6-EA27DC13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方案 A｜TVM Relax + BYOC</a:t>
            </a:r>
          </a:p>
        </p:txBody>
      </p:sp>
      <p:sp>
        <p:nvSpPr>
          <p:cNvPr id="14" name="tvm-recommend">
            <a:extLst xmlns:a="http://schemas.openxmlformats.org/drawingml/2006/main">
              <a:ext uri="{FF2B5EF4-FFF2-40B4-BE49-F238E27FC236}">
                <a16:creationId xmlns:a16="http://schemas.microsoft.com/office/drawing/2014/main" id="{CB94B65F-4228-4E30-AF66-EAB3BF8C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43125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5" name="tvm-recommend-text">
            <a:extLst xmlns:a="http://schemas.openxmlformats.org/drawingml/2006/main">
              <a:ext uri="{FF2B5EF4-FFF2-40B4-BE49-F238E27FC236}">
                <a16:creationId xmlns:a16="http://schemas.microsoft.com/office/drawing/2014/main" id="{EC09DCB1-0BF3-4F67-AD1E-F50304EC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526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推荐主线</a:t>
            </a:r>
          </a:p>
        </p:txBody>
      </p:sp>
      <p:sp>
        <p:nvSpPr>
          <p:cNvPr id="16" name="mojo-header">
            <a:extLst xmlns:a="http://schemas.openxmlformats.org/drawingml/2006/main">
              <a:ext uri="{FF2B5EF4-FFF2-40B4-BE49-F238E27FC236}">
                <a16:creationId xmlns:a16="http://schemas.microsoft.com/office/drawing/2014/main" id="{8B16D645-B32E-433E-AB54-9E67483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83629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485E7A"/>
          </a:solidFill>
          <a:ln xmlns:a="http://schemas.openxmlformats.org/drawingml/2006/main" w="13335">
            <a:solidFill>
              <a:srgbClr val="485E7A"/>
            </a:solidFill>
            <a:prstDash val="solid"/>
          </a:ln>
        </p:spPr>
      </p:sp>
      <p:sp>
        <p:nvSpPr>
          <p:cNvPr id="17" name="mojo-header-text">
            <a:extLst xmlns:a="http://schemas.openxmlformats.org/drawingml/2006/main">
              <a:ext uri="{FF2B5EF4-FFF2-40B4-BE49-F238E27FC236}">
                <a16:creationId xmlns:a16="http://schemas.microsoft.com/office/drawing/2014/main" id="{483DD69B-2F19-476D-BE80-8605916A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方案 B｜Mojo + MAX / KGEN</a:t>
            </a:r>
          </a:p>
        </p:txBody>
      </p:sp>
      <p:sp>
        <p:nvSpPr>
          <p:cNvPr id="18" name="mojo-alternative">
            <a:extLst xmlns:a="http://schemas.openxmlformats.org/drawingml/2006/main">
              <a:ext uri="{FF2B5EF4-FFF2-40B4-BE49-F238E27FC236}">
                <a16:creationId xmlns:a16="http://schemas.microsoft.com/office/drawing/2014/main" id="{5EDFFB06-F93D-4BF7-BA1A-4E9BA1ED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2143125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19" name="mojo-alternative-text">
            <a:extLst xmlns:a="http://schemas.openxmlformats.org/drawingml/2006/main">
              <a:ext uri="{FF2B5EF4-FFF2-40B4-BE49-F238E27FC236}">
                <a16:creationId xmlns:a16="http://schemas.microsoft.com/office/drawing/2014/main" id="{6E4595A8-7514-4FF1-88CF-31820B79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21526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备选路线</a:t>
            </a:r>
          </a:p>
        </p:txBody>
      </p:sp>
      <p:sp>
        <p:nvSpPr>
          <p:cNvPr id="20" name="tvm-stage-0">
            <a:extLst xmlns:a="http://schemas.openxmlformats.org/drawingml/2006/main">
              <a:ext uri="{FF2B5EF4-FFF2-40B4-BE49-F238E27FC236}">
                <a16:creationId xmlns:a16="http://schemas.microsoft.com/office/drawing/2014/main" id="{86159707-EAE4-4F79-AD7D-9151F5EB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21" name="tvm-num-0">
            <a:extLst xmlns:a="http://schemas.openxmlformats.org/drawingml/2006/main">
              <a:ext uri="{FF2B5EF4-FFF2-40B4-BE49-F238E27FC236}">
                <a16:creationId xmlns:a16="http://schemas.microsoft.com/office/drawing/2014/main" id="{8A633DFE-4241-41E4-A40A-690E6FCF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22" name="tvm-num-text-0">
            <a:extLst xmlns:a="http://schemas.openxmlformats.org/drawingml/2006/main">
              <a:ext uri="{FF2B5EF4-FFF2-40B4-BE49-F238E27FC236}">
                <a16:creationId xmlns:a16="http://schemas.microsoft.com/office/drawing/2014/main" id="{50306E1A-1EE7-498D-B34B-6D0EAA66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tvm-title-0">
            <a:extLst xmlns:a="http://schemas.openxmlformats.org/drawingml/2006/main">
              <a:ext uri="{FF2B5EF4-FFF2-40B4-BE49-F238E27FC236}">
                <a16:creationId xmlns:a16="http://schemas.microsoft.com/office/drawing/2014/main" id="{07D4E5CA-B8BB-478C-9A7C-9E9E8637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模型导入</a:t>
            </a:r>
          </a:p>
        </p:txBody>
      </p:sp>
      <p:sp>
        <p:nvSpPr>
          <p:cNvPr id="24" name="tvm-detail-0">
            <a:extLst xmlns:a="http://schemas.openxmlformats.org/drawingml/2006/main">
              <a:ext uri="{FF2B5EF4-FFF2-40B4-BE49-F238E27FC236}">
                <a16:creationId xmlns:a16="http://schemas.microsoft.com/office/drawing/2014/main" id="{7D740768-C7F4-41B1-9717-6668C23F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PyTorch / ONNX / TFLite → TVM Frontend</a:t>
            </a:r>
          </a:p>
        </p:txBody>
      </p:sp>
      <p:sp>
        <p:nvSpPr>
          <p:cNvPr id="25" name="tvm-status-0">
            <a:extLst xmlns:a="http://schemas.openxmlformats.org/drawingml/2006/main">
              <a:ext uri="{FF2B5EF4-FFF2-40B4-BE49-F238E27FC236}">
                <a16:creationId xmlns:a16="http://schemas.microsoft.com/office/drawing/2014/main" id="{4F026813-525A-4520-909B-F21CC789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26" name="tvm-status-0-text">
            <a:extLst xmlns:a="http://schemas.openxmlformats.org/drawingml/2006/main">
              <a:ext uri="{FF2B5EF4-FFF2-40B4-BE49-F238E27FC236}">
                <a16:creationId xmlns:a16="http://schemas.microsoft.com/office/drawing/2014/main" id="{A67ACE9B-B2B0-4884-83AB-13915718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955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框架已有</a:t>
            </a:r>
          </a:p>
        </p:txBody>
      </p:sp>
      <p:sp>
        <p:nvSpPr>
          <p:cNvPr id="27" name="mojo-stage-0">
            <a:extLst xmlns:a="http://schemas.openxmlformats.org/drawingml/2006/main">
              <a:ext uri="{FF2B5EF4-FFF2-40B4-BE49-F238E27FC236}">
                <a16:creationId xmlns:a16="http://schemas.microsoft.com/office/drawing/2014/main" id="{BCAF4D8E-3EBF-4690-B586-BF9374A6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28" name="mojo-num-0">
            <a:extLst xmlns:a="http://schemas.openxmlformats.org/drawingml/2006/main">
              <a:ext uri="{FF2B5EF4-FFF2-40B4-BE49-F238E27FC236}">
                <a16:creationId xmlns:a16="http://schemas.microsoft.com/office/drawing/2014/main" id="{C9561380-A5F1-4505-8165-3E901835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7177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29" name="mojo-num-text-0">
            <a:extLst xmlns:a="http://schemas.openxmlformats.org/drawingml/2006/main">
              <a:ext uri="{FF2B5EF4-FFF2-40B4-BE49-F238E27FC236}">
                <a16:creationId xmlns:a16="http://schemas.microsoft.com/office/drawing/2014/main" id="{3CA14437-F580-4EBC-AF5F-D85E4C73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003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mojo-title-0">
            <a:extLst xmlns:a="http://schemas.openxmlformats.org/drawingml/2006/main">
              <a:ext uri="{FF2B5EF4-FFF2-40B4-BE49-F238E27FC236}">
                <a16:creationId xmlns:a16="http://schemas.microsoft.com/office/drawing/2014/main" id="{A371F422-168A-45A5-A465-F49D26E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8605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模型导入</a:t>
            </a:r>
          </a:p>
        </p:txBody>
      </p:sp>
      <p:sp>
        <p:nvSpPr>
          <p:cNvPr id="31" name="mojo-detail-0">
            <a:extLst xmlns:a="http://schemas.openxmlformats.org/drawingml/2006/main">
              <a:ext uri="{FF2B5EF4-FFF2-40B4-BE49-F238E27FC236}">
                <a16:creationId xmlns:a16="http://schemas.microsoft.com/office/drawing/2014/main" id="{34C56E2F-8041-45A8-9BC0-DFAF304D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4322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HF / PyTorch → MAX Model Adapter</a:t>
            </a:r>
          </a:p>
        </p:txBody>
      </p:sp>
      <p:sp>
        <p:nvSpPr>
          <p:cNvPr id="32" name="mojo-status-0">
            <a:extLst xmlns:a="http://schemas.openxmlformats.org/drawingml/2006/main">
              <a:ext uri="{FF2B5EF4-FFF2-40B4-BE49-F238E27FC236}">
                <a16:creationId xmlns:a16="http://schemas.microsoft.com/office/drawing/2014/main" id="{D8015E50-C315-4C8C-8D65-46E93455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268605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33" name="mojo-status-0-text">
            <a:extLst xmlns:a="http://schemas.openxmlformats.org/drawingml/2006/main">
              <a:ext uri="{FF2B5EF4-FFF2-40B4-BE49-F238E27FC236}">
                <a16:creationId xmlns:a16="http://schemas.microsoft.com/office/drawing/2014/main" id="{1C1FAE99-608E-46C6-A574-D2FE2245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26955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框架已有</a:t>
            </a:r>
          </a:p>
        </p:txBody>
      </p:sp>
      <p:sp>
        <p:nvSpPr>
          <p:cNvPr id="34" name="tvm-arrow-0-line">
            <a:extLst xmlns:a="http://schemas.openxmlformats.org/drawingml/2006/main">
              <a:ext uri="{FF2B5EF4-FFF2-40B4-BE49-F238E27FC236}">
                <a16:creationId xmlns:a16="http://schemas.microsoft.com/office/drawing/2014/main" id="{FDECE151-A730-4513-979B-75A80262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333375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35" name="tvm-arrow-0-head">
            <a:extLst xmlns:a="http://schemas.openxmlformats.org/drawingml/2006/main">
              <a:ext uri="{FF2B5EF4-FFF2-40B4-BE49-F238E27FC236}">
                <a16:creationId xmlns:a16="http://schemas.microsoft.com/office/drawing/2014/main" id="{2B75B131-8737-416D-AC79-F4D65BA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8612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36" name="mojo-arrow-0-line">
            <a:extLst xmlns:a="http://schemas.openxmlformats.org/drawingml/2006/main">
              <a:ext uri="{FF2B5EF4-FFF2-40B4-BE49-F238E27FC236}">
                <a16:creationId xmlns:a16="http://schemas.microsoft.com/office/drawing/2014/main" id="{118DDCDB-4475-40CB-A823-AE13FC6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333375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37" name="mojo-arrow-0-head">
            <a:extLst xmlns:a="http://schemas.openxmlformats.org/drawingml/2006/main">
              <a:ext uri="{FF2B5EF4-FFF2-40B4-BE49-F238E27FC236}">
                <a16:creationId xmlns:a16="http://schemas.microsoft.com/office/drawing/2014/main" id="{772DA84F-FE3A-49E3-86DB-9533823C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328612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38" name="tvm-stage-1">
            <a:extLst xmlns:a="http://schemas.openxmlformats.org/drawingml/2006/main">
              <a:ext uri="{FF2B5EF4-FFF2-40B4-BE49-F238E27FC236}">
                <a16:creationId xmlns:a16="http://schemas.microsoft.com/office/drawing/2014/main" id="{5D205817-326E-4111-8EE9-F773FBC6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39" name="tvm-num-1">
            <a:extLst xmlns:a="http://schemas.openxmlformats.org/drawingml/2006/main">
              <a:ext uri="{FF2B5EF4-FFF2-40B4-BE49-F238E27FC236}">
                <a16:creationId xmlns:a16="http://schemas.microsoft.com/office/drawing/2014/main" id="{704A07A6-A265-47FB-91CB-B24A9560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40" name="tvm-num-text-1">
            <a:extLst xmlns:a="http://schemas.openxmlformats.org/drawingml/2006/main">
              <a:ext uri="{FF2B5EF4-FFF2-40B4-BE49-F238E27FC236}">
                <a16:creationId xmlns:a16="http://schemas.microsoft.com/office/drawing/2014/main" id="{B984CAC1-D021-49C5-944F-18F1F21F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tvm-title-1">
            <a:extLst xmlns:a="http://schemas.openxmlformats.org/drawingml/2006/main">
              <a:ext uri="{FF2B5EF4-FFF2-40B4-BE49-F238E27FC236}">
                <a16:creationId xmlns:a16="http://schemas.microsoft.com/office/drawing/2014/main" id="{FAFAD244-1C73-4209-8702-348A7BF8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统一图 IR</a:t>
            </a:r>
          </a:p>
        </p:txBody>
      </p:sp>
      <p:sp>
        <p:nvSpPr>
          <p:cNvPr id="42" name="tvm-detail-1">
            <a:extLst xmlns:a="http://schemas.openxmlformats.org/drawingml/2006/main">
              <a:ext uri="{FF2B5EF4-FFF2-40B4-BE49-F238E27FC236}">
                <a16:creationId xmlns:a16="http://schemas.microsoft.com/office/drawing/2014/main" id="{BA28A4F7-86CE-404C-91C6-A9B3B635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Relax IR：Tensor、Shape、DType、Control Flow</a:t>
            </a:r>
          </a:p>
        </p:txBody>
      </p:sp>
      <p:sp>
        <p:nvSpPr>
          <p:cNvPr id="43" name="tvm-status-1">
            <a:extLst xmlns:a="http://schemas.openxmlformats.org/drawingml/2006/main">
              <a:ext uri="{FF2B5EF4-FFF2-40B4-BE49-F238E27FC236}">
                <a16:creationId xmlns:a16="http://schemas.microsoft.com/office/drawing/2014/main" id="{944DC12A-4F87-4511-9CF0-415FF5FC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44" name="tvm-status-1-text">
            <a:extLst xmlns:a="http://schemas.openxmlformats.org/drawingml/2006/main">
              <a:ext uri="{FF2B5EF4-FFF2-40B4-BE49-F238E27FC236}">
                <a16:creationId xmlns:a16="http://schemas.microsoft.com/office/drawing/2014/main" id="{021CCD6C-6546-4833-AFAA-B438606F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1472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框架已有</a:t>
            </a:r>
          </a:p>
        </p:txBody>
      </p:sp>
      <p:sp>
        <p:nvSpPr>
          <p:cNvPr id="45" name="mojo-stage-1">
            <a:extLst xmlns:a="http://schemas.openxmlformats.org/drawingml/2006/main">
              <a:ext uri="{FF2B5EF4-FFF2-40B4-BE49-F238E27FC236}">
                <a16:creationId xmlns:a16="http://schemas.microsoft.com/office/drawing/2014/main" id="{49DAC9F2-0DBC-44BB-BAE5-62FCC4B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46" name="mojo-num-1">
            <a:extLst xmlns:a="http://schemas.openxmlformats.org/drawingml/2006/main">
              <a:ext uri="{FF2B5EF4-FFF2-40B4-BE49-F238E27FC236}">
                <a16:creationId xmlns:a16="http://schemas.microsoft.com/office/drawing/2014/main" id="{DEFD4E95-EEE1-425F-BB68-C63EB51F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9092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47" name="mojo-num-text-1">
            <a:extLst xmlns:a="http://schemas.openxmlformats.org/drawingml/2006/main">
              <a:ext uri="{FF2B5EF4-FFF2-40B4-BE49-F238E27FC236}">
                <a16:creationId xmlns:a16="http://schemas.microsoft.com/office/drawing/2014/main" id="{19FF65D4-ED21-4A59-9D5F-8CEC7356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mojo-title-1">
            <a:extLst xmlns:a="http://schemas.openxmlformats.org/drawingml/2006/main">
              <a:ext uri="{FF2B5EF4-FFF2-40B4-BE49-F238E27FC236}">
                <a16:creationId xmlns:a16="http://schemas.microsoft.com/office/drawing/2014/main" id="{1E60159E-D5F9-410D-8BD4-BE3D2963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0520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统一图 IR</a:t>
            </a:r>
          </a:p>
        </p:txBody>
      </p:sp>
      <p:sp>
        <p:nvSpPr>
          <p:cNvPr id="49" name="mojo-detail-1">
            <a:extLst xmlns:a="http://schemas.openxmlformats.org/drawingml/2006/main">
              <a:ext uri="{FF2B5EF4-FFF2-40B4-BE49-F238E27FC236}">
                <a16:creationId xmlns:a16="http://schemas.microsoft.com/office/drawing/2014/main" id="{30575A7A-17F8-42D1-A027-457B828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6237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MAX Graph：Tensor、Shape、Layout、Control Flow</a:t>
            </a:r>
          </a:p>
        </p:txBody>
      </p:sp>
      <p:sp>
        <p:nvSpPr>
          <p:cNvPr id="50" name="mojo-status-1">
            <a:extLst xmlns:a="http://schemas.openxmlformats.org/drawingml/2006/main">
              <a:ext uri="{FF2B5EF4-FFF2-40B4-BE49-F238E27FC236}">
                <a16:creationId xmlns:a16="http://schemas.microsoft.com/office/drawing/2014/main" id="{6D7C0F60-A391-4730-9AB6-50F63EA6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350520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51" name="mojo-status-1-text">
            <a:extLst xmlns:a="http://schemas.openxmlformats.org/drawingml/2006/main">
              <a:ext uri="{FF2B5EF4-FFF2-40B4-BE49-F238E27FC236}">
                <a16:creationId xmlns:a16="http://schemas.microsoft.com/office/drawing/2014/main" id="{214E3695-B31E-40A6-91E4-199EC416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351472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框架已有</a:t>
            </a:r>
          </a:p>
        </p:txBody>
      </p:sp>
      <p:sp>
        <p:nvSpPr>
          <p:cNvPr id="52" name="tvm-arrow-1-line">
            <a:extLst xmlns:a="http://schemas.openxmlformats.org/drawingml/2006/main">
              <a:ext uri="{FF2B5EF4-FFF2-40B4-BE49-F238E27FC236}">
                <a16:creationId xmlns:a16="http://schemas.microsoft.com/office/drawing/2014/main" id="{A7863643-6F43-4401-8F30-E5A6931D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415290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53" name="tvm-arrow-1-head">
            <a:extLst xmlns:a="http://schemas.openxmlformats.org/drawingml/2006/main">
              <a:ext uri="{FF2B5EF4-FFF2-40B4-BE49-F238E27FC236}">
                <a16:creationId xmlns:a16="http://schemas.microsoft.com/office/drawing/2014/main" id="{538C6131-5331-496F-B51F-8B79EE9D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0527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54" name="mojo-arrow-1-line">
            <a:extLst xmlns:a="http://schemas.openxmlformats.org/drawingml/2006/main">
              <a:ext uri="{FF2B5EF4-FFF2-40B4-BE49-F238E27FC236}">
                <a16:creationId xmlns:a16="http://schemas.microsoft.com/office/drawing/2014/main" id="{9A604D4B-D76E-4C24-8033-4225269D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415290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55" name="mojo-arrow-1-head">
            <a:extLst xmlns:a="http://schemas.openxmlformats.org/drawingml/2006/main">
              <a:ext uri="{FF2B5EF4-FFF2-40B4-BE49-F238E27FC236}">
                <a16:creationId xmlns:a16="http://schemas.microsoft.com/office/drawing/2014/main" id="{9AB99D80-C402-461E-A139-62D252E8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410527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56" name="tvm-stage-2">
            <a:extLst xmlns:a="http://schemas.openxmlformats.org/drawingml/2006/main">
              <a:ext uri="{FF2B5EF4-FFF2-40B4-BE49-F238E27FC236}">
                <a16:creationId xmlns:a16="http://schemas.microsoft.com/office/drawing/2014/main" id="{2EB0064C-F2A7-4BFB-962F-76A2F356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57" name="tvm-num-2">
            <a:extLst xmlns:a="http://schemas.openxmlformats.org/drawingml/2006/main">
              <a:ext uri="{FF2B5EF4-FFF2-40B4-BE49-F238E27FC236}">
                <a16:creationId xmlns:a16="http://schemas.microsoft.com/office/drawing/2014/main" id="{B6CC8C65-E201-4110-A4B5-096379F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007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58" name="tvm-num-text-2">
            <a:extLst xmlns:a="http://schemas.openxmlformats.org/drawingml/2006/main">
              <a:ext uri="{FF2B5EF4-FFF2-40B4-BE49-F238E27FC236}">
                <a16:creationId xmlns:a16="http://schemas.microsoft.com/office/drawing/2014/main" id="{B8E85C5C-0155-41F9-A6D2-EDE70EA9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9" name="tvm-title-2">
            <a:extLst xmlns:a="http://schemas.openxmlformats.org/drawingml/2006/main">
              <a:ext uri="{FF2B5EF4-FFF2-40B4-BE49-F238E27FC236}">
                <a16:creationId xmlns:a16="http://schemas.microsoft.com/office/drawing/2014/main" id="{3A86317C-6D32-404B-86E1-E5A6779B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图优化与 NPU 分区</a:t>
            </a:r>
          </a:p>
        </p:txBody>
      </p:sp>
      <p:sp>
        <p:nvSpPr>
          <p:cNvPr id="60" name="tvm-detail-2">
            <a:extLst xmlns:a="http://schemas.openxmlformats.org/drawingml/2006/main">
              <a:ext uri="{FF2B5EF4-FFF2-40B4-BE49-F238E27FC236}">
                <a16:creationId xmlns:a16="http://schemas.microsoft.com/office/drawing/2014/main" id="{96996DC2-9C60-4592-B93E-695EF715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8152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Pattern / Fuse / Annotate / Partition + Capability</a:t>
            </a:r>
          </a:p>
        </p:txBody>
      </p:sp>
      <p:sp>
        <p:nvSpPr>
          <p:cNvPr id="61" name="tvm-status-2">
            <a:extLst xmlns:a="http://schemas.openxmlformats.org/drawingml/2006/main">
              <a:ext uri="{FF2B5EF4-FFF2-40B4-BE49-F238E27FC236}">
                <a16:creationId xmlns:a16="http://schemas.microsoft.com/office/drawing/2014/main" id="{4A7C53AB-970C-4EBA-AFF9-6E424CA9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2435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62" name="tvm-status-2-text">
            <a:extLst xmlns:a="http://schemas.openxmlformats.org/drawingml/2006/main">
              <a:ext uri="{FF2B5EF4-FFF2-40B4-BE49-F238E27FC236}">
                <a16:creationId xmlns:a16="http://schemas.microsoft.com/office/drawing/2014/main" id="{D0BAE0FE-7410-4E4A-918C-E892032E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增量开发</a:t>
            </a:r>
          </a:p>
        </p:txBody>
      </p:sp>
      <p:sp>
        <p:nvSpPr>
          <p:cNvPr id="63" name="mojo-stage-2">
            <a:extLst xmlns:a="http://schemas.openxmlformats.org/drawingml/2006/main">
              <a:ext uri="{FF2B5EF4-FFF2-40B4-BE49-F238E27FC236}">
                <a16:creationId xmlns:a16="http://schemas.microsoft.com/office/drawing/2014/main" id="{06F77C8A-C997-4AC3-BE78-F2EA1A23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4815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64" name="mojo-num-2">
            <a:extLst xmlns:a="http://schemas.openxmlformats.org/drawingml/2006/main">
              <a:ext uri="{FF2B5EF4-FFF2-40B4-BE49-F238E27FC236}">
                <a16:creationId xmlns:a16="http://schemas.microsoft.com/office/drawing/2014/main" id="{0680DF54-8A5A-4C35-8678-4EB27B47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1007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65" name="mojo-num-text-2">
            <a:extLst xmlns:a="http://schemas.openxmlformats.org/drawingml/2006/main">
              <a:ext uri="{FF2B5EF4-FFF2-40B4-BE49-F238E27FC236}">
                <a16:creationId xmlns:a16="http://schemas.microsoft.com/office/drawing/2014/main" id="{22DC129F-2B47-4F63-8AA3-4F602EA7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38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6" name="mojo-title-2">
            <a:extLst xmlns:a="http://schemas.openxmlformats.org/drawingml/2006/main">
              <a:ext uri="{FF2B5EF4-FFF2-40B4-BE49-F238E27FC236}">
                <a16:creationId xmlns:a16="http://schemas.microsoft.com/office/drawing/2014/main" id="{9A4D0B5D-DA0B-4F0A-A9CA-D1B666F9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32435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图优化与 NPU 分区</a:t>
            </a:r>
          </a:p>
        </p:txBody>
      </p:sp>
      <p:sp>
        <p:nvSpPr>
          <p:cNvPr id="67" name="mojo-detail-2">
            <a:extLst xmlns:a="http://schemas.openxmlformats.org/drawingml/2006/main">
              <a:ext uri="{FF2B5EF4-FFF2-40B4-BE49-F238E27FC236}">
                <a16:creationId xmlns:a16="http://schemas.microsoft.com/office/drawing/2014/main" id="{B43E0D64-9836-4A60-9F09-E41304B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8152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新增 NPU Device / Placement / Capability / Partition</a:t>
            </a:r>
          </a:p>
        </p:txBody>
      </p:sp>
      <p:sp>
        <p:nvSpPr>
          <p:cNvPr id="68" name="mojo-status-2">
            <a:extLst xmlns:a="http://schemas.openxmlformats.org/drawingml/2006/main">
              <a:ext uri="{FF2B5EF4-FFF2-40B4-BE49-F238E27FC236}">
                <a16:creationId xmlns:a16="http://schemas.microsoft.com/office/drawing/2014/main" id="{9AB6F042-A51A-42F2-9C83-1265E99B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432435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69" name="mojo-status-2-text">
            <a:extLst xmlns:a="http://schemas.openxmlformats.org/drawingml/2006/main">
              <a:ext uri="{FF2B5EF4-FFF2-40B4-BE49-F238E27FC236}">
                <a16:creationId xmlns:a16="http://schemas.microsoft.com/office/drawing/2014/main" id="{D417DED0-A0EC-4A62-89C2-18463337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43338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增量开发</a:t>
            </a:r>
          </a:p>
        </p:txBody>
      </p:sp>
      <p:sp>
        <p:nvSpPr>
          <p:cNvPr id="70" name="tvm-arrow-2-line">
            <a:extLst xmlns:a="http://schemas.openxmlformats.org/drawingml/2006/main">
              <a:ext uri="{FF2B5EF4-FFF2-40B4-BE49-F238E27FC236}">
                <a16:creationId xmlns:a16="http://schemas.microsoft.com/office/drawing/2014/main" id="{123AFF61-162E-4B56-A874-5820891B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497205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71" name="tvm-arrow-2-head">
            <a:extLst xmlns:a="http://schemas.openxmlformats.org/drawingml/2006/main">
              <a:ext uri="{FF2B5EF4-FFF2-40B4-BE49-F238E27FC236}">
                <a16:creationId xmlns:a16="http://schemas.microsoft.com/office/drawing/2014/main" id="{D06C34A6-5243-4016-A5A1-33774D8E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2442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72" name="mojo-arrow-2-line">
            <a:extLst xmlns:a="http://schemas.openxmlformats.org/drawingml/2006/main">
              <a:ext uri="{FF2B5EF4-FFF2-40B4-BE49-F238E27FC236}">
                <a16:creationId xmlns:a16="http://schemas.microsoft.com/office/drawing/2014/main" id="{5ABD7033-181E-4791-BF99-EA8DFE3A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497205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73" name="mojo-arrow-2-head">
            <a:extLst xmlns:a="http://schemas.openxmlformats.org/drawingml/2006/main">
              <a:ext uri="{FF2B5EF4-FFF2-40B4-BE49-F238E27FC236}">
                <a16:creationId xmlns:a16="http://schemas.microsoft.com/office/drawing/2014/main" id="{746FC5E6-8D5F-4F18-80C4-4EDCE55C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492442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74" name="tvm-stage-3">
            <a:extLst xmlns:a="http://schemas.openxmlformats.org/drawingml/2006/main">
              <a:ext uri="{FF2B5EF4-FFF2-40B4-BE49-F238E27FC236}">
                <a16:creationId xmlns:a16="http://schemas.microsoft.com/office/drawing/2014/main" id="{8EF97EBC-E58E-4E1B-8AFA-A6B73E08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75" name="tvm-num-3">
            <a:extLst xmlns:a="http://schemas.openxmlformats.org/drawingml/2006/main">
              <a:ext uri="{FF2B5EF4-FFF2-40B4-BE49-F238E27FC236}">
                <a16:creationId xmlns:a16="http://schemas.microsoft.com/office/drawing/2014/main" id="{6848F95C-BF36-4F59-8DC6-C26E3E7A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2922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76" name="tvm-num-text-3">
            <a:extLst xmlns:a="http://schemas.openxmlformats.org/drawingml/2006/main">
              <a:ext uri="{FF2B5EF4-FFF2-40B4-BE49-F238E27FC236}">
                <a16:creationId xmlns:a16="http://schemas.microsoft.com/office/drawing/2014/main" id="{73962FE3-838E-4DAC-81B8-7753508E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7" name="tvm-title-3">
            <a:extLst xmlns:a="http://schemas.openxmlformats.org/drawingml/2006/main">
              <a:ext uri="{FF2B5EF4-FFF2-40B4-BE49-F238E27FC236}">
                <a16:creationId xmlns:a16="http://schemas.microsoft.com/office/drawing/2014/main" id="{84626202-C84B-48C7-85BC-8491A221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OpenNPUX Backend IR</a:t>
            </a:r>
          </a:p>
        </p:txBody>
      </p:sp>
      <p:sp>
        <p:nvSpPr>
          <p:cNvPr id="78" name="tvm-detail-3">
            <a:extLst xmlns:a="http://schemas.openxmlformats.org/drawingml/2006/main">
              <a:ext uri="{FF2B5EF4-FFF2-40B4-BE49-F238E27FC236}">
                <a16:creationId xmlns:a16="http://schemas.microsoft.com/office/drawing/2014/main" id="{A7E54335-A683-417A-9CD5-F1E77385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0067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Relax Subgraph → Operator Request；Legalize / Tile / Schedule</a:t>
            </a:r>
          </a:p>
        </p:txBody>
      </p:sp>
      <p:sp>
        <p:nvSpPr>
          <p:cNvPr id="79" name="tvm-status-3">
            <a:extLst xmlns:a="http://schemas.openxmlformats.org/drawingml/2006/main">
              <a:ext uri="{FF2B5EF4-FFF2-40B4-BE49-F238E27FC236}">
                <a16:creationId xmlns:a16="http://schemas.microsoft.com/office/drawing/2014/main" id="{7F441642-14A7-481E-8098-EF891DC7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4350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80" name="tvm-status-3-text">
            <a:extLst xmlns:a="http://schemas.openxmlformats.org/drawingml/2006/main">
              <a:ext uri="{FF2B5EF4-FFF2-40B4-BE49-F238E27FC236}">
                <a16:creationId xmlns:a16="http://schemas.microsoft.com/office/drawing/2014/main" id="{DA7E7CAE-7ACE-4162-AF61-7F764998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5302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增量开发</a:t>
            </a:r>
          </a:p>
        </p:txBody>
      </p:sp>
      <p:sp>
        <p:nvSpPr>
          <p:cNvPr id="81" name="mojo-stage-3">
            <a:extLst xmlns:a="http://schemas.openxmlformats.org/drawingml/2006/main">
              <a:ext uri="{FF2B5EF4-FFF2-40B4-BE49-F238E27FC236}">
                <a16:creationId xmlns:a16="http://schemas.microsoft.com/office/drawing/2014/main" id="{AB7B8FF4-52B3-4435-BAAF-D5646E03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6730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82" name="mojo-num-3">
            <a:extLst xmlns:a="http://schemas.openxmlformats.org/drawingml/2006/main">
              <a:ext uri="{FF2B5EF4-FFF2-40B4-BE49-F238E27FC236}">
                <a16:creationId xmlns:a16="http://schemas.microsoft.com/office/drawing/2014/main" id="{9192A384-B8BF-404A-A4B2-7A7D94C0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22922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83" name="mojo-num-text-3">
            <a:extLst xmlns:a="http://schemas.openxmlformats.org/drawingml/2006/main">
              <a:ext uri="{FF2B5EF4-FFF2-40B4-BE49-F238E27FC236}">
                <a16:creationId xmlns:a16="http://schemas.microsoft.com/office/drawing/2014/main" id="{8788CA19-73E4-424A-B303-1D50FCD1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2578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4" name="mojo-title-3">
            <a:extLst xmlns:a="http://schemas.openxmlformats.org/drawingml/2006/main">
              <a:ext uri="{FF2B5EF4-FFF2-40B4-BE49-F238E27FC236}">
                <a16:creationId xmlns:a16="http://schemas.microsoft.com/office/drawing/2014/main" id="{49D6B340-51EE-4119-8151-296BCBAE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4350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OpenNPUX Backend IR</a:t>
            </a:r>
          </a:p>
        </p:txBody>
      </p:sp>
      <p:sp>
        <p:nvSpPr>
          <p:cNvPr id="85" name="mojo-detail-3">
            <a:extLst xmlns:a="http://schemas.openxmlformats.org/drawingml/2006/main">
              <a:ext uri="{FF2B5EF4-FFF2-40B4-BE49-F238E27FC236}">
                <a16:creationId xmlns:a16="http://schemas.microsoft.com/office/drawing/2014/main" id="{B324BE4F-C0A0-413C-9974-B5A8C6E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40067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新增 NPU Target Dialect；KGEN/MLIR Legalize / Tile / Lowering</a:t>
            </a:r>
          </a:p>
        </p:txBody>
      </p:sp>
      <p:sp>
        <p:nvSpPr>
          <p:cNvPr id="86" name="mojo-status-3">
            <a:extLst xmlns:a="http://schemas.openxmlformats.org/drawingml/2006/main">
              <a:ext uri="{FF2B5EF4-FFF2-40B4-BE49-F238E27FC236}">
                <a16:creationId xmlns:a16="http://schemas.microsoft.com/office/drawing/2014/main" id="{E7CF5059-431F-4C7D-89EF-52CCB829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514350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87" name="mojo-status-3-text">
            <a:extLst xmlns:a="http://schemas.openxmlformats.org/drawingml/2006/main">
              <a:ext uri="{FF2B5EF4-FFF2-40B4-BE49-F238E27FC236}">
                <a16:creationId xmlns:a16="http://schemas.microsoft.com/office/drawing/2014/main" id="{0901714C-C118-42A2-81BB-CA0026D8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515302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深度开发</a:t>
            </a:r>
          </a:p>
        </p:txBody>
      </p:sp>
      <p:sp>
        <p:nvSpPr>
          <p:cNvPr id="88" name="tvm-arrow-3-line">
            <a:extLst xmlns:a="http://schemas.openxmlformats.org/drawingml/2006/main">
              <a:ext uri="{FF2B5EF4-FFF2-40B4-BE49-F238E27FC236}">
                <a16:creationId xmlns:a16="http://schemas.microsoft.com/office/drawing/2014/main" id="{20F88896-A9C3-4F1A-B78A-4E99FB60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579120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89" name="tvm-arrow-3-head">
            <a:extLst xmlns:a="http://schemas.openxmlformats.org/drawingml/2006/main">
              <a:ext uri="{FF2B5EF4-FFF2-40B4-BE49-F238E27FC236}">
                <a16:creationId xmlns:a16="http://schemas.microsoft.com/office/drawing/2014/main" id="{0247857D-8F7B-4AE0-9307-C15C018A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74357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90" name="mojo-arrow-3-line">
            <a:extLst xmlns:a="http://schemas.openxmlformats.org/drawingml/2006/main">
              <a:ext uri="{FF2B5EF4-FFF2-40B4-BE49-F238E27FC236}">
                <a16:creationId xmlns:a16="http://schemas.microsoft.com/office/drawing/2014/main" id="{1C2E4251-6110-4023-ABE0-BAE4D515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579120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91" name="mojo-arrow-3-head">
            <a:extLst xmlns:a="http://schemas.openxmlformats.org/drawingml/2006/main">
              <a:ext uri="{FF2B5EF4-FFF2-40B4-BE49-F238E27FC236}">
                <a16:creationId xmlns:a16="http://schemas.microsoft.com/office/drawing/2014/main" id="{620316DF-B508-4AC2-B503-CC67E6A4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574357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92" name="tvm-stage-4">
            <a:extLst xmlns:a="http://schemas.openxmlformats.org/drawingml/2006/main">
              <a:ext uri="{FF2B5EF4-FFF2-40B4-BE49-F238E27FC236}">
                <a16:creationId xmlns:a16="http://schemas.microsoft.com/office/drawing/2014/main" id="{E99B7463-9DCB-4926-80CE-4732D8D1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7EE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93" name="tvm-num-4">
            <a:extLst xmlns:a="http://schemas.openxmlformats.org/drawingml/2006/main">
              <a:ext uri="{FF2B5EF4-FFF2-40B4-BE49-F238E27FC236}">
                <a16:creationId xmlns:a16="http://schemas.microsoft.com/office/drawing/2014/main" id="{00511F7A-6247-4EFC-A721-0391F86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94" name="tvm-num-text-4">
            <a:extLst xmlns:a="http://schemas.openxmlformats.org/drawingml/2006/main">
              <a:ext uri="{FF2B5EF4-FFF2-40B4-BE49-F238E27FC236}">
                <a16:creationId xmlns:a16="http://schemas.microsoft.com/office/drawing/2014/main" id="{B019A57A-3248-41E5-80FB-0AFC4382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5" name="tvm-title-4">
            <a:extLst xmlns:a="http://schemas.openxmlformats.org/drawingml/2006/main">
              <a:ext uri="{FF2B5EF4-FFF2-40B4-BE49-F238E27FC236}">
                <a16:creationId xmlns:a16="http://schemas.microsoft.com/office/drawing/2014/main" id="{B3B21CFA-40CF-407C-96B3-3C807F56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设备代码生成</a:t>
            </a:r>
          </a:p>
        </p:txBody>
      </p:sp>
      <p:sp>
        <p:nvSpPr>
          <p:cNvPr id="96" name="tvm-detail-4">
            <a:extLst xmlns:a="http://schemas.openxmlformats.org/drawingml/2006/main">
              <a:ext uri="{FF2B5EF4-FFF2-40B4-BE49-F238E27FC236}">
                <a16:creationId xmlns:a16="http://schemas.microsoft.com/office/drawing/2014/main" id="{B77B0259-D6E1-477E-B163-AD6DF716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1982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XOpenNPUX CSR/32-bit 指令 + Descriptor → RV32 ELF / 任务包</a:t>
            </a:r>
          </a:p>
        </p:txBody>
      </p:sp>
      <p:sp>
        <p:nvSpPr>
          <p:cNvPr id="97" name="tvm-status-4">
            <a:extLst xmlns:a="http://schemas.openxmlformats.org/drawingml/2006/main">
              <a:ext uri="{FF2B5EF4-FFF2-40B4-BE49-F238E27FC236}">
                <a16:creationId xmlns:a16="http://schemas.microsoft.com/office/drawing/2014/main" id="{899A075D-06BC-4C3A-8461-6018A18A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96265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98" name="tvm-status-4-text">
            <a:extLst xmlns:a="http://schemas.openxmlformats.org/drawingml/2006/main">
              <a:ext uri="{FF2B5EF4-FFF2-40B4-BE49-F238E27FC236}">
                <a16:creationId xmlns:a16="http://schemas.microsoft.com/office/drawing/2014/main" id="{0EFA0978-AB43-4F2D-84A1-AE2C2B3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721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复用并适配</a:t>
            </a:r>
          </a:p>
        </p:txBody>
      </p:sp>
      <p:sp>
        <p:nvSpPr>
          <p:cNvPr id="99" name="mojo-stage-4">
            <a:extLst xmlns:a="http://schemas.openxmlformats.org/drawingml/2006/main">
              <a:ext uri="{FF2B5EF4-FFF2-40B4-BE49-F238E27FC236}">
                <a16:creationId xmlns:a16="http://schemas.microsoft.com/office/drawing/2014/main" id="{75142996-B301-4534-BC3C-BF6E8CE3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8645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100" name="mojo-num-4">
            <a:extLst xmlns:a="http://schemas.openxmlformats.org/drawingml/2006/main">
              <a:ext uri="{FF2B5EF4-FFF2-40B4-BE49-F238E27FC236}">
                <a16:creationId xmlns:a16="http://schemas.microsoft.com/office/drawing/2014/main" id="{0E900C4A-DE2B-4270-B11A-FB33E86A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4837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101" name="mojo-num-text-4">
            <a:extLst xmlns:a="http://schemas.openxmlformats.org/drawingml/2006/main">
              <a:ext uri="{FF2B5EF4-FFF2-40B4-BE49-F238E27FC236}">
                <a16:creationId xmlns:a16="http://schemas.microsoft.com/office/drawing/2014/main" id="{6C04FBD2-6265-4B9B-AE70-DD6D9C24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76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2" name="mojo-title-4">
            <a:extLst xmlns:a="http://schemas.openxmlformats.org/drawingml/2006/main">
              <a:ext uri="{FF2B5EF4-FFF2-40B4-BE49-F238E27FC236}">
                <a16:creationId xmlns:a16="http://schemas.microsoft.com/office/drawing/2014/main" id="{50B17E6A-8276-4BF6-B9CE-329F45FA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6265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设备代码生成</a:t>
            </a:r>
          </a:p>
        </p:txBody>
      </p:sp>
      <p:sp>
        <p:nvSpPr>
          <p:cNvPr id="103" name="mojo-detail-4">
            <a:extLst xmlns:a="http://schemas.openxmlformats.org/drawingml/2006/main">
              <a:ext uri="{FF2B5EF4-FFF2-40B4-BE49-F238E27FC236}">
                <a16:creationId xmlns:a16="http://schemas.microsoft.com/office/drawing/2014/main" id="{683CCB46-4801-44F7-8049-47A561D3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1982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新增 Target Code Emitter / LLVM 路径 → 同一 RV32 Artifact ABI</a:t>
            </a:r>
          </a:p>
        </p:txBody>
      </p:sp>
      <p:sp>
        <p:nvSpPr>
          <p:cNvPr id="104" name="mojo-status-4">
            <a:extLst xmlns:a="http://schemas.openxmlformats.org/drawingml/2006/main">
              <a:ext uri="{FF2B5EF4-FFF2-40B4-BE49-F238E27FC236}">
                <a16:creationId xmlns:a16="http://schemas.microsoft.com/office/drawing/2014/main" id="{96AC4E68-2E6D-4E5B-81BE-49F50F5E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596265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105" name="mojo-status-4-text">
            <a:extLst xmlns:a="http://schemas.openxmlformats.org/drawingml/2006/main">
              <a:ext uri="{FF2B5EF4-FFF2-40B4-BE49-F238E27FC236}">
                <a16:creationId xmlns:a16="http://schemas.microsoft.com/office/drawing/2014/main" id="{917DB0BA-3035-4F22-8FE8-1F117DBC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59721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深度开发</a:t>
            </a:r>
          </a:p>
        </p:txBody>
      </p:sp>
      <p:sp>
        <p:nvSpPr>
          <p:cNvPr id="106" name="tvm-arrow-4-line">
            <a:extLst xmlns:a="http://schemas.openxmlformats.org/drawingml/2006/main">
              <a:ext uri="{FF2B5EF4-FFF2-40B4-BE49-F238E27FC236}">
                <a16:creationId xmlns:a16="http://schemas.microsoft.com/office/drawing/2014/main" id="{65F9BEEB-EC99-46ED-99CA-B9361474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661035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107" name="tvm-arrow-4-head">
            <a:extLst xmlns:a="http://schemas.openxmlformats.org/drawingml/2006/main">
              <a:ext uri="{FF2B5EF4-FFF2-40B4-BE49-F238E27FC236}">
                <a16:creationId xmlns:a16="http://schemas.microsoft.com/office/drawing/2014/main" id="{298956A0-3974-454F-B318-E39AC8D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56272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108" name="mojo-arrow-4-line">
            <a:extLst xmlns:a="http://schemas.openxmlformats.org/drawingml/2006/main">
              <a:ext uri="{FF2B5EF4-FFF2-40B4-BE49-F238E27FC236}">
                <a16:creationId xmlns:a16="http://schemas.microsoft.com/office/drawing/2014/main" id="{DFABDEE1-22DB-4388-9D84-633A64B5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661035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109" name="mojo-arrow-4-head">
            <a:extLst xmlns:a="http://schemas.openxmlformats.org/drawingml/2006/main">
              <a:ext uri="{FF2B5EF4-FFF2-40B4-BE49-F238E27FC236}">
                <a16:creationId xmlns:a16="http://schemas.microsoft.com/office/drawing/2014/main" id="{B74B7A59-6B57-432F-99AC-1E582208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656272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110" name="tvm-stage-5">
            <a:extLst xmlns:a="http://schemas.openxmlformats.org/drawingml/2006/main">
              <a:ext uri="{FF2B5EF4-FFF2-40B4-BE49-F238E27FC236}">
                <a16:creationId xmlns:a16="http://schemas.microsoft.com/office/drawing/2014/main" id="{08B1F5E1-0013-469A-BB8D-1A471FCD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70560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7EE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11" name="tvm-num-5">
            <a:extLst xmlns:a="http://schemas.openxmlformats.org/drawingml/2006/main">
              <a:ext uri="{FF2B5EF4-FFF2-40B4-BE49-F238E27FC236}">
                <a16:creationId xmlns:a16="http://schemas.microsoft.com/office/drawing/2014/main" id="{F5EE4CB2-AA79-41CC-B1AF-7F8FEFE0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6752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12" name="tvm-num-text-5">
            <a:extLst xmlns:a="http://schemas.openxmlformats.org/drawingml/2006/main">
              <a:ext uri="{FF2B5EF4-FFF2-40B4-BE49-F238E27FC236}">
                <a16:creationId xmlns:a16="http://schemas.microsoft.com/office/drawing/2014/main" id="{76FC24B1-32FC-4B9B-A7AC-76C96893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961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13" name="tvm-title-5">
            <a:extLst xmlns:a="http://schemas.openxmlformats.org/drawingml/2006/main">
              <a:ext uri="{FF2B5EF4-FFF2-40B4-BE49-F238E27FC236}">
                <a16:creationId xmlns:a16="http://schemas.microsoft.com/office/drawing/2014/main" id="{39F58B21-58DC-4D19-8842-5C931313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8180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设备 Runtime / Driver</a:t>
            </a:r>
          </a:p>
        </p:txBody>
      </p:sp>
      <p:sp>
        <p:nvSpPr>
          <p:cNvPr id="114" name="tvm-detail-5">
            <a:extLst xmlns:a="http://schemas.openxmlformats.org/drawingml/2006/main">
              <a:ext uri="{FF2B5EF4-FFF2-40B4-BE49-F238E27FC236}">
                <a16:creationId xmlns:a16="http://schemas.microsoft.com/office/drawing/2014/main" id="{ABA5F3E8-2125-41EC-84BC-E99D9D0D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3897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Tensor 绑定、Memory、Queue、Sync、Profiling、Completion</a:t>
            </a:r>
          </a:p>
        </p:txBody>
      </p:sp>
      <p:sp>
        <p:nvSpPr>
          <p:cNvPr id="115" name="tvm-status-5">
            <a:extLst xmlns:a="http://schemas.openxmlformats.org/drawingml/2006/main">
              <a:ext uri="{FF2B5EF4-FFF2-40B4-BE49-F238E27FC236}">
                <a16:creationId xmlns:a16="http://schemas.microsoft.com/office/drawing/2014/main" id="{E1B1CCE4-149D-43C3-960F-31F874EE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78180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16" name="tvm-status-5-text">
            <a:extLst xmlns:a="http://schemas.openxmlformats.org/drawingml/2006/main">
              <a:ext uri="{FF2B5EF4-FFF2-40B4-BE49-F238E27FC236}">
                <a16:creationId xmlns:a16="http://schemas.microsoft.com/office/drawing/2014/main" id="{26AE39B0-4AEE-4EFF-88DF-EE3F7D8E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79132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当前可复用</a:t>
            </a:r>
          </a:p>
        </p:txBody>
      </p:sp>
      <p:sp>
        <p:nvSpPr>
          <p:cNvPr id="117" name="mojo-stage-5">
            <a:extLst xmlns:a="http://schemas.openxmlformats.org/drawingml/2006/main">
              <a:ext uri="{FF2B5EF4-FFF2-40B4-BE49-F238E27FC236}">
                <a16:creationId xmlns:a16="http://schemas.microsoft.com/office/drawing/2014/main" id="{8040B8E9-1430-45B4-829C-2C673598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0560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118" name="mojo-num-5">
            <a:extLst xmlns:a="http://schemas.openxmlformats.org/drawingml/2006/main">
              <a:ext uri="{FF2B5EF4-FFF2-40B4-BE49-F238E27FC236}">
                <a16:creationId xmlns:a16="http://schemas.microsoft.com/office/drawing/2014/main" id="{265088BB-0958-48DC-8015-85814AC0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86752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119" name="mojo-num-text-5">
            <a:extLst xmlns:a="http://schemas.openxmlformats.org/drawingml/2006/main">
              <a:ext uri="{FF2B5EF4-FFF2-40B4-BE49-F238E27FC236}">
                <a16:creationId xmlns:a16="http://schemas.microsoft.com/office/drawing/2014/main" id="{95897AC7-026A-4AF1-A458-B583A0E7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8961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20" name="mojo-title-5">
            <a:extLst xmlns:a="http://schemas.openxmlformats.org/drawingml/2006/main">
              <a:ext uri="{FF2B5EF4-FFF2-40B4-BE49-F238E27FC236}">
                <a16:creationId xmlns:a16="http://schemas.microsoft.com/office/drawing/2014/main" id="{D17564A3-6F01-44C8-8C0D-A3617C38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78180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设备 Runtime / Driver</a:t>
            </a:r>
          </a:p>
        </p:txBody>
      </p:sp>
      <p:sp>
        <p:nvSpPr>
          <p:cNvPr id="121" name="mojo-detail-5">
            <a:extLst xmlns:a="http://schemas.openxmlformats.org/drawingml/2006/main">
              <a:ext uri="{FF2B5EF4-FFF2-40B4-BE49-F238E27FC236}">
                <a16:creationId xmlns:a16="http://schemas.microsoft.com/office/drawing/2014/main" id="{9C1F4FE9-D0B4-46BA-A1BB-87070065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03897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新增 MAX Device Runtime Adapter；复用 OpenNPUX Driver / ABI</a:t>
            </a:r>
          </a:p>
        </p:txBody>
      </p:sp>
      <p:sp>
        <p:nvSpPr>
          <p:cNvPr id="122" name="mojo-status-5">
            <a:extLst xmlns:a="http://schemas.openxmlformats.org/drawingml/2006/main">
              <a:ext uri="{FF2B5EF4-FFF2-40B4-BE49-F238E27FC236}">
                <a16:creationId xmlns:a16="http://schemas.microsoft.com/office/drawing/2014/main" id="{0B1BA2BB-4636-4837-8490-3E2C872D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678180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6A2B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123" name="mojo-status-5-text">
            <a:extLst xmlns:a="http://schemas.openxmlformats.org/drawingml/2006/main">
              <a:ext uri="{FF2B5EF4-FFF2-40B4-BE49-F238E27FC236}">
                <a16:creationId xmlns:a16="http://schemas.microsoft.com/office/drawing/2014/main" id="{C6971197-CD74-4E94-9E09-9719AA6C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679132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适配后复用</a:t>
            </a:r>
          </a:p>
        </p:txBody>
      </p:sp>
      <p:sp>
        <p:nvSpPr>
          <p:cNvPr id="124" name="tvm-arrow-5-line">
            <a:extLst xmlns:a="http://schemas.openxmlformats.org/drawingml/2006/main">
              <a:ext uri="{FF2B5EF4-FFF2-40B4-BE49-F238E27FC236}">
                <a16:creationId xmlns:a16="http://schemas.microsoft.com/office/drawing/2014/main" id="{0BCEEB73-DE7E-48A5-8396-5624BD5C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742950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125" name="tvm-arrow-5-head">
            <a:extLst xmlns:a="http://schemas.openxmlformats.org/drawingml/2006/main">
              <a:ext uri="{FF2B5EF4-FFF2-40B4-BE49-F238E27FC236}">
                <a16:creationId xmlns:a16="http://schemas.microsoft.com/office/drawing/2014/main" id="{8F177EF4-7022-4D73-BE9C-30D83D24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38187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126" name="mojo-arrow-5-line">
            <a:extLst xmlns:a="http://schemas.openxmlformats.org/drawingml/2006/main">
              <a:ext uri="{FF2B5EF4-FFF2-40B4-BE49-F238E27FC236}">
                <a16:creationId xmlns:a16="http://schemas.microsoft.com/office/drawing/2014/main" id="{87170C59-2996-41D3-BA99-4EAD2BF1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742950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13335">
            <a:solidFill>
              <a:srgbClr val="73A4DD"/>
            </a:solidFill>
            <a:prstDash val="solid"/>
          </a:ln>
        </p:spPr>
      </p:sp>
      <p:sp>
        <p:nvSpPr>
          <p:cNvPr id="127" name="mojo-arrow-5-head">
            <a:extLst xmlns:a="http://schemas.openxmlformats.org/drawingml/2006/main">
              <a:ext uri="{FF2B5EF4-FFF2-40B4-BE49-F238E27FC236}">
                <a16:creationId xmlns:a16="http://schemas.microsoft.com/office/drawing/2014/main" id="{64E58F7F-CFFB-4EC7-B3C2-9870E267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7381875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3A4DD"/>
          </a:solidFill>
          <a:ln xmlns:a="http://schemas.openxmlformats.org/drawingml/2006/main" w="0">
            <a:solidFill>
              <a:srgbClr val="73A4DD"/>
            </a:solidFill>
            <a:prstDash val="solid"/>
          </a:ln>
        </p:spPr>
      </p:sp>
      <p:sp>
        <p:nvSpPr>
          <p:cNvPr id="128" name="tvm-stage-6">
            <a:extLst xmlns:a="http://schemas.openxmlformats.org/drawingml/2006/main">
              <a:ext uri="{FF2B5EF4-FFF2-40B4-BE49-F238E27FC236}">
                <a16:creationId xmlns:a16="http://schemas.microsoft.com/office/drawing/2014/main" id="{8BA87F9D-53DF-42E6-8AFC-7EDDC99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2475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7EE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29" name="tvm-num-6">
            <a:extLst xmlns:a="http://schemas.openxmlformats.org/drawingml/2006/main">
              <a:ext uri="{FF2B5EF4-FFF2-40B4-BE49-F238E27FC236}">
                <a16:creationId xmlns:a16="http://schemas.microsoft.com/office/drawing/2014/main" id="{EC831755-5D83-4F9E-A90F-5E28EEFD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67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30" name="tvm-num-text-6">
            <a:extLst xmlns:a="http://schemas.openxmlformats.org/drawingml/2006/main">
              <a:ext uri="{FF2B5EF4-FFF2-40B4-BE49-F238E27FC236}">
                <a16:creationId xmlns:a16="http://schemas.microsoft.com/office/drawing/2014/main" id="{B822E623-A806-4B18-A9E2-7AA380B7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1" name="tvm-title-6">
            <a:extLst xmlns:a="http://schemas.openxmlformats.org/drawingml/2006/main">
              <a:ext uri="{FF2B5EF4-FFF2-40B4-BE49-F238E27FC236}">
                <a16:creationId xmlns:a16="http://schemas.microsoft.com/office/drawing/2014/main" id="{2AC43886-BCFC-4F94-B9F7-415F92DF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0095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Coral Controller + NPU</a:t>
            </a:r>
          </a:p>
        </p:txBody>
      </p:sp>
      <p:sp>
        <p:nvSpPr>
          <p:cNvPr id="132" name="tvm-detail-6">
            <a:extLst xmlns:a="http://schemas.openxmlformats.org/drawingml/2006/main">
              <a:ext uri="{FF2B5EF4-FFF2-40B4-BE49-F238E27FC236}">
                <a16:creationId xmlns:a16="http://schemas.microsoft.com/office/drawing/2014/main" id="{B7A0C226-194D-41AB-8A45-BDC58A65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85812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RV32 一级译码 → NPU 二级译码 → C++ Modeling / RTL</a:t>
            </a:r>
          </a:p>
        </p:txBody>
      </p:sp>
      <p:sp>
        <p:nvSpPr>
          <p:cNvPr id="133" name="tvm-status-6">
            <a:extLst xmlns:a="http://schemas.openxmlformats.org/drawingml/2006/main">
              <a:ext uri="{FF2B5EF4-FFF2-40B4-BE49-F238E27FC236}">
                <a16:creationId xmlns:a16="http://schemas.microsoft.com/office/drawing/2014/main" id="{71CF419B-2AA8-4AF7-80B5-41351CD0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760095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34" name="tvm-status-6-text">
            <a:extLst xmlns:a="http://schemas.openxmlformats.org/drawingml/2006/main">
              <a:ext uri="{FF2B5EF4-FFF2-40B4-BE49-F238E27FC236}">
                <a16:creationId xmlns:a16="http://schemas.microsoft.com/office/drawing/2014/main" id="{AD5F89BA-F2A9-4057-B9DB-CBD85B3C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104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现有硬件基础</a:t>
            </a:r>
          </a:p>
        </p:txBody>
      </p:sp>
      <p:sp>
        <p:nvSpPr>
          <p:cNvPr id="135" name="mojo-stage-6">
            <a:extLst xmlns:a="http://schemas.openxmlformats.org/drawingml/2006/main">
              <a:ext uri="{FF2B5EF4-FFF2-40B4-BE49-F238E27FC236}">
                <a16:creationId xmlns:a16="http://schemas.microsoft.com/office/drawing/2014/main" id="{6F718959-7754-4EDF-A3F9-A72FBF00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524750"/>
            <a:ext cx="836295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7EE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36" name="mojo-num-6">
            <a:extLst xmlns:a="http://schemas.openxmlformats.org/drawingml/2006/main">
              <a:ext uri="{FF2B5EF4-FFF2-40B4-BE49-F238E27FC236}">
                <a16:creationId xmlns:a16="http://schemas.microsoft.com/office/drawing/2014/main" id="{ECAA4958-48E5-4D64-A55E-77DDCE3F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686675"/>
            <a:ext cx="400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37" name="mojo-num-text-6">
            <a:extLst xmlns:a="http://schemas.openxmlformats.org/drawingml/2006/main">
              <a:ext uri="{FF2B5EF4-FFF2-40B4-BE49-F238E27FC236}">
                <a16:creationId xmlns:a16="http://schemas.microsoft.com/office/drawing/2014/main" id="{EEE2AC43-8814-45C6-96A3-B858E2E9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7152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8" name="mojo-title-6">
            <a:extLst xmlns:a="http://schemas.openxmlformats.org/drawingml/2006/main">
              <a:ext uri="{FF2B5EF4-FFF2-40B4-BE49-F238E27FC236}">
                <a16:creationId xmlns:a16="http://schemas.microsoft.com/office/drawing/2014/main" id="{C53EBC31-3C1E-4F8F-BBD1-4911B50E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600950"/>
            <a:ext cx="5981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95CB8"/>
                </a:solidFill>
              </a:defRPr>
            </a:pPr>
            <a:r>
              <a:rPr sz="1350" b="1">
                <a:solidFill>
                  <a:srgbClr val="095CB8"/>
                </a:solidFill>
              </a:rPr>
              <a:t>Coral Controller + NPU</a:t>
            </a:r>
          </a:p>
        </p:txBody>
      </p:sp>
      <p:sp>
        <p:nvSpPr>
          <p:cNvPr id="139" name="mojo-detail-6">
            <a:extLst xmlns:a="http://schemas.openxmlformats.org/drawingml/2006/main">
              <a:ext uri="{FF2B5EF4-FFF2-40B4-BE49-F238E27FC236}">
                <a16:creationId xmlns:a16="http://schemas.microsoft.com/office/drawing/2014/main" id="{80794D5A-2851-463C-8BED-BEC3F741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858125"/>
            <a:ext cx="748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F"/>
                </a:solidFill>
              </a:defRPr>
            </a:pPr>
            <a:r>
              <a:rPr sz="1050" b="0">
                <a:solidFill>
                  <a:srgbClr val="26384F"/>
                </a:solidFill>
              </a:rPr>
              <a:t>与方案 A 共用 ISA/CSR、Descriptor、Memory、Queue 和 RTL</a:t>
            </a:r>
          </a:p>
        </p:txBody>
      </p:sp>
      <p:sp>
        <p:nvSpPr>
          <p:cNvPr id="140" name="mojo-status-6">
            <a:extLst xmlns:a="http://schemas.openxmlformats.org/drawingml/2006/main">
              <a:ext uri="{FF2B5EF4-FFF2-40B4-BE49-F238E27FC236}">
                <a16:creationId xmlns:a16="http://schemas.microsoft.com/office/drawing/2014/main" id="{8006DF0A-EF79-4D59-B65C-DDB422F2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5850" y="7600950"/>
            <a:ext cx="13906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9D58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41" name="mojo-status-6-text">
            <a:extLst xmlns:a="http://schemas.openxmlformats.org/drawingml/2006/main">
              <a:ext uri="{FF2B5EF4-FFF2-40B4-BE49-F238E27FC236}">
                <a16:creationId xmlns:a16="http://schemas.microsoft.com/office/drawing/2014/main" id="{6355B8E1-AEC9-41A3-A11E-5FB6ECA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76104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硬件完全复用</a:t>
            </a:r>
          </a:p>
        </p:txBody>
      </p:sp>
      <p:sp>
        <p:nvSpPr>
          <p:cNvPr id="142" name="tvm-result">
            <a:extLst xmlns:a="http://schemas.openxmlformats.org/drawingml/2006/main">
              <a:ext uri="{FF2B5EF4-FFF2-40B4-BE49-F238E27FC236}">
                <a16:creationId xmlns:a16="http://schemas.microsoft.com/office/drawing/2014/main" id="{A412BC86-7D33-4BAD-82EA-51515CC3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420100"/>
            <a:ext cx="836295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7EE"/>
          </a:solidFill>
          <a:ln xmlns:a="http://schemas.openxmlformats.org/drawingml/2006/main" w="13335">
            <a:solidFill>
              <a:srgbClr val="139D58"/>
            </a:solidFill>
            <a:prstDash val="solid"/>
          </a:ln>
        </p:spPr>
      </p:sp>
      <p:sp>
        <p:nvSpPr>
          <p:cNvPr id="143" name="tvm-result-title">
            <a:extLst xmlns:a="http://schemas.openxmlformats.org/drawingml/2006/main">
              <a:ext uri="{FF2B5EF4-FFF2-40B4-BE49-F238E27FC236}">
                <a16:creationId xmlns:a16="http://schemas.microsoft.com/office/drawing/2014/main" id="{02FECACD-7F1D-415F-BBA4-7F6D621A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15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39D58"/>
                </a:solidFill>
              </a:defRPr>
            </a:pPr>
            <a:r>
              <a:rPr sz="1350" b="1">
                <a:solidFill>
                  <a:srgbClr val="139D58"/>
                </a:solidFill>
              </a:rPr>
              <a:t>TVM 接入结果</a:t>
            </a:r>
          </a:p>
        </p:txBody>
      </p:sp>
      <p:sp>
        <p:nvSpPr>
          <p:cNvPr id="144" name="tvm-result-text">
            <a:extLst xmlns:a="http://schemas.openxmlformats.org/drawingml/2006/main">
              <a:ext uri="{FF2B5EF4-FFF2-40B4-BE49-F238E27FC236}">
                <a16:creationId xmlns:a16="http://schemas.microsoft.com/office/drawing/2014/main" id="{BA745DC1-589E-47B2-B273-52D768E6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01100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384F"/>
                </a:solidFill>
              </a:defRPr>
            </a:pPr>
            <a:r>
              <a:rPr sz="1125" b="1">
                <a:solidFill>
                  <a:srgbClr val="26384F"/>
                </a:solidFill>
              </a:rPr>
              <a:t>新增：BYOC capability/partition + OpenNPUX backend adapter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6384F"/>
                </a:solidFill>
              </a:defRPr>
            </a:pPr>
            <a:r>
              <a:rPr sz="1125" b="1">
                <a:solidFill>
                  <a:srgbClr val="26384F"/>
                </a:solidFill>
              </a:rPr>
              <a:t>复用：524 request → 32102 command、ISA/ABI、Runtime/Driver、Coral NPU</a:t>
            </a:r>
          </a:p>
        </p:txBody>
      </p:sp>
      <p:sp>
        <p:nvSpPr>
          <p:cNvPr id="145" name="mojo-result">
            <a:extLst xmlns:a="http://schemas.openxmlformats.org/drawingml/2006/main">
              <a:ext uri="{FF2B5EF4-FFF2-40B4-BE49-F238E27FC236}">
                <a16:creationId xmlns:a16="http://schemas.microsoft.com/office/drawing/2014/main" id="{1FBB9080-FCFE-47FB-9D9D-89C199D7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420100"/>
            <a:ext cx="8362950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3335">
            <a:solidFill>
              <a:srgbClr val="E86A2B"/>
            </a:solidFill>
            <a:prstDash val="solid"/>
          </a:ln>
        </p:spPr>
      </p:sp>
      <p:sp>
        <p:nvSpPr>
          <p:cNvPr id="146" name="mojo-result-title">
            <a:extLst xmlns:a="http://schemas.openxmlformats.org/drawingml/2006/main">
              <a:ext uri="{FF2B5EF4-FFF2-40B4-BE49-F238E27FC236}">
                <a16:creationId xmlns:a16="http://schemas.microsoft.com/office/drawing/2014/main" id="{0D34B861-6CF4-4121-81D4-563EFCC5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515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6A2B"/>
                </a:solidFill>
              </a:defRPr>
            </a:pPr>
            <a:r>
              <a:rPr sz="1350" b="1">
                <a:solidFill>
                  <a:srgbClr val="E86A2B"/>
                </a:solidFill>
              </a:rPr>
              <a:t>Mojo/MAX 接入结果</a:t>
            </a:r>
          </a:p>
        </p:txBody>
      </p:sp>
      <p:sp>
        <p:nvSpPr>
          <p:cNvPr id="147" name="mojo-result-text">
            <a:extLst xmlns:a="http://schemas.openxmlformats.org/drawingml/2006/main">
              <a:ext uri="{FF2B5EF4-FFF2-40B4-BE49-F238E27FC236}">
                <a16:creationId xmlns:a16="http://schemas.microsoft.com/office/drawing/2014/main" id="{D5A27730-797D-4CD5-98D9-5E505FC9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801100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384F"/>
                </a:solidFill>
              </a:defRPr>
            </a:pPr>
            <a:r>
              <a:rPr sz="1125" b="1">
                <a:solidFill>
                  <a:srgbClr val="26384F"/>
                </a:solidFill>
              </a:rPr>
              <a:t>新增：NPU target/placement + dialect/lowering + code emitter + device runtime adapter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26384F"/>
                </a:solidFill>
              </a:defRPr>
            </a:pPr>
            <a:r>
              <a:rPr sz="1125" b="1">
                <a:solidFill>
                  <a:srgbClr val="26384F"/>
                </a:solidFill>
              </a:rPr>
              <a:t>复用：最终设备 Artifact ABI、Runtime/Driver 下层、Coral 控制器与 NPU 硬件</a:t>
            </a:r>
          </a:p>
        </p:txBody>
      </p:sp>
      <p:sp>
        <p:nvSpPr>
          <p:cNvPr id="148" name="compiler-footer">
            <a:extLst xmlns:a="http://schemas.openxmlformats.org/drawingml/2006/main">
              <a:ext uri="{FF2B5EF4-FFF2-40B4-BE49-F238E27FC236}">
                <a16:creationId xmlns:a16="http://schemas.microsoft.com/office/drawing/2014/main" id="{177B0384-4065-4F49-B31A-154A19D7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82150"/>
            <a:ext cx="1760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5CB8"/>
          </a:solidFill>
          <a:ln xmlns:a="http://schemas.openxmlformats.org/drawingml/2006/main" w="13335">
            <a:solidFill>
              <a:srgbClr val="095CB8"/>
            </a:solidFill>
            <a:prstDash val="solid"/>
          </a:ln>
        </p:spPr>
      </p:sp>
      <p:sp>
        <p:nvSpPr>
          <p:cNvPr id="149" name="compiler-footer-text">
            <a:extLst xmlns:a="http://schemas.openxmlformats.org/drawingml/2006/main">
              <a:ext uri="{FF2B5EF4-FFF2-40B4-BE49-F238E27FC236}">
                <a16:creationId xmlns:a16="http://schemas.microsoft.com/office/drawing/2014/main" id="{6A3A530E-D351-4770-BA48-3B50D7C1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9775"/>
            <a:ext cx="1722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结论：两边最终硬件接口一致；TVM 的 BYOC 已提供子图级扩展边界，项目只需补后端；Mojo/MAX 若作为完整 NPU 编译器，需要新增更深的 Target 与 Runtime 层。</a:t>
            </a:r>
          </a:p>
        </p:txBody>
      </p:sp>
    </p:spTree>
    <p:extLst>
      <p:ext uri="{BB962C8B-B14F-4D97-AF65-F5344CB8AC3E}">
        <p14:creationId xmlns:p14="http://schemas.microsoft.com/office/powerpoint/2010/main" val="205016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title">
            <a:extLst xmlns:a="http://schemas.openxmlformats.org/drawingml/2006/main">
              <a:ext uri="{FF2B5EF4-FFF2-40B4-BE49-F238E27FC236}">
                <a16:creationId xmlns:a16="http://schemas.microsoft.com/office/drawing/2014/main" id="{012F8E13-066C-460C-A0B9-B72A0125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69B0"/>
                </a:solidFill>
              </a:defRPr>
            </a:pPr>
            <a:r>
              <a:rPr sz="2925" b="1">
                <a:solidFill>
                  <a:srgbClr val="1769B0"/>
                </a:solidFill>
              </a:rPr>
              <a:t>当前 TVM + BYOC + OpenNPUX 编译栈与端到端执行</a:t>
            </a:r>
          </a:p>
        </p:txBody>
      </p:sp>
      <p:sp>
        <p:nvSpPr>
          <p:cNvPr id="2" name="part">
            <a:extLst xmlns:a="http://schemas.openxmlformats.org/drawingml/2006/main">
              <a:ext uri="{FF2B5EF4-FFF2-40B4-BE49-F238E27FC236}">
                <a16:creationId xmlns:a16="http://schemas.microsoft.com/office/drawing/2014/main" id="{9487DE9E-18D3-4A19-BE48-7A1515E8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2667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0758E"/>
                </a:solidFill>
              </a:defRPr>
            </a:pPr>
            <a:r>
              <a:rPr sz="1050" b="1">
                <a:solidFill>
                  <a:srgbClr val="60758E"/>
                </a:solidFill>
              </a:rPr>
              <a:t>COMPILER / BYOC / RUNTIME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A61499D-D47D-4FCB-B451-D3D888DC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00100"/>
            <a:ext cx="1754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4" name="legend-tvm">
            <a:extLst xmlns:a="http://schemas.openxmlformats.org/drawingml/2006/main">
              <a:ext uri="{FF2B5EF4-FFF2-40B4-BE49-F238E27FC236}">
                <a16:creationId xmlns:a16="http://schemas.microsoft.com/office/drawing/2014/main" id="{36F8CA45-9A82-402E-BB91-46B3ED2A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952500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5" name="legend-tvm-t">
            <a:extLst xmlns:a="http://schemas.openxmlformats.org/drawingml/2006/main">
              <a:ext uri="{FF2B5EF4-FFF2-40B4-BE49-F238E27FC236}">
                <a16:creationId xmlns:a16="http://schemas.microsoft.com/office/drawing/2014/main" id="{CE04C283-BAA8-426D-BD01-E78446E5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9144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58E"/>
                </a:solidFill>
              </a:defRPr>
            </a:pPr>
            <a:r>
              <a:rPr sz="1050" b="1">
                <a:solidFill>
                  <a:srgbClr val="60758E"/>
                </a:solidFill>
              </a:rPr>
              <a:t>TVM 原生复用</a:t>
            </a:r>
          </a:p>
        </p:txBody>
      </p:sp>
      <p:sp>
        <p:nvSpPr>
          <p:cNvPr id="6" name="legend-byoc">
            <a:extLst xmlns:a="http://schemas.openxmlformats.org/drawingml/2006/main">
              <a:ext uri="{FF2B5EF4-FFF2-40B4-BE49-F238E27FC236}">
                <a16:creationId xmlns:a16="http://schemas.microsoft.com/office/drawing/2014/main" id="{AF2F5A67-3F21-4FDF-9AB0-A3181056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952500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7" name="legend-byoc-t">
            <a:extLst xmlns:a="http://schemas.openxmlformats.org/drawingml/2006/main">
              <a:ext uri="{FF2B5EF4-FFF2-40B4-BE49-F238E27FC236}">
                <a16:creationId xmlns:a16="http://schemas.microsoft.com/office/drawing/2014/main" id="{7071D8B1-E138-429F-AB84-CFDBA4C8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914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58E"/>
                </a:solidFill>
              </a:defRPr>
            </a:pPr>
            <a:r>
              <a:rPr sz="1050" b="1">
                <a:solidFill>
                  <a:srgbClr val="60758E"/>
                </a:solidFill>
              </a:rPr>
              <a:t>BYOC 接口</a:t>
            </a:r>
          </a:p>
        </p:txBody>
      </p:sp>
      <p:sp>
        <p:nvSpPr>
          <p:cNvPr id="8" name="legend-project">
            <a:extLst xmlns:a="http://schemas.openxmlformats.org/drawingml/2006/main">
              <a:ext uri="{FF2B5EF4-FFF2-40B4-BE49-F238E27FC236}">
                <a16:creationId xmlns:a16="http://schemas.microsoft.com/office/drawing/2014/main" id="{315E945B-F828-4F1C-8058-E5CF6978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952500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9" name="legend-project-t">
            <a:extLst xmlns:a="http://schemas.openxmlformats.org/drawingml/2006/main">
              <a:ext uri="{FF2B5EF4-FFF2-40B4-BE49-F238E27FC236}">
                <a16:creationId xmlns:a16="http://schemas.microsoft.com/office/drawing/2014/main" id="{6F0A985C-10BC-4114-9459-3440E44A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91440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58E"/>
                </a:solidFill>
              </a:defRPr>
            </a:pPr>
            <a:r>
              <a:rPr sz="1050" b="1">
                <a:solidFill>
                  <a:srgbClr val="60758E"/>
                </a:solidFill>
              </a:rPr>
              <a:t>OpenNPUX 增量</a:t>
            </a:r>
          </a:p>
        </p:txBody>
      </p:sp>
      <p:sp>
        <p:nvSpPr>
          <p:cNvPr id="10" name="legend-hw">
            <a:extLst xmlns:a="http://schemas.openxmlformats.org/drawingml/2006/main">
              <a:ext uri="{FF2B5EF4-FFF2-40B4-BE49-F238E27FC236}">
                <a16:creationId xmlns:a16="http://schemas.microsoft.com/office/drawing/2014/main" id="{EA0374CE-8433-4DE3-B623-0F0E359F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952500"/>
            <a:ext cx="20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BF2"/>
          </a:solidFill>
          <a:ln xmlns:a="http://schemas.openxmlformats.org/drawingml/2006/main" w="14288">
            <a:solidFill>
              <a:srgbClr val="D81B60"/>
            </a:solidFill>
            <a:prstDash val="solid"/>
          </a:ln>
        </p:spPr>
      </p:sp>
      <p:sp>
        <p:nvSpPr>
          <p:cNvPr id="11" name="legend-hw-t">
            <a:extLst xmlns:a="http://schemas.openxmlformats.org/drawingml/2006/main">
              <a:ext uri="{FF2B5EF4-FFF2-40B4-BE49-F238E27FC236}">
                <a16:creationId xmlns:a16="http://schemas.microsoft.com/office/drawing/2014/main" id="{FABC6473-3AE1-4E65-ABB1-03FE8385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9144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58E"/>
                </a:solidFill>
              </a:defRPr>
            </a:pPr>
            <a:r>
              <a:rPr sz="1050" b="1">
                <a:solidFill>
                  <a:srgbClr val="60758E"/>
                </a:solidFill>
              </a:rPr>
              <a:t>设备执行</a:t>
            </a:r>
          </a:p>
        </p:txBody>
      </p:sp>
      <p:sp>
        <p:nvSpPr>
          <p:cNvPr id="12" name="legend-control">
            <a:extLst xmlns:a="http://schemas.openxmlformats.org/drawingml/2006/main">
              <a:ext uri="{FF2B5EF4-FFF2-40B4-BE49-F238E27FC236}">
                <a16:creationId xmlns:a16="http://schemas.microsoft.com/office/drawing/2014/main" id="{857E8ACC-F17B-40EB-88B9-EF6DBAEC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95250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3" name="legend-control-t">
            <a:extLst xmlns:a="http://schemas.openxmlformats.org/drawingml/2006/main">
              <a:ext uri="{FF2B5EF4-FFF2-40B4-BE49-F238E27FC236}">
                <a16:creationId xmlns:a16="http://schemas.microsoft.com/office/drawing/2014/main" id="{7DAE8953-8CFB-47DB-B397-FBF405D0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91440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58E"/>
                </a:solidFill>
              </a:defRPr>
            </a:pPr>
            <a:r>
              <a:rPr sz="1050" b="1">
                <a:solidFill>
                  <a:srgbClr val="60758E"/>
                </a:solidFill>
              </a:rPr>
              <a:t>控制</a:t>
            </a:r>
          </a:p>
        </p:txBody>
      </p:sp>
      <p:sp>
        <p:nvSpPr>
          <p:cNvPr id="14" name="legend-data">
            <a:extLst xmlns:a="http://schemas.openxmlformats.org/drawingml/2006/main">
              <a:ext uri="{FF2B5EF4-FFF2-40B4-BE49-F238E27FC236}">
                <a16:creationId xmlns:a16="http://schemas.microsoft.com/office/drawing/2014/main" id="{5EEBCE02-666C-4A9E-96CE-0AD3E27D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7350" y="95250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15" name="legend-data-t">
            <a:extLst xmlns:a="http://schemas.openxmlformats.org/drawingml/2006/main">
              <a:ext uri="{FF2B5EF4-FFF2-40B4-BE49-F238E27FC236}">
                <a16:creationId xmlns:a16="http://schemas.microsoft.com/office/drawing/2014/main" id="{A3EBD53E-DA6B-42C6-A45F-CF5AF234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400" y="9144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15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58E"/>
                </a:solidFill>
              </a:defRPr>
            </a:pPr>
            <a:r>
              <a:rPr sz="1050" b="1">
                <a:solidFill>
                  <a:srgbClr val="60758E"/>
                </a:solidFill>
              </a:rPr>
              <a:t>Tensor/状态</a:t>
            </a:r>
          </a:p>
        </p:txBody>
      </p:sp>
      <p:sp>
        <p:nvSpPr>
          <p:cNvPr id="16" name="tvm">
            <a:extLst xmlns:a="http://schemas.openxmlformats.org/drawingml/2006/main">
              <a:ext uri="{FF2B5EF4-FFF2-40B4-BE49-F238E27FC236}">
                <a16:creationId xmlns:a16="http://schemas.microsoft.com/office/drawing/2014/main" id="{113D77BE-1706-4650-829D-13D64BEB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57300"/>
            <a:ext cx="6667500" cy="5124450"/>
          </a:xfrm>
          <a:prstGeom xmlns:a="http://schemas.openxmlformats.org/drawingml/2006/main" prst="roundRect">
            <a:avLst>
              <a:gd name="adj" fmla="val 1487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9050">
            <a:solidFill>
              <a:srgbClr val="1769B0"/>
            </a:solidFill>
            <a:prstDash val="solid"/>
          </a:ln>
        </p:spPr>
      </p:sp>
      <p:sp>
        <p:nvSpPr>
          <p:cNvPr id="17" name="tvm-head">
            <a:extLst xmlns:a="http://schemas.openxmlformats.org/drawingml/2006/main">
              <a:ext uri="{FF2B5EF4-FFF2-40B4-BE49-F238E27FC236}">
                <a16:creationId xmlns:a16="http://schemas.microsoft.com/office/drawing/2014/main" id="{FC2E94FA-3AC7-46DF-853A-6A960F49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57300"/>
            <a:ext cx="666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18" name="tvm-title">
            <a:extLst xmlns:a="http://schemas.openxmlformats.org/drawingml/2006/main">
              <a:ext uri="{FF2B5EF4-FFF2-40B4-BE49-F238E27FC236}">
                <a16:creationId xmlns:a16="http://schemas.microsoft.com/office/drawing/2014/main" id="{3835F864-A7B0-4C36-A8BC-CAD30CE0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632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① TVM 整体架构：模型到统一 IR 与通用后端</a:t>
            </a:r>
          </a:p>
        </p:txBody>
      </p:sp>
      <p:sp>
        <p:nvSpPr>
          <p:cNvPr id="19" name="frameworks">
            <a:extLst xmlns:a="http://schemas.openxmlformats.org/drawingml/2006/main">
              <a:ext uri="{FF2B5EF4-FFF2-40B4-BE49-F238E27FC236}">
                <a16:creationId xmlns:a16="http://schemas.microsoft.com/office/drawing/2014/main" id="{B3A444EE-8323-4E25-93C7-CA62E40E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20" name="frameworks-title">
            <a:extLst xmlns:a="http://schemas.openxmlformats.org/drawingml/2006/main">
              <a:ext uri="{FF2B5EF4-FFF2-40B4-BE49-F238E27FC236}">
                <a16:creationId xmlns:a16="http://schemas.microsoft.com/office/drawing/2014/main" id="{7592816E-2442-41BB-90A0-C0EE3767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F67"/>
                </a:solidFill>
              </a:defRPr>
            </a:pPr>
            <a:r>
              <a:rPr sz="1275" b="1">
                <a:solidFill>
                  <a:srgbClr val="173F67"/>
                </a:solidFill>
              </a:rPr>
              <a:t>模型生态</a:t>
            </a:r>
          </a:p>
        </p:txBody>
      </p:sp>
      <p:sp>
        <p:nvSpPr>
          <p:cNvPr id="21" name="frameworks-detail">
            <a:extLst xmlns:a="http://schemas.openxmlformats.org/drawingml/2006/main">
              <a:ext uri="{FF2B5EF4-FFF2-40B4-BE49-F238E27FC236}">
                <a16:creationId xmlns:a16="http://schemas.microsoft.com/office/drawing/2014/main" id="{BA4F40F4-59CC-4D0F-87AB-C3F386D4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HF / PyTorch / ONNX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权重、结构、输入签名</a:t>
            </a:r>
          </a:p>
        </p:txBody>
      </p:sp>
      <p:sp>
        <p:nvSpPr>
          <p:cNvPr id="22" name="a-front">
            <a:extLst xmlns:a="http://schemas.openxmlformats.org/drawingml/2006/main">
              <a:ext uri="{FF2B5EF4-FFF2-40B4-BE49-F238E27FC236}">
                <a16:creationId xmlns:a16="http://schemas.microsoft.com/office/drawing/2014/main" id="{8A154C59-6B03-4E27-8F9C-53A80414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23" name="frontend">
            <a:extLst xmlns:a="http://schemas.openxmlformats.org/drawingml/2006/main">
              <a:ext uri="{FF2B5EF4-FFF2-40B4-BE49-F238E27FC236}">
                <a16:creationId xmlns:a16="http://schemas.microsoft.com/office/drawing/2014/main" id="{9BBD62FF-1FE6-4082-9887-E10BCE32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14525"/>
            <a:ext cx="171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24" name="frontend-title">
            <a:extLst xmlns:a="http://schemas.openxmlformats.org/drawingml/2006/main">
              <a:ext uri="{FF2B5EF4-FFF2-40B4-BE49-F238E27FC236}">
                <a16:creationId xmlns:a16="http://schemas.microsoft.com/office/drawing/2014/main" id="{B059079E-E5B7-4878-BF8F-C47FE753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F67"/>
                </a:solidFill>
              </a:defRPr>
            </a:pPr>
            <a:r>
              <a:rPr sz="1275" b="1">
                <a:solidFill>
                  <a:srgbClr val="173F67"/>
                </a:solidFill>
              </a:rPr>
              <a:t>Frontend Import</a:t>
            </a:r>
          </a:p>
        </p:txBody>
      </p:sp>
      <p:sp>
        <p:nvSpPr>
          <p:cNvPr id="25" name="frontend-detail">
            <a:extLst xmlns:a="http://schemas.openxmlformats.org/drawingml/2006/main">
              <a:ext uri="{FF2B5EF4-FFF2-40B4-BE49-F238E27FC236}">
                <a16:creationId xmlns:a16="http://schemas.microsoft.com/office/drawing/2014/main" id="{2897943D-8B9C-4509-AAC9-5645E596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485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模型解析与算子映射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生成 IRModule</a:t>
            </a:r>
          </a:p>
        </p:txBody>
      </p:sp>
      <p:sp>
        <p:nvSpPr>
          <p:cNvPr id="26" name="a-relax">
            <a:extLst xmlns:a="http://schemas.openxmlformats.org/drawingml/2006/main">
              <a:ext uri="{FF2B5EF4-FFF2-40B4-BE49-F238E27FC236}">
                <a16:creationId xmlns:a16="http://schemas.microsoft.com/office/drawing/2014/main" id="{EB0CAD78-3613-4D5A-9CA5-2E683661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27" name="relax">
            <a:extLst xmlns:a="http://schemas.openxmlformats.org/drawingml/2006/main">
              <a:ext uri="{FF2B5EF4-FFF2-40B4-BE49-F238E27FC236}">
                <a16:creationId xmlns:a16="http://schemas.microsoft.com/office/drawing/2014/main" id="{EC88E5D9-DA0C-40BD-BD9F-7541825F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14525"/>
            <a:ext cx="1885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28" name="relax-title">
            <a:extLst xmlns:a="http://schemas.openxmlformats.org/drawingml/2006/main">
              <a:ext uri="{FF2B5EF4-FFF2-40B4-BE49-F238E27FC236}">
                <a16:creationId xmlns:a16="http://schemas.microsoft.com/office/drawing/2014/main" id="{E3503E95-AA07-485B-A5DF-B78F428E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F67"/>
                </a:solidFill>
              </a:defRPr>
            </a:pPr>
            <a:r>
              <a:rPr sz="1275" b="1">
                <a:solidFill>
                  <a:srgbClr val="173F67"/>
                </a:solidFill>
              </a:rPr>
              <a:t>Relax IRModule</a:t>
            </a:r>
          </a:p>
        </p:txBody>
      </p:sp>
      <p:sp>
        <p:nvSpPr>
          <p:cNvPr id="29" name="relax-detail">
            <a:extLst xmlns:a="http://schemas.openxmlformats.org/drawingml/2006/main">
              <a:ext uri="{FF2B5EF4-FFF2-40B4-BE49-F238E27FC236}">
                <a16:creationId xmlns:a16="http://schemas.microsoft.com/office/drawing/2014/main" id="{21ED121A-AE90-4F70-B39D-5B5183A7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657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9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图级 Tensor IR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Shape / DType / Control Flow</a:t>
            </a:r>
          </a:p>
        </p:txBody>
      </p:sp>
      <p:sp>
        <p:nvSpPr>
          <p:cNvPr id="30" name="d-passes">
            <a:extLst xmlns:a="http://schemas.openxmlformats.org/drawingml/2006/main">
              <a:ext uri="{FF2B5EF4-FFF2-40B4-BE49-F238E27FC236}">
                <a16:creationId xmlns:a16="http://schemas.microsoft.com/office/drawing/2014/main" id="{32B4DDFD-85C8-407A-A30D-49CA01F9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686050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31" name="relax-passes">
            <a:extLst xmlns:a="http://schemas.openxmlformats.org/drawingml/2006/main">
              <a:ext uri="{FF2B5EF4-FFF2-40B4-BE49-F238E27FC236}">
                <a16:creationId xmlns:a16="http://schemas.microsoft.com/office/drawing/2014/main" id="{A7343AA8-69FD-4CFE-8EFE-B901403C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6153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4288">
            <a:solidFill>
              <a:srgbClr val="F2C94C"/>
            </a:solidFill>
            <a:prstDash val="solid"/>
          </a:ln>
        </p:spPr>
      </p:sp>
      <p:sp>
        <p:nvSpPr>
          <p:cNvPr id="32" name="relax-passes-title">
            <a:extLst xmlns:a="http://schemas.openxmlformats.org/drawingml/2006/main">
              <a:ext uri="{FF2B5EF4-FFF2-40B4-BE49-F238E27FC236}">
                <a16:creationId xmlns:a16="http://schemas.microsoft.com/office/drawing/2014/main" id="{C2F73A62-4016-4BA9-B920-CAD04D89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92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F67"/>
                </a:solidFill>
              </a:defRPr>
            </a:pPr>
            <a:r>
              <a:rPr sz="1425" b="1">
                <a:solidFill>
                  <a:srgbClr val="173F67"/>
                </a:solidFill>
              </a:rPr>
              <a:t>Relax 图优化 Pass</a:t>
            </a:r>
          </a:p>
        </p:txBody>
      </p:sp>
      <p:sp>
        <p:nvSpPr>
          <p:cNvPr id="33" name="relax-passes-detail">
            <a:extLst xmlns:a="http://schemas.openxmlformats.org/drawingml/2006/main">
              <a:ext uri="{FF2B5EF4-FFF2-40B4-BE49-F238E27FC236}">
                <a16:creationId xmlns:a16="http://schemas.microsoft.com/office/drawing/2014/main" id="{9D02A25A-FF58-4236-836C-5CAFC361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592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21354D"/>
                </a:solidFill>
              </a:defRPr>
            </a:pPr>
            <a:r>
              <a:rPr sz="1200" b="0">
                <a:solidFill>
                  <a:srgbClr val="21354D"/>
                </a:solidFill>
              </a:rPr>
              <a:t>Canonicalize / Infer Shape / Constant Fold / Fusion / Layout Rewrite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21354D"/>
                </a:solidFill>
              </a:defRPr>
            </a:pPr>
            <a:r>
              <a:rPr sz="1200" b="0">
                <a:solidFill>
                  <a:srgbClr val="21354D"/>
                </a:solidFill>
              </a:rPr>
              <a:t>形成可分区、可部署的规范图</a:t>
            </a:r>
          </a:p>
        </p:txBody>
      </p:sp>
      <p:sp>
        <p:nvSpPr>
          <p:cNvPr id="34" name="d-split">
            <a:extLst xmlns:a="http://schemas.openxmlformats.org/drawingml/2006/main">
              <a:ext uri="{FF2B5EF4-FFF2-40B4-BE49-F238E27FC236}">
                <a16:creationId xmlns:a16="http://schemas.microsoft.com/office/drawing/2014/main" id="{7ED8B6CD-7217-455A-AE1C-2857470F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81450"/>
            <a:ext cx="1714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35" name="split-label">
            <a:extLst xmlns:a="http://schemas.openxmlformats.org/drawingml/2006/main">
              <a:ext uri="{FF2B5EF4-FFF2-40B4-BE49-F238E27FC236}">
                <a16:creationId xmlns:a16="http://schemas.microsoft.com/office/drawing/2014/main" id="{454FE1C2-7A15-475B-8355-9C0709FA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57687"/>
                </a:solidFill>
              </a:defRPr>
            </a:pPr>
            <a:r>
              <a:rPr sz="1125" b="1">
                <a:solidFill>
                  <a:srgbClr val="657687"/>
                </a:solidFill>
              </a:rPr>
              <a:t>未分配给外部加速器的 Host 子图</a:t>
            </a:r>
          </a:p>
        </p:txBody>
      </p:sp>
      <p:sp>
        <p:nvSpPr>
          <p:cNvPr id="36" name="tir">
            <a:extLst xmlns:a="http://schemas.openxmlformats.org/drawingml/2006/main">
              <a:ext uri="{FF2B5EF4-FFF2-40B4-BE49-F238E27FC236}">
                <a16:creationId xmlns:a16="http://schemas.microsoft.com/office/drawing/2014/main" id="{D0DA0231-AA27-466A-95BB-FFC06077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371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657687"/>
            </a:solidFill>
            <a:prstDash val="solid"/>
          </a:ln>
        </p:spPr>
      </p:sp>
      <p:sp>
        <p:nvSpPr>
          <p:cNvPr id="37" name="tir-title">
            <a:extLst xmlns:a="http://schemas.openxmlformats.org/drawingml/2006/main">
              <a:ext uri="{FF2B5EF4-FFF2-40B4-BE49-F238E27FC236}">
                <a16:creationId xmlns:a16="http://schemas.microsoft.com/office/drawing/2014/main" id="{08516C24-3326-4397-B610-1F6E9F45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67"/>
                </a:solidFill>
              </a:defRPr>
            </a:pPr>
            <a:r>
              <a:rPr sz="1200" b="1">
                <a:solidFill>
                  <a:srgbClr val="173F67"/>
                </a:solidFill>
              </a:rPr>
              <a:t>TIR PrimFunc</a:t>
            </a:r>
          </a:p>
        </p:txBody>
      </p:sp>
      <p:sp>
        <p:nvSpPr>
          <p:cNvPr id="38" name="tir-detail">
            <a:extLst xmlns:a="http://schemas.openxmlformats.org/drawingml/2006/main">
              <a:ext uri="{FF2B5EF4-FFF2-40B4-BE49-F238E27FC236}">
                <a16:creationId xmlns:a16="http://schemas.microsoft.com/office/drawing/2014/main" id="{F9BD0057-959E-49A3-885A-DDD15779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循环与内存级 IR</a:t>
            </a:r>
          </a:p>
        </p:txBody>
      </p:sp>
      <p:sp>
        <p:nvSpPr>
          <p:cNvPr id="39" name="a-schedule">
            <a:extLst xmlns:a="http://schemas.openxmlformats.org/drawingml/2006/main">
              <a:ext uri="{FF2B5EF4-FFF2-40B4-BE49-F238E27FC236}">
                <a16:creationId xmlns:a16="http://schemas.microsoft.com/office/drawing/2014/main" id="{5AFF2B19-B45D-4C74-8F16-54AB1A78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291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7687"/>
          </a:solidFill>
          <a:ln xmlns:a="http://schemas.openxmlformats.org/drawingml/2006/main" w="0">
            <a:solidFill>
              <a:srgbClr val="657687"/>
            </a:solidFill>
            <a:prstDash val="solid"/>
          </a:ln>
        </p:spPr>
      </p:sp>
      <p:sp>
        <p:nvSpPr>
          <p:cNvPr id="40" name="schedule">
            <a:extLst xmlns:a="http://schemas.openxmlformats.org/drawingml/2006/main">
              <a:ext uri="{FF2B5EF4-FFF2-40B4-BE49-F238E27FC236}">
                <a16:creationId xmlns:a16="http://schemas.microsoft.com/office/drawing/2014/main" id="{B36E1B32-E3D1-4D65-9868-3881A2AB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00575"/>
            <a:ext cx="1428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657687"/>
            </a:solidFill>
            <a:prstDash val="solid"/>
          </a:ln>
        </p:spPr>
      </p:sp>
      <p:sp>
        <p:nvSpPr>
          <p:cNvPr id="41" name="schedule-title">
            <a:extLst xmlns:a="http://schemas.openxmlformats.org/drawingml/2006/main">
              <a:ext uri="{FF2B5EF4-FFF2-40B4-BE49-F238E27FC236}">
                <a16:creationId xmlns:a16="http://schemas.microsoft.com/office/drawing/2014/main" id="{F2018F9D-DFAF-460F-AF73-02D8F5BF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672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67"/>
                </a:solidFill>
              </a:defRPr>
            </a:pPr>
            <a:r>
              <a:rPr sz="1200" b="1">
                <a:solidFill>
                  <a:srgbClr val="173F67"/>
                </a:solidFill>
              </a:rPr>
              <a:t>Schedule</a:t>
            </a:r>
          </a:p>
        </p:txBody>
      </p:sp>
      <p:sp>
        <p:nvSpPr>
          <p:cNvPr id="42" name="schedule-detail">
            <a:extLst xmlns:a="http://schemas.openxmlformats.org/drawingml/2006/main">
              <a:ext uri="{FF2B5EF4-FFF2-40B4-BE49-F238E27FC236}">
                <a16:creationId xmlns:a16="http://schemas.microsoft.com/office/drawing/2014/main" id="{3E949641-4E9D-44B6-805A-889764F7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95850"/>
            <a:ext cx="1200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43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MetaSchedule / AutoTVM</a:t>
            </a:r>
          </a:p>
        </p:txBody>
      </p:sp>
      <p:sp>
        <p:nvSpPr>
          <p:cNvPr id="43" name="a-llvm">
            <a:extLst xmlns:a="http://schemas.openxmlformats.org/drawingml/2006/main">
              <a:ext uri="{FF2B5EF4-FFF2-40B4-BE49-F238E27FC236}">
                <a16:creationId xmlns:a16="http://schemas.microsoft.com/office/drawing/2014/main" id="{A8901157-4BC0-4171-B376-B449ED4E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291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7687"/>
          </a:solidFill>
          <a:ln xmlns:a="http://schemas.openxmlformats.org/drawingml/2006/main" w="0">
            <a:solidFill>
              <a:srgbClr val="657687"/>
            </a:solidFill>
            <a:prstDash val="solid"/>
          </a:ln>
        </p:spPr>
      </p:sp>
      <p:sp>
        <p:nvSpPr>
          <p:cNvPr id="44" name="llvm">
            <a:extLst xmlns:a="http://schemas.openxmlformats.org/drawingml/2006/main">
              <a:ext uri="{FF2B5EF4-FFF2-40B4-BE49-F238E27FC236}">
                <a16:creationId xmlns:a16="http://schemas.microsoft.com/office/drawing/2014/main" id="{B1BB1449-3943-4E3B-86B5-8BC9D227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00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657687"/>
            </a:solidFill>
            <a:prstDash val="solid"/>
          </a:ln>
        </p:spPr>
      </p:sp>
      <p:sp>
        <p:nvSpPr>
          <p:cNvPr id="45" name="llvm-title">
            <a:extLst xmlns:a="http://schemas.openxmlformats.org/drawingml/2006/main">
              <a:ext uri="{FF2B5EF4-FFF2-40B4-BE49-F238E27FC236}">
                <a16:creationId xmlns:a16="http://schemas.microsoft.com/office/drawing/2014/main" id="{F889DBB2-D1C5-4A7D-AD13-439D704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67250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67"/>
                </a:solidFill>
              </a:defRPr>
            </a:pPr>
            <a:r>
              <a:rPr sz="1200" b="1">
                <a:solidFill>
                  <a:srgbClr val="173F67"/>
                </a:solidFill>
              </a:rPr>
              <a:t>Codegen</a:t>
            </a:r>
          </a:p>
        </p:txBody>
      </p:sp>
      <p:sp>
        <p:nvSpPr>
          <p:cNvPr id="46" name="llvm-detail">
            <a:extLst xmlns:a="http://schemas.openxmlformats.org/drawingml/2006/main">
              <a:ext uri="{FF2B5EF4-FFF2-40B4-BE49-F238E27FC236}">
                <a16:creationId xmlns:a16="http://schemas.microsoft.com/office/drawing/2014/main" id="{D19CE833-7307-4859-8E17-267284ED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95850"/>
            <a:ext cx="102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LLVM / ARM</a:t>
            </a:r>
          </a:p>
        </p:txBody>
      </p:sp>
      <p:sp>
        <p:nvSpPr>
          <p:cNvPr id="47" name="a-host-runtime">
            <a:extLst xmlns:a="http://schemas.openxmlformats.org/drawingml/2006/main">
              <a:ext uri="{FF2B5EF4-FFF2-40B4-BE49-F238E27FC236}">
                <a16:creationId xmlns:a16="http://schemas.microsoft.com/office/drawing/2014/main" id="{2A6C6C15-4DB1-424D-8133-2678D6E6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2917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7687"/>
          </a:solidFill>
          <a:ln xmlns:a="http://schemas.openxmlformats.org/drawingml/2006/main" w="0">
            <a:solidFill>
              <a:srgbClr val="657687"/>
            </a:solidFill>
            <a:prstDash val="solid"/>
          </a:ln>
        </p:spPr>
      </p:sp>
      <p:sp>
        <p:nvSpPr>
          <p:cNvPr id="48" name="host-runtime">
            <a:extLst xmlns:a="http://schemas.openxmlformats.org/drawingml/2006/main">
              <a:ext uri="{FF2B5EF4-FFF2-40B4-BE49-F238E27FC236}">
                <a16:creationId xmlns:a16="http://schemas.microsoft.com/office/drawing/2014/main" id="{326DE815-4BD3-40BB-939B-9C5E1FF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00575"/>
            <a:ext cx="10668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14288">
            <a:solidFill>
              <a:srgbClr val="657687"/>
            </a:solidFill>
            <a:prstDash val="solid"/>
          </a:ln>
        </p:spPr>
      </p:sp>
      <p:sp>
        <p:nvSpPr>
          <p:cNvPr id="49" name="host-runtime-title">
            <a:extLst xmlns:a="http://schemas.openxmlformats.org/drawingml/2006/main">
              <a:ext uri="{FF2B5EF4-FFF2-40B4-BE49-F238E27FC236}">
                <a16:creationId xmlns:a16="http://schemas.microsoft.com/office/drawing/2014/main" id="{31AC9EA1-8412-40E6-A621-E9FA2632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2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F67"/>
                </a:solidFill>
              </a:defRPr>
            </a:pPr>
            <a:r>
              <a:rPr sz="1125" b="1">
                <a:solidFill>
                  <a:srgbClr val="173F67"/>
                </a:solidFill>
              </a:rPr>
              <a:t>Host Runtime</a:t>
            </a:r>
          </a:p>
        </p:txBody>
      </p:sp>
      <p:sp>
        <p:nvSpPr>
          <p:cNvPr id="50" name="host-runtime-detail">
            <a:extLst xmlns:a="http://schemas.openxmlformats.org/drawingml/2006/main">
              <a:ext uri="{FF2B5EF4-FFF2-40B4-BE49-F238E27FC236}">
                <a16:creationId xmlns:a16="http://schemas.microsoft.com/office/drawing/2014/main" id="{40F1DA9B-8D1A-4601-846B-D0E854A4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83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CPU 执行</a:t>
            </a:r>
          </a:p>
        </p:txBody>
      </p:sp>
      <p:sp>
        <p:nvSpPr>
          <p:cNvPr id="51" name="tvm-role">
            <a:extLst xmlns:a="http://schemas.openxmlformats.org/drawingml/2006/main">
              <a:ext uri="{FF2B5EF4-FFF2-40B4-BE49-F238E27FC236}">
                <a16:creationId xmlns:a16="http://schemas.microsoft.com/office/drawing/2014/main" id="{D9763A0A-B252-46C0-9825-E88751D6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15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69B0"/>
                </a:solidFill>
              </a:defRPr>
            </a:pPr>
            <a:r>
              <a:rPr sz="1200" b="1">
                <a:solidFill>
                  <a:srgbClr val="1769B0"/>
                </a:solidFill>
              </a:rPr>
              <a:t>TVM 负责：前端导入、统一图 IR、通用优化、Host TIR 调度与标准后端</a:t>
            </a:r>
          </a:p>
        </p:txBody>
      </p:sp>
      <p:sp>
        <p:nvSpPr>
          <p:cNvPr id="52" name="byoc">
            <a:extLst xmlns:a="http://schemas.openxmlformats.org/drawingml/2006/main">
              <a:ext uri="{FF2B5EF4-FFF2-40B4-BE49-F238E27FC236}">
                <a16:creationId xmlns:a16="http://schemas.microsoft.com/office/drawing/2014/main" id="{BD053D98-4178-4BF9-AB15-0C36B06F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638550" cy="51244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9050">
            <a:solidFill>
              <a:srgbClr val="168B57"/>
            </a:solidFill>
            <a:prstDash val="solid"/>
          </a:ln>
        </p:spPr>
      </p:sp>
      <p:sp>
        <p:nvSpPr>
          <p:cNvPr id="53" name="byoc-head">
            <a:extLst xmlns:a="http://schemas.openxmlformats.org/drawingml/2006/main">
              <a:ext uri="{FF2B5EF4-FFF2-40B4-BE49-F238E27FC236}">
                <a16:creationId xmlns:a16="http://schemas.microsoft.com/office/drawing/2014/main" id="{43977B0D-B6F0-40D3-851F-2DD00CD6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638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54" name="byoc-title">
            <a:extLst xmlns:a="http://schemas.openxmlformats.org/drawingml/2006/main">
              <a:ext uri="{FF2B5EF4-FFF2-40B4-BE49-F238E27FC236}">
                <a16:creationId xmlns:a16="http://schemas.microsoft.com/office/drawing/2014/main" id="{18994F54-8617-4E3E-8E68-E6E5ADF4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85875"/>
            <a:ext cx="329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② BYOC：在 Relax 图上分流外部后端</a:t>
            </a:r>
          </a:p>
        </p:txBody>
      </p:sp>
      <p:sp>
        <p:nvSpPr>
          <p:cNvPr id="55" name="capability">
            <a:extLst xmlns:a="http://schemas.openxmlformats.org/drawingml/2006/main">
              <a:ext uri="{FF2B5EF4-FFF2-40B4-BE49-F238E27FC236}">
                <a16:creationId xmlns:a16="http://schemas.microsoft.com/office/drawing/2014/main" id="{620FC9A7-A00F-497F-B269-EDC2FDF2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954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56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864B54CB-04A9-4FC2-AE98-21430147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621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8B57"/>
                </a:solidFill>
              </a:defRPr>
            </a:pPr>
            <a:r>
              <a:rPr sz="1350" b="1">
                <a:solidFill>
                  <a:srgbClr val="168B57"/>
                </a:solidFill>
              </a:rPr>
              <a:t>Pattern + Capability</a:t>
            </a:r>
          </a:p>
        </p:txBody>
      </p:sp>
      <p:sp>
        <p:nvSpPr>
          <p:cNvPr id="57" name="capability-detail">
            <a:extLst xmlns:a="http://schemas.openxmlformats.org/drawingml/2006/main">
              <a:ext uri="{FF2B5EF4-FFF2-40B4-BE49-F238E27FC236}">
                <a16:creationId xmlns:a16="http://schemas.microsoft.com/office/drawing/2014/main" id="{DD89A7FF-A94E-417C-A412-DB83B3C5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914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声明 NPU 支持的算子、组合和约束</a:t>
            </a:r>
          </a:p>
        </p:txBody>
      </p:sp>
      <p:sp>
        <p:nvSpPr>
          <p:cNvPr id="58" name="d-fuse">
            <a:extLst xmlns:a="http://schemas.openxmlformats.org/drawingml/2006/main">
              <a:ext uri="{FF2B5EF4-FFF2-40B4-BE49-F238E27FC236}">
                <a16:creationId xmlns:a16="http://schemas.microsoft.com/office/drawing/2014/main" id="{69A57327-EFF9-4BEC-B6BF-F8938007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1714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59" name="fuse">
            <a:extLst xmlns:a="http://schemas.openxmlformats.org/drawingml/2006/main">
              <a:ext uri="{FF2B5EF4-FFF2-40B4-BE49-F238E27FC236}">
                <a16:creationId xmlns:a16="http://schemas.microsoft.com/office/drawing/2014/main" id="{F2093325-9975-4E8F-AE55-75F938AD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241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60" name="fuse-title">
            <a:extLst xmlns:a="http://schemas.openxmlformats.org/drawingml/2006/main">
              <a:ext uri="{FF2B5EF4-FFF2-40B4-BE49-F238E27FC236}">
                <a16:creationId xmlns:a16="http://schemas.microsoft.com/office/drawing/2014/main" id="{4990E282-657F-49BF-88A4-3B6F2D97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8B57"/>
                </a:solidFill>
              </a:defRPr>
            </a:pPr>
            <a:r>
              <a:rPr sz="1350" b="1">
                <a:solidFill>
                  <a:srgbClr val="168B57"/>
                </a:solidFill>
              </a:rPr>
              <a:t>FuseOpsByPattern</a:t>
            </a:r>
          </a:p>
        </p:txBody>
      </p:sp>
      <p:sp>
        <p:nvSpPr>
          <p:cNvPr id="61" name="fuse-detail">
            <a:extLst xmlns:a="http://schemas.openxmlformats.org/drawingml/2006/main">
              <a:ext uri="{FF2B5EF4-FFF2-40B4-BE49-F238E27FC236}">
                <a16:creationId xmlns:a16="http://schemas.microsoft.com/office/drawing/2014/main" id="{88D21B1F-08EA-4A20-99FF-8314D0E0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19450"/>
            <a:ext cx="2914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匹配算子并融合为候选 NPU 子图</a:t>
            </a:r>
          </a:p>
        </p:txBody>
      </p:sp>
      <p:sp>
        <p:nvSpPr>
          <p:cNvPr id="62" name="d-merge">
            <a:extLst xmlns:a="http://schemas.openxmlformats.org/drawingml/2006/main">
              <a:ext uri="{FF2B5EF4-FFF2-40B4-BE49-F238E27FC236}">
                <a16:creationId xmlns:a16="http://schemas.microsoft.com/office/drawing/2014/main" id="{3D519988-2E4F-4031-B4D9-933F1F78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48075"/>
            <a:ext cx="1714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63" name="merge">
            <a:extLst xmlns:a="http://schemas.openxmlformats.org/drawingml/2006/main">
              <a:ext uri="{FF2B5EF4-FFF2-40B4-BE49-F238E27FC236}">
                <a16:creationId xmlns:a16="http://schemas.microsoft.com/office/drawing/2014/main" id="{AACA9A10-DD5A-49BC-8DA3-1D2829D3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528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64" name="merge-title">
            <a:extLst xmlns:a="http://schemas.openxmlformats.org/drawingml/2006/main">
              <a:ext uri="{FF2B5EF4-FFF2-40B4-BE49-F238E27FC236}">
                <a16:creationId xmlns:a16="http://schemas.microsoft.com/office/drawing/2014/main" id="{983193B9-197A-4CB9-95E5-89E5B71D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195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8B57"/>
                </a:solidFill>
              </a:defRPr>
            </a:pPr>
            <a:r>
              <a:rPr sz="1275" b="1">
                <a:solidFill>
                  <a:srgbClr val="168B57"/>
                </a:solidFill>
              </a:rPr>
              <a:t>MergeCompositeFunctions</a:t>
            </a:r>
          </a:p>
        </p:txBody>
      </p:sp>
      <p:sp>
        <p:nvSpPr>
          <p:cNvPr id="65" name="merge-detail">
            <a:extLst xmlns:a="http://schemas.openxmlformats.org/drawingml/2006/main">
              <a:ext uri="{FF2B5EF4-FFF2-40B4-BE49-F238E27FC236}">
                <a16:creationId xmlns:a16="http://schemas.microsoft.com/office/drawing/2014/main" id="{17DC0C9A-538A-49E1-AFAE-A68B2A52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48150"/>
            <a:ext cx="2914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标注 Codegen=opennpux，形成 region</a:t>
            </a:r>
          </a:p>
        </p:txBody>
      </p:sp>
      <p:sp>
        <p:nvSpPr>
          <p:cNvPr id="66" name="d-partition">
            <a:extLst xmlns:a="http://schemas.openxmlformats.org/drawingml/2006/main">
              <a:ext uri="{FF2B5EF4-FFF2-40B4-BE49-F238E27FC236}">
                <a16:creationId xmlns:a16="http://schemas.microsoft.com/office/drawing/2014/main" id="{D7E8BEB7-4020-4FFD-BBD1-C2448E8C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76775"/>
            <a:ext cx="1714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67" name="partition">
            <a:extLst xmlns:a="http://schemas.openxmlformats.org/drawingml/2006/main">
              <a:ext uri="{FF2B5EF4-FFF2-40B4-BE49-F238E27FC236}">
                <a16:creationId xmlns:a16="http://schemas.microsoft.com/office/drawing/2014/main" id="{F29CF97F-3305-464E-ABD1-6EC955F0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81575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68" name="partition-title">
            <a:extLst xmlns:a="http://schemas.openxmlformats.org/drawingml/2006/main">
              <a:ext uri="{FF2B5EF4-FFF2-40B4-BE49-F238E27FC236}">
                <a16:creationId xmlns:a16="http://schemas.microsoft.com/office/drawing/2014/main" id="{40EB958E-3052-49A9-9FEC-2D256AC7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482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8B57"/>
                </a:solidFill>
              </a:defRPr>
            </a:pPr>
            <a:r>
              <a:rPr sz="1350" b="1">
                <a:solidFill>
                  <a:srgbClr val="168B57"/>
                </a:solidFill>
              </a:rPr>
              <a:t>Partition Result</a:t>
            </a:r>
          </a:p>
        </p:txBody>
      </p:sp>
      <p:sp>
        <p:nvSpPr>
          <p:cNvPr id="69" name="partition-detail">
            <a:extLst xmlns:a="http://schemas.openxmlformats.org/drawingml/2006/main">
              <a:ext uri="{FF2B5EF4-FFF2-40B4-BE49-F238E27FC236}">
                <a16:creationId xmlns:a16="http://schemas.microsoft.com/office/drawing/2014/main" id="{E569BE55-0201-4CC4-A918-2363756D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76850"/>
            <a:ext cx="2914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Host regions + OpenNPUX regions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显式 Tensor edge / Host bridge</a:t>
            </a:r>
          </a:p>
        </p:txBody>
      </p:sp>
      <p:sp>
        <p:nvSpPr>
          <p:cNvPr id="70" name="byoc-role">
            <a:extLst xmlns:a="http://schemas.openxmlformats.org/drawingml/2006/main">
              <a:ext uri="{FF2B5EF4-FFF2-40B4-BE49-F238E27FC236}">
                <a16:creationId xmlns:a16="http://schemas.microsoft.com/office/drawing/2014/main" id="{7C1C3D50-23E7-438E-98FA-37D35AC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864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B57"/>
                </a:solidFill>
              </a:defRPr>
            </a:pPr>
            <a:r>
              <a:rPr sz="1125" b="1">
                <a:solidFill>
                  <a:srgbClr val="168B57"/>
                </a:solidFill>
              </a:rPr>
              <a:t>作用：复用 TVM 前端与优化，同时把选中的子图交给自定义 Codegen</a:t>
            </a:r>
          </a:p>
        </p:txBody>
      </p:sp>
      <p:sp>
        <p:nvSpPr>
          <p:cNvPr id="71" name="relax-to-byoc">
            <a:extLst xmlns:a="http://schemas.openxmlformats.org/drawingml/2006/main">
              <a:ext uri="{FF2B5EF4-FFF2-40B4-BE49-F238E27FC236}">
                <a16:creationId xmlns:a16="http://schemas.microsoft.com/office/drawing/2014/main" id="{C6DB04A5-EBC8-4727-A762-03FD1054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90750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72" name="opennpux">
            <a:extLst xmlns:a="http://schemas.openxmlformats.org/drawingml/2006/main">
              <a:ext uri="{FF2B5EF4-FFF2-40B4-BE49-F238E27FC236}">
                <a16:creationId xmlns:a16="http://schemas.microsoft.com/office/drawing/2014/main" id="{1D47AC9A-90A6-4067-BF2D-9B744417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57300"/>
            <a:ext cx="6819900" cy="5124450"/>
          </a:xfrm>
          <a:prstGeom xmlns:a="http://schemas.openxmlformats.org/drawingml/2006/main" prst="roundRect">
            <a:avLst>
              <a:gd name="adj" fmla="val 1487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6B2F"/>
            </a:solidFill>
            <a:prstDash val="solid"/>
          </a:ln>
        </p:spPr>
      </p:sp>
      <p:sp>
        <p:nvSpPr>
          <p:cNvPr id="73" name="opennpux-head">
            <a:extLst xmlns:a="http://schemas.openxmlformats.org/drawingml/2006/main">
              <a:ext uri="{FF2B5EF4-FFF2-40B4-BE49-F238E27FC236}">
                <a16:creationId xmlns:a16="http://schemas.microsoft.com/office/drawing/2014/main" id="{146901DB-7BF0-4740-9024-9DB1CA6B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257300"/>
            <a:ext cx="6819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74" name="opennpux-title">
            <a:extLst xmlns:a="http://schemas.openxmlformats.org/drawingml/2006/main">
              <a:ext uri="{FF2B5EF4-FFF2-40B4-BE49-F238E27FC236}">
                <a16:creationId xmlns:a16="http://schemas.microsoft.com/office/drawing/2014/main" id="{C25E31F4-1944-46E9-8CED-7EA9FA3F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2858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③ OpenNPUX BYOC Backend：项目当前主要增量</a:t>
            </a:r>
          </a:p>
        </p:txBody>
      </p:sp>
      <p:sp>
        <p:nvSpPr>
          <p:cNvPr id="75" name="extract">
            <a:extLst xmlns:a="http://schemas.openxmlformats.org/drawingml/2006/main">
              <a:ext uri="{FF2B5EF4-FFF2-40B4-BE49-F238E27FC236}">
                <a16:creationId xmlns:a16="http://schemas.microsoft.com/office/drawing/2014/main" id="{D3E754AA-41C5-4036-9349-562B4D2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95475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76" name="extract-title">
            <a:extLst xmlns:a="http://schemas.openxmlformats.org/drawingml/2006/main">
              <a:ext uri="{FF2B5EF4-FFF2-40B4-BE49-F238E27FC236}">
                <a16:creationId xmlns:a16="http://schemas.microsoft.com/office/drawing/2014/main" id="{B213D3E7-2EFD-4FC6-95D6-5021B9DC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9621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56B2F"/>
                </a:solidFill>
              </a:defRPr>
            </a:pPr>
            <a:r>
              <a:rPr sz="1350" b="1">
                <a:solidFill>
                  <a:srgbClr val="E56B2F"/>
                </a:solidFill>
              </a:rPr>
              <a:t>Relax Adapter</a:t>
            </a:r>
          </a:p>
        </p:txBody>
      </p:sp>
      <p:sp>
        <p:nvSpPr>
          <p:cNvPr id="77" name="extract-detail">
            <a:extLst xmlns:a="http://schemas.openxmlformats.org/drawingml/2006/main">
              <a:ext uri="{FF2B5EF4-FFF2-40B4-BE49-F238E27FC236}">
                <a16:creationId xmlns:a16="http://schemas.microsoft.com/office/drawing/2014/main" id="{06BD56CA-8CBD-4CAB-9385-587FCE17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19075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relax_backend.py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提取 regions / edges</a:t>
            </a:r>
          </a:p>
        </p:txBody>
      </p:sp>
      <p:sp>
        <p:nvSpPr>
          <p:cNvPr id="78" name="a-normal">
            <a:extLst xmlns:a="http://schemas.openxmlformats.org/drawingml/2006/main">
              <a:ext uri="{FF2B5EF4-FFF2-40B4-BE49-F238E27FC236}">
                <a16:creationId xmlns:a16="http://schemas.microsoft.com/office/drawing/2014/main" id="{14E77DCD-B92B-4BFB-B028-63D0161E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22193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79" name="normalized">
            <a:extLst xmlns:a="http://schemas.openxmlformats.org/drawingml/2006/main">
              <a:ext uri="{FF2B5EF4-FFF2-40B4-BE49-F238E27FC236}">
                <a16:creationId xmlns:a16="http://schemas.microsoft.com/office/drawing/2014/main" id="{D185A00A-0720-456A-934C-6B089140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1895475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80" name="normalized-title">
            <a:extLst xmlns:a="http://schemas.openxmlformats.org/drawingml/2006/main">
              <a:ext uri="{FF2B5EF4-FFF2-40B4-BE49-F238E27FC236}">
                <a16:creationId xmlns:a16="http://schemas.microsoft.com/office/drawing/2014/main" id="{C55BEF96-48DC-41F5-9F3D-4F40EC08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19621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56B2F"/>
                </a:solidFill>
              </a:defRPr>
            </a:pPr>
            <a:r>
              <a:rPr sz="1350" b="1">
                <a:solidFill>
                  <a:srgbClr val="E56B2F"/>
                </a:solidFill>
              </a:rPr>
              <a:t>规范化 IR</a:t>
            </a:r>
          </a:p>
        </p:txBody>
      </p:sp>
      <p:sp>
        <p:nvSpPr>
          <p:cNvPr id="81" name="normalized-detail">
            <a:extLst xmlns:a="http://schemas.openxmlformats.org/drawingml/2006/main">
              <a:ext uri="{FF2B5EF4-FFF2-40B4-BE49-F238E27FC236}">
                <a16:creationId xmlns:a16="http://schemas.microsoft.com/office/drawing/2014/main" id="{5A1B64C1-5DD4-4F32-8F96-A2B8A93A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2190750"/>
            <a:ext cx="158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Graph / Module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模型无关算子与属性</a:t>
            </a:r>
          </a:p>
        </p:txBody>
      </p:sp>
      <p:sp>
        <p:nvSpPr>
          <p:cNvPr id="82" name="a-lowering">
            <a:extLst xmlns:a="http://schemas.openxmlformats.org/drawingml/2006/main">
              <a:ext uri="{FF2B5EF4-FFF2-40B4-BE49-F238E27FC236}">
                <a16:creationId xmlns:a16="http://schemas.microsoft.com/office/drawing/2014/main" id="{B4F6D802-3AF7-4C57-A49F-16C9358D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22193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83" name="lowering">
            <a:extLst xmlns:a="http://schemas.openxmlformats.org/drawingml/2006/main">
              <a:ext uri="{FF2B5EF4-FFF2-40B4-BE49-F238E27FC236}">
                <a16:creationId xmlns:a16="http://schemas.microsoft.com/office/drawing/2014/main" id="{01E6115B-B870-49E5-BE38-36B60DC1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1895475"/>
            <a:ext cx="190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84" name="lowering-title">
            <a:extLst xmlns:a="http://schemas.openxmlformats.org/drawingml/2006/main">
              <a:ext uri="{FF2B5EF4-FFF2-40B4-BE49-F238E27FC236}">
                <a16:creationId xmlns:a16="http://schemas.microsoft.com/office/drawing/2014/main" id="{137482E0-8353-43A4-B3A3-4B21FDD5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1962150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56B2F"/>
                </a:solidFill>
              </a:defRPr>
            </a:pPr>
            <a:r>
              <a:rPr sz="1275" b="1">
                <a:solidFill>
                  <a:srgbClr val="E56B2F"/>
                </a:solidFill>
              </a:rPr>
              <a:t>Lowering</a:t>
            </a:r>
          </a:p>
        </p:txBody>
      </p:sp>
      <p:sp>
        <p:nvSpPr>
          <p:cNvPr id="85" name="lowering-detail">
            <a:extLst xmlns:a="http://schemas.openxmlformats.org/drawingml/2006/main">
              <a:ext uri="{FF2B5EF4-FFF2-40B4-BE49-F238E27FC236}">
                <a16:creationId xmlns:a16="http://schemas.microsoft.com/office/drawing/2014/main" id="{F7814748-DF5D-411E-8BCE-A0279BD5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9600" y="2190750"/>
            <a:ext cx="1676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xgraph_codegen.py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算子到硬件命令</a:t>
            </a:r>
          </a:p>
        </p:txBody>
      </p:sp>
      <p:sp>
        <p:nvSpPr>
          <p:cNvPr id="86" name="d-module">
            <a:extLst xmlns:a="http://schemas.openxmlformats.org/drawingml/2006/main">
              <a:ext uri="{FF2B5EF4-FFF2-40B4-BE49-F238E27FC236}">
                <a16:creationId xmlns:a16="http://schemas.microsoft.com/office/drawing/2014/main" id="{5173D03F-FA53-4CA7-A615-CF8EB1B5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2809875"/>
            <a:ext cx="1714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87" name="module-codegen">
            <a:extLst xmlns:a="http://schemas.openxmlformats.org/drawingml/2006/main">
              <a:ext uri="{FF2B5EF4-FFF2-40B4-BE49-F238E27FC236}">
                <a16:creationId xmlns:a16="http://schemas.microsoft.com/office/drawing/2014/main" id="{DA1254C4-0479-478D-B7E6-B9A17005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162300"/>
            <a:ext cx="2971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88" name="module-codegen-title">
            <a:extLst xmlns:a="http://schemas.openxmlformats.org/drawingml/2006/main">
              <a:ext uri="{FF2B5EF4-FFF2-40B4-BE49-F238E27FC236}">
                <a16:creationId xmlns:a16="http://schemas.microsoft.com/office/drawing/2014/main" id="{0D615F82-2007-4B7B-85C8-0884E645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228975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56B2F"/>
                </a:solidFill>
              </a:defRPr>
            </a:pPr>
            <a:r>
              <a:rPr sz="1350" b="1">
                <a:solidFill>
                  <a:srgbClr val="E56B2F"/>
                </a:solidFill>
              </a:rPr>
              <a:t>Module Compiler</a:t>
            </a:r>
          </a:p>
        </p:txBody>
      </p:sp>
      <p:sp>
        <p:nvSpPr>
          <p:cNvPr id="89" name="module-codegen-detail">
            <a:extLst xmlns:a="http://schemas.openxmlformats.org/drawingml/2006/main">
              <a:ext uri="{FF2B5EF4-FFF2-40B4-BE49-F238E27FC236}">
                <a16:creationId xmlns:a16="http://schemas.microsoft.com/office/drawing/2014/main" id="{013D0FE7-68C5-4961-9F69-649CF253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457575"/>
            <a:ext cx="2743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module_codegen.py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DAG 顺序、跨 region edge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constant / scratch / state 生命周期</a:t>
            </a:r>
          </a:p>
        </p:txBody>
      </p:sp>
      <p:sp>
        <p:nvSpPr>
          <p:cNvPr id="90" name="dynamic">
            <a:extLst xmlns:a="http://schemas.openxmlformats.org/drawingml/2006/main">
              <a:ext uri="{FF2B5EF4-FFF2-40B4-BE49-F238E27FC236}">
                <a16:creationId xmlns:a16="http://schemas.microsoft.com/office/drawing/2014/main" id="{39EF8D63-285D-4237-A412-3DC9BC49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3162300"/>
            <a:ext cx="30670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91" name="dynamic-title">
            <a:extLst xmlns:a="http://schemas.openxmlformats.org/drawingml/2006/main">
              <a:ext uri="{FF2B5EF4-FFF2-40B4-BE49-F238E27FC236}">
                <a16:creationId xmlns:a16="http://schemas.microsoft.com/office/drawing/2014/main" id="{BF182BE6-479D-47F9-B263-A76B8A68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3228975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56B2F"/>
                </a:solidFill>
              </a:defRPr>
            </a:pPr>
            <a:r>
              <a:rPr sz="1350" b="1">
                <a:solidFill>
                  <a:srgbClr val="E56B2F"/>
                </a:solidFill>
              </a:rPr>
              <a:t>Invocation 与状态</a:t>
            </a:r>
          </a:p>
        </p:txBody>
      </p:sp>
      <p:sp>
        <p:nvSpPr>
          <p:cNvPr id="92" name="dynamic-detail">
            <a:extLst xmlns:a="http://schemas.openxmlformats.org/drawingml/2006/main">
              <a:ext uri="{FF2B5EF4-FFF2-40B4-BE49-F238E27FC236}">
                <a16:creationId xmlns:a16="http://schemas.microsoft.com/office/drawing/2014/main" id="{23AE73D6-1E89-4209-B32C-36238301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3457575"/>
            <a:ext cx="2838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动态 Tensor / scalar 绑定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KV append / append_planar2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容量、identity、复用检查</a:t>
            </a:r>
          </a:p>
        </p:txBody>
      </p:sp>
      <p:sp>
        <p:nvSpPr>
          <p:cNvPr id="93" name="d-codegen">
            <a:extLst xmlns:a="http://schemas.openxmlformats.org/drawingml/2006/main">
              <a:ext uri="{FF2B5EF4-FFF2-40B4-BE49-F238E27FC236}">
                <a16:creationId xmlns:a16="http://schemas.microsoft.com/office/drawing/2014/main" id="{5FC7D480-D51C-49F4-8F8A-500DACD2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4181475"/>
            <a:ext cx="171450" cy="2571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94" name="device-codegen">
            <a:extLst xmlns:a="http://schemas.openxmlformats.org/drawingml/2006/main">
              <a:ext uri="{FF2B5EF4-FFF2-40B4-BE49-F238E27FC236}">
                <a16:creationId xmlns:a16="http://schemas.microsoft.com/office/drawing/2014/main" id="{76DA73FA-1381-47F5-9CF5-7410F236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514850"/>
            <a:ext cx="2971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95" name="device-codegen-title">
            <a:extLst xmlns:a="http://schemas.openxmlformats.org/drawingml/2006/main">
              <a:ext uri="{FF2B5EF4-FFF2-40B4-BE49-F238E27FC236}">
                <a16:creationId xmlns:a16="http://schemas.microsoft.com/office/drawing/2014/main" id="{448A6F98-7A2A-47BF-B8D5-24EF07B1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581525"/>
            <a:ext cx="274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XGraph Device Codegen</a:t>
            </a:r>
          </a:p>
        </p:txBody>
      </p:sp>
      <p:sp>
        <p:nvSpPr>
          <p:cNvPr id="96" name="device-codegen-detail">
            <a:extLst xmlns:a="http://schemas.openxmlformats.org/drawingml/2006/main">
              <a:ext uri="{FF2B5EF4-FFF2-40B4-BE49-F238E27FC236}">
                <a16:creationId xmlns:a16="http://schemas.microsoft.com/office/drawing/2014/main" id="{134ED949-E523-4BB8-8D3E-69D7389C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10125"/>
            <a:ext cx="2743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通用算子 → XOpenNPUX commands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C tiler：Tile / stride / tail / scratch</a:t>
            </a:r>
          </a:p>
        </p:txBody>
      </p:sp>
      <p:sp>
        <p:nvSpPr>
          <p:cNvPr id="97" name="current-ops">
            <a:extLst xmlns:a="http://schemas.openxmlformats.org/drawingml/2006/main">
              <a:ext uri="{FF2B5EF4-FFF2-40B4-BE49-F238E27FC236}">
                <a16:creationId xmlns:a16="http://schemas.microsoft.com/office/drawing/2014/main" id="{7C92BA1D-F6FE-484E-A4B5-4C27D1D6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14850"/>
            <a:ext cx="30670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BF2"/>
          </a:solidFill>
          <a:ln xmlns:a="http://schemas.openxmlformats.org/drawingml/2006/main" w="14288">
            <a:solidFill>
              <a:srgbClr val="D81B60"/>
            </a:solidFill>
            <a:prstDash val="solid"/>
          </a:ln>
        </p:spPr>
      </p:sp>
      <p:sp>
        <p:nvSpPr>
          <p:cNvPr id="98" name="current-ops-title">
            <a:extLst xmlns:a="http://schemas.openxmlformats.org/drawingml/2006/main">
              <a:ext uri="{FF2B5EF4-FFF2-40B4-BE49-F238E27FC236}">
                <a16:creationId xmlns:a16="http://schemas.microsoft.com/office/drawing/2014/main" id="{3E800BB6-86CB-4530-BEC3-3800E436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581525"/>
            <a:ext cx="283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1B60"/>
                </a:solidFill>
              </a:defRPr>
            </a:pPr>
            <a:r>
              <a:rPr sz="1275" b="1">
                <a:solidFill>
                  <a:srgbClr val="D81B60"/>
                </a:solidFill>
              </a:rPr>
              <a:t>当前已接通</a:t>
            </a:r>
          </a:p>
        </p:txBody>
      </p:sp>
      <p:sp>
        <p:nvSpPr>
          <p:cNvPr id="99" name="current-ops-detail">
            <a:extLst xmlns:a="http://schemas.openxmlformats.org/drawingml/2006/main">
              <a:ext uri="{FF2B5EF4-FFF2-40B4-BE49-F238E27FC236}">
                <a16:creationId xmlns:a16="http://schemas.microsoft.com/office/drawing/2014/main" id="{41E5D586-C834-44D0-A349-8340B9AB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810125"/>
            <a:ext cx="2838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TMMA / TDMA / Norm / RoPE / Attention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QKV projection + KV pack + dynamic KV</a:t>
            </a:r>
          </a:p>
        </p:txBody>
      </p:sp>
      <p:sp>
        <p:nvSpPr>
          <p:cNvPr id="100" name="artifacts-label">
            <a:extLst xmlns:a="http://schemas.openxmlformats.org/drawingml/2006/main">
              <a:ext uri="{FF2B5EF4-FFF2-40B4-BE49-F238E27FC236}">
                <a16:creationId xmlns:a16="http://schemas.microsoft.com/office/drawing/2014/main" id="{9D8522F6-7F6B-459A-A78A-6614AB68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5435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56B2F"/>
                </a:solidFill>
              </a:defRPr>
            </a:pPr>
            <a:r>
              <a:rPr sz="1200" b="1">
                <a:solidFill>
                  <a:srgbClr val="E56B2F"/>
                </a:solidFill>
              </a:rPr>
              <a:t>编译产物</a:t>
            </a:r>
          </a:p>
        </p:txBody>
      </p:sp>
      <p:sp>
        <p:nvSpPr>
          <p:cNvPr id="101" name="artifact-0">
            <a:extLst xmlns:a="http://schemas.openxmlformats.org/drawingml/2006/main">
              <a:ext uri="{FF2B5EF4-FFF2-40B4-BE49-F238E27FC236}">
                <a16:creationId xmlns:a16="http://schemas.microsoft.com/office/drawing/2014/main" id="{5B504AF9-3BB7-4FCD-BDC9-B9F514B0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50545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102" name="artifact-0-t">
            <a:extLst xmlns:a="http://schemas.openxmlformats.org/drawingml/2006/main">
              <a:ext uri="{FF2B5EF4-FFF2-40B4-BE49-F238E27FC236}">
                <a16:creationId xmlns:a16="http://schemas.microsoft.com/office/drawing/2014/main" id="{0B582BE0-4D78-43CA-92A2-FF783EC2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55435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1354D"/>
                </a:solidFill>
              </a:defRPr>
            </a:pPr>
            <a:r>
              <a:rPr sz="975" b="1">
                <a:solidFill>
                  <a:srgbClr val="21354D"/>
                </a:solidFill>
              </a:rPr>
              <a:t>.npxg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21354D"/>
                </a:solidFill>
              </a:defRPr>
            </a:pPr>
            <a:r>
              <a:rPr sz="975" b="1">
                <a:solidFill>
                  <a:srgbClr val="21354D"/>
                </a:solidFill>
              </a:rPr>
              <a:t>region commands</a:t>
            </a:r>
          </a:p>
        </p:txBody>
      </p:sp>
      <p:sp>
        <p:nvSpPr>
          <p:cNvPr id="103" name="artifact-1">
            <a:extLst xmlns:a="http://schemas.openxmlformats.org/drawingml/2006/main">
              <a:ext uri="{FF2B5EF4-FFF2-40B4-BE49-F238E27FC236}">
                <a16:creationId xmlns:a16="http://schemas.microsoft.com/office/drawing/2014/main" id="{4F1F6F77-2C39-42CE-A79A-DE3E26C9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50545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104" name="artifact-1-t">
            <a:extLst xmlns:a="http://schemas.openxmlformats.org/drawingml/2006/main">
              <a:ext uri="{FF2B5EF4-FFF2-40B4-BE49-F238E27FC236}">
                <a16:creationId xmlns:a16="http://schemas.microsoft.com/office/drawing/2014/main" id="{FE85884C-E0C1-4C58-85F1-101A402F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55435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2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1354D"/>
                </a:solidFill>
              </a:defRPr>
            </a:pPr>
            <a:r>
              <a:rPr sz="975" b="1">
                <a:solidFill>
                  <a:srgbClr val="21354D"/>
                </a:solidFill>
              </a:rPr>
              <a:t>.npxgm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21354D"/>
                </a:solidFill>
              </a:defRPr>
            </a:pPr>
            <a:r>
              <a:rPr sz="975" b="1">
                <a:solidFill>
                  <a:srgbClr val="21354D"/>
                </a:solidFill>
              </a:rPr>
              <a:t>module / DAG / state</a:t>
            </a:r>
          </a:p>
        </p:txBody>
      </p:sp>
      <p:sp>
        <p:nvSpPr>
          <p:cNvPr id="105" name="artifact-2">
            <a:extLst xmlns:a="http://schemas.openxmlformats.org/drawingml/2006/main">
              <a:ext uri="{FF2B5EF4-FFF2-40B4-BE49-F238E27FC236}">
                <a16:creationId xmlns:a16="http://schemas.microsoft.com/office/drawing/2014/main" id="{2752F4F3-8E05-497B-B05F-23BA8DF1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550545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106" name="artifact-2-t">
            <a:extLst xmlns:a="http://schemas.openxmlformats.org/drawingml/2006/main">
              <a:ext uri="{FF2B5EF4-FFF2-40B4-BE49-F238E27FC236}">
                <a16:creationId xmlns:a16="http://schemas.microsoft.com/office/drawing/2014/main" id="{AF297FAF-E73B-4A5E-823C-FC76557D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55435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1354D"/>
                </a:solidFill>
              </a:defRPr>
            </a:pPr>
            <a:r>
              <a:rPr sz="975" b="1">
                <a:solidFill>
                  <a:srgbClr val="21354D"/>
                </a:solidFill>
              </a:rPr>
              <a:t>.npxmi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21354D"/>
                </a:solidFill>
              </a:defRPr>
            </a:pPr>
            <a:r>
              <a:rPr sz="975" b="1">
                <a:solidFill>
                  <a:srgbClr val="21354D"/>
                </a:solidFill>
              </a:rPr>
              <a:t>invocation</a:t>
            </a:r>
          </a:p>
        </p:txBody>
      </p:sp>
      <p:sp>
        <p:nvSpPr>
          <p:cNvPr id="107" name="artifact-3">
            <a:extLst xmlns:a="http://schemas.openxmlformats.org/drawingml/2006/main">
              <a:ext uri="{FF2B5EF4-FFF2-40B4-BE49-F238E27FC236}">
                <a16:creationId xmlns:a16="http://schemas.microsoft.com/office/drawing/2014/main" id="{3D399274-B45E-45C7-AAEA-936DE30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700" y="550545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108" name="artifact-3-t">
            <a:extLst xmlns:a="http://schemas.openxmlformats.org/drawingml/2006/main">
              <a:ext uri="{FF2B5EF4-FFF2-40B4-BE49-F238E27FC236}">
                <a16:creationId xmlns:a16="http://schemas.microsoft.com/office/drawing/2014/main" id="{076AC855-2502-4E01-B21F-FD5B19CC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6325" y="55435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1354D"/>
                </a:solidFill>
              </a:defRPr>
            </a:pPr>
            <a:r>
              <a:rPr sz="975" b="1">
                <a:solidFill>
                  <a:srgbClr val="21354D"/>
                </a:solidFill>
              </a:rPr>
              <a:t>arena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21354D"/>
                </a:solidFill>
              </a:defRPr>
            </a:pPr>
            <a:r>
              <a:rPr sz="975" b="1">
                <a:solidFill>
                  <a:srgbClr val="21354D"/>
                </a:solidFill>
              </a:rPr>
              <a:t>Tensor / weights</a:t>
            </a:r>
          </a:p>
        </p:txBody>
      </p:sp>
      <p:sp>
        <p:nvSpPr>
          <p:cNvPr id="109" name="project-files">
            <a:extLst xmlns:a="http://schemas.openxmlformats.org/drawingml/2006/main">
              <a:ext uri="{FF2B5EF4-FFF2-40B4-BE49-F238E27FC236}">
                <a16:creationId xmlns:a16="http://schemas.microsoft.com/office/drawing/2014/main" id="{ED098912-322F-4B4F-BFE1-CA866C2F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019800"/>
            <a:ext cx="630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6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56B2F"/>
                </a:solidFill>
              </a:defRPr>
            </a:pPr>
            <a:r>
              <a:rPr sz="1050" b="1">
                <a:solidFill>
                  <a:srgbClr val="E56B2F"/>
                </a:solidFill>
              </a:rPr>
              <a:t>主要修改：Relax BYOC 适配、XGraph lowering、module/storage/state 编译、package/invocation ABI、coralctl module runtime</a:t>
            </a:r>
          </a:p>
        </p:txBody>
      </p:sp>
      <p:sp>
        <p:nvSpPr>
          <p:cNvPr id="110" name="partition-to-backend">
            <a:extLst xmlns:a="http://schemas.openxmlformats.org/drawingml/2006/main">
              <a:ext uri="{FF2B5EF4-FFF2-40B4-BE49-F238E27FC236}">
                <a16:creationId xmlns:a16="http://schemas.microsoft.com/office/drawing/2014/main" id="{B21B7ADC-8704-404F-A18A-8017615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67325"/>
            <a:ext cx="4191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11" name="runtime">
            <a:extLst xmlns:a="http://schemas.openxmlformats.org/drawingml/2006/main">
              <a:ext uri="{FF2B5EF4-FFF2-40B4-BE49-F238E27FC236}">
                <a16:creationId xmlns:a16="http://schemas.microsoft.com/office/drawing/2014/main" id="{53871FE5-3FFD-47E2-B3C8-820AC971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10350"/>
            <a:ext cx="175450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19050">
            <a:solidFill>
              <a:srgbClr val="173F67"/>
            </a:solidFill>
            <a:prstDash val="solid"/>
          </a:ln>
        </p:spPr>
      </p:sp>
      <p:sp>
        <p:nvSpPr>
          <p:cNvPr id="112" name="runtime-head">
            <a:extLst xmlns:a="http://schemas.openxmlformats.org/drawingml/2006/main">
              <a:ext uri="{FF2B5EF4-FFF2-40B4-BE49-F238E27FC236}">
                <a16:creationId xmlns:a16="http://schemas.microsoft.com/office/drawing/2014/main" id="{739C6FD7-01A4-4020-A641-A8706811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10350"/>
            <a:ext cx="17545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3F67"/>
          </a:solidFill>
          <a:ln xmlns:a="http://schemas.openxmlformats.org/drawingml/2006/main" w="0">
            <a:solidFill>
              <a:srgbClr val="173F67"/>
            </a:solidFill>
            <a:prstDash val="solid"/>
          </a:ln>
        </p:spPr>
      </p:sp>
      <p:sp>
        <p:nvSpPr>
          <p:cNvPr id="113" name="runtime-title">
            <a:extLst xmlns:a="http://schemas.openxmlformats.org/drawingml/2006/main">
              <a:ext uri="{FF2B5EF4-FFF2-40B4-BE49-F238E27FC236}">
                <a16:creationId xmlns:a16="http://schemas.microsoft.com/office/drawing/2014/main" id="{731C4D14-03FF-4F56-9098-19D84713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38925"/>
            <a:ext cx="1720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④ 编译产物的端到端运行：CPU 提交、Coral 控制、NPU 执行、结果返回</a:t>
            </a:r>
          </a:p>
        </p:txBody>
      </p:sp>
      <p:sp>
        <p:nvSpPr>
          <p:cNvPr id="114" name="run-0">
            <a:extLst xmlns:a="http://schemas.openxmlformats.org/drawingml/2006/main">
              <a:ext uri="{FF2B5EF4-FFF2-40B4-BE49-F238E27FC236}">
                <a16:creationId xmlns:a16="http://schemas.microsoft.com/office/drawing/2014/main" id="{9757808A-9051-460F-9D53-357B93B0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72350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115" name="run-0-title">
            <a:extLst xmlns:a="http://schemas.openxmlformats.org/drawingml/2006/main">
              <a:ext uri="{FF2B5EF4-FFF2-40B4-BE49-F238E27FC236}">
                <a16:creationId xmlns:a16="http://schemas.microsoft.com/office/drawing/2014/main" id="{D7B41413-5AA3-47B1-8CD7-10BDF158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390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69B0"/>
                </a:solidFill>
              </a:defRPr>
            </a:pPr>
            <a:r>
              <a:rPr sz="1275" b="1">
                <a:solidFill>
                  <a:srgbClr val="1769B0"/>
                </a:solidFill>
              </a:rPr>
              <a:t>CPU 应用</a:t>
            </a:r>
          </a:p>
        </p:txBody>
      </p:sp>
      <p:sp>
        <p:nvSpPr>
          <p:cNvPr id="116" name="run-0-detail">
            <a:extLst xmlns:a="http://schemas.openxmlformats.org/drawingml/2006/main">
              <a:ext uri="{FF2B5EF4-FFF2-40B4-BE49-F238E27FC236}">
                <a16:creationId xmlns:a16="http://schemas.microsoft.com/office/drawing/2014/main" id="{C1E2A963-3E55-4C57-9AF5-F090AF94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6762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Prompt / Tokenizer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输入 Tensor</a:t>
            </a:r>
          </a:p>
        </p:txBody>
      </p:sp>
      <p:sp>
        <p:nvSpPr>
          <p:cNvPr id="117" name="run-a-0">
            <a:extLst xmlns:a="http://schemas.openxmlformats.org/drawingml/2006/main">
              <a:ext uri="{FF2B5EF4-FFF2-40B4-BE49-F238E27FC236}">
                <a16:creationId xmlns:a16="http://schemas.microsoft.com/office/drawing/2014/main" id="{CB9B0664-FF2A-4374-B7F9-03DA82A7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7247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18" name="run-1">
            <a:extLst xmlns:a="http://schemas.openxmlformats.org/drawingml/2006/main">
              <a:ext uri="{FF2B5EF4-FFF2-40B4-BE49-F238E27FC236}">
                <a16:creationId xmlns:a16="http://schemas.microsoft.com/office/drawing/2014/main" id="{9FE6A243-5192-4E87-8297-E96B5AB4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7372350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119" name="run-1-title">
            <a:extLst xmlns:a="http://schemas.openxmlformats.org/drawingml/2006/main">
              <a:ext uri="{FF2B5EF4-FFF2-40B4-BE49-F238E27FC236}">
                <a16:creationId xmlns:a16="http://schemas.microsoft.com/office/drawing/2014/main" id="{E7F7C2CE-94FA-443F-9141-AD33DCE5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4390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69B0"/>
                </a:solidFill>
              </a:defRPr>
            </a:pPr>
            <a:r>
              <a:rPr sz="1275" b="1">
                <a:solidFill>
                  <a:srgbClr val="1769B0"/>
                </a:solidFill>
              </a:rPr>
              <a:t>Module Runtime</a:t>
            </a:r>
          </a:p>
        </p:txBody>
      </p:sp>
      <p:sp>
        <p:nvSpPr>
          <p:cNvPr id="120" name="run-1-detail">
            <a:extLst xmlns:a="http://schemas.openxmlformats.org/drawingml/2006/main">
              <a:ext uri="{FF2B5EF4-FFF2-40B4-BE49-F238E27FC236}">
                <a16:creationId xmlns:a16="http://schemas.microsoft.com/office/drawing/2014/main" id="{57617905-0156-4F62-8543-727111C4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66762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加载 .npxgm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绑定 .npxmi / weights</a:t>
            </a:r>
          </a:p>
        </p:txBody>
      </p:sp>
      <p:sp>
        <p:nvSpPr>
          <p:cNvPr id="121" name="run-a-1">
            <a:extLst xmlns:a="http://schemas.openxmlformats.org/drawingml/2006/main">
              <a:ext uri="{FF2B5EF4-FFF2-40B4-BE49-F238E27FC236}">
                <a16:creationId xmlns:a16="http://schemas.microsoft.com/office/drawing/2014/main" id="{44D29544-2C7D-4393-A58B-822415EE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7247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22" name="run-2">
            <a:extLst xmlns:a="http://schemas.openxmlformats.org/drawingml/2006/main">
              <a:ext uri="{FF2B5EF4-FFF2-40B4-BE49-F238E27FC236}">
                <a16:creationId xmlns:a16="http://schemas.microsoft.com/office/drawing/2014/main" id="{6157C42B-DBD4-4EF9-B9AA-8FA5E2E2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372350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123" name="run-2-title">
            <a:extLst xmlns:a="http://schemas.openxmlformats.org/drawingml/2006/main">
              <a:ext uri="{FF2B5EF4-FFF2-40B4-BE49-F238E27FC236}">
                <a16:creationId xmlns:a16="http://schemas.microsoft.com/office/drawing/2014/main" id="{2E7E5764-6B09-45C1-8D92-07EE8597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390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69B0"/>
                </a:solidFill>
              </a:defRPr>
            </a:pPr>
            <a:r>
              <a:rPr sz="1275" b="1">
                <a:solidFill>
                  <a:srgbClr val="1769B0"/>
                </a:solidFill>
              </a:rPr>
              <a:t>coralctl / Driver</a:t>
            </a:r>
          </a:p>
        </p:txBody>
      </p:sp>
      <p:sp>
        <p:nvSpPr>
          <p:cNvPr id="124" name="run-2-detail">
            <a:extLst xmlns:a="http://schemas.openxmlformats.org/drawingml/2006/main">
              <a:ext uri="{FF2B5EF4-FFF2-40B4-BE49-F238E27FC236}">
                <a16:creationId xmlns:a16="http://schemas.microsoft.com/office/drawing/2014/main" id="{AF1A47B2-4289-495A-85C7-E5934617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66762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校验 ABI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提交队列 / doorbell</a:t>
            </a:r>
          </a:p>
        </p:txBody>
      </p:sp>
      <p:sp>
        <p:nvSpPr>
          <p:cNvPr id="125" name="run-a-2">
            <a:extLst xmlns:a="http://schemas.openxmlformats.org/drawingml/2006/main">
              <a:ext uri="{FF2B5EF4-FFF2-40B4-BE49-F238E27FC236}">
                <a16:creationId xmlns:a16="http://schemas.microsoft.com/office/drawing/2014/main" id="{668E3031-7245-4B08-A253-38D80E97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7247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26" name="run-3">
            <a:extLst xmlns:a="http://schemas.openxmlformats.org/drawingml/2006/main">
              <a:ext uri="{FF2B5EF4-FFF2-40B4-BE49-F238E27FC236}">
                <a16:creationId xmlns:a16="http://schemas.microsoft.com/office/drawing/2014/main" id="{D23D5656-C480-4C93-B4F6-9C903989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7372350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4288">
            <a:solidFill>
              <a:srgbClr val="F2C94C"/>
            </a:solidFill>
            <a:prstDash val="solid"/>
          </a:ln>
        </p:spPr>
      </p:sp>
      <p:sp>
        <p:nvSpPr>
          <p:cNvPr id="127" name="run-3-title">
            <a:extLst xmlns:a="http://schemas.openxmlformats.org/drawingml/2006/main">
              <a:ext uri="{FF2B5EF4-FFF2-40B4-BE49-F238E27FC236}">
                <a16:creationId xmlns:a16="http://schemas.microsoft.com/office/drawing/2014/main" id="{D7B13770-041F-4B63-957C-4CDA94A3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4390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2C94C"/>
                </a:solidFill>
              </a:defRPr>
            </a:pPr>
            <a:r>
              <a:rPr sz="1275" b="1">
                <a:solidFill>
                  <a:srgbClr val="F2C94C"/>
                </a:solidFill>
              </a:rPr>
              <a:t>Shared DMA</a:t>
            </a:r>
          </a:p>
        </p:txBody>
      </p:sp>
      <p:sp>
        <p:nvSpPr>
          <p:cNvPr id="128" name="run-3-detail">
            <a:extLst xmlns:a="http://schemas.openxmlformats.org/drawingml/2006/main">
              <a:ext uri="{FF2B5EF4-FFF2-40B4-BE49-F238E27FC236}">
                <a16:creationId xmlns:a16="http://schemas.microsoft.com/office/drawing/2014/main" id="{D7436395-9C2B-42D6-B08C-A6AE1231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66762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Tensor / command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KV 与 persistent state</a:t>
            </a:r>
          </a:p>
        </p:txBody>
      </p:sp>
      <p:sp>
        <p:nvSpPr>
          <p:cNvPr id="129" name="run-a-3">
            <a:extLst xmlns:a="http://schemas.openxmlformats.org/drawingml/2006/main">
              <a:ext uri="{FF2B5EF4-FFF2-40B4-BE49-F238E27FC236}">
                <a16:creationId xmlns:a16="http://schemas.microsoft.com/office/drawing/2014/main" id="{A143ED7B-911B-405B-8C0D-CE249212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7247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30" name="run-4">
            <a:extLst xmlns:a="http://schemas.openxmlformats.org/drawingml/2006/main">
              <a:ext uri="{FF2B5EF4-FFF2-40B4-BE49-F238E27FC236}">
                <a16:creationId xmlns:a16="http://schemas.microsoft.com/office/drawing/2014/main" id="{E9B4C5AE-9087-4ABE-915C-65A254E2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372350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BF2"/>
          </a:solidFill>
          <a:ln xmlns:a="http://schemas.openxmlformats.org/drawingml/2006/main" w="14288">
            <a:solidFill>
              <a:srgbClr val="D81B60"/>
            </a:solidFill>
            <a:prstDash val="solid"/>
          </a:ln>
        </p:spPr>
      </p:sp>
      <p:sp>
        <p:nvSpPr>
          <p:cNvPr id="131" name="run-4-title">
            <a:extLst xmlns:a="http://schemas.openxmlformats.org/drawingml/2006/main">
              <a:ext uri="{FF2B5EF4-FFF2-40B4-BE49-F238E27FC236}">
                <a16:creationId xmlns:a16="http://schemas.microsoft.com/office/drawing/2014/main" id="{65E7F295-0417-4FD2-B733-E58C8299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4390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1B60"/>
                </a:solidFill>
              </a:defRPr>
            </a:pPr>
            <a:r>
              <a:rPr sz="1275" b="1">
                <a:solidFill>
                  <a:srgbClr val="D81B60"/>
                </a:solidFill>
              </a:rPr>
              <a:t>Coral Controller</a:t>
            </a:r>
          </a:p>
        </p:txBody>
      </p:sp>
      <p:sp>
        <p:nvSpPr>
          <p:cNvPr id="132" name="run-4-detail">
            <a:extLst xmlns:a="http://schemas.openxmlformats.org/drawingml/2006/main">
              <a:ext uri="{FF2B5EF4-FFF2-40B4-BE49-F238E27FC236}">
                <a16:creationId xmlns:a16="http://schemas.microsoft.com/office/drawing/2014/main" id="{6B5927D5-22BF-429E-AD2D-5FB5C305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66762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RV32 取指与一级译码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CUSTOM NPU_LAUNCH</a:t>
            </a:r>
          </a:p>
        </p:txBody>
      </p:sp>
      <p:sp>
        <p:nvSpPr>
          <p:cNvPr id="133" name="run-a-4">
            <a:extLst xmlns:a="http://schemas.openxmlformats.org/drawingml/2006/main">
              <a:ext uri="{FF2B5EF4-FFF2-40B4-BE49-F238E27FC236}">
                <a16:creationId xmlns:a16="http://schemas.microsoft.com/office/drawing/2014/main" id="{2FE1EC71-9CBF-4B2A-B672-02A665D7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7247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34" name="run-5">
            <a:extLst xmlns:a="http://schemas.openxmlformats.org/drawingml/2006/main">
              <a:ext uri="{FF2B5EF4-FFF2-40B4-BE49-F238E27FC236}">
                <a16:creationId xmlns:a16="http://schemas.microsoft.com/office/drawing/2014/main" id="{6530D1CC-EE3C-4FBC-B62F-CD08439A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372350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BF2"/>
          </a:solidFill>
          <a:ln xmlns:a="http://schemas.openxmlformats.org/drawingml/2006/main" w="14288">
            <a:solidFill>
              <a:srgbClr val="D81B60"/>
            </a:solidFill>
            <a:prstDash val="solid"/>
          </a:ln>
        </p:spPr>
      </p:sp>
      <p:sp>
        <p:nvSpPr>
          <p:cNvPr id="135" name="run-5-title">
            <a:extLst xmlns:a="http://schemas.openxmlformats.org/drawingml/2006/main">
              <a:ext uri="{FF2B5EF4-FFF2-40B4-BE49-F238E27FC236}">
                <a16:creationId xmlns:a16="http://schemas.microsoft.com/office/drawing/2014/main" id="{02145E63-B6B6-4E2B-A105-8912F237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4390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1B60"/>
                </a:solidFill>
              </a:defRPr>
            </a:pPr>
            <a:r>
              <a:rPr sz="1275" b="1">
                <a:solidFill>
                  <a:srgbClr val="D81B60"/>
                </a:solidFill>
              </a:rPr>
              <a:t>NPU Frontend</a:t>
            </a:r>
          </a:p>
        </p:txBody>
      </p:sp>
      <p:sp>
        <p:nvSpPr>
          <p:cNvPr id="136" name="run-5-detail">
            <a:extLst xmlns:a="http://schemas.openxmlformats.org/drawingml/2006/main">
              <a:ext uri="{FF2B5EF4-FFF2-40B4-BE49-F238E27FC236}">
                <a16:creationId xmlns:a16="http://schemas.microsoft.com/office/drawing/2014/main" id="{2FF67931-BF86-40A8-9BA5-C09657DB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66762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二级译码 / DAG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依赖与 completion</a:t>
            </a:r>
          </a:p>
        </p:txBody>
      </p:sp>
      <p:sp>
        <p:nvSpPr>
          <p:cNvPr id="137" name="run-a-5">
            <a:extLst xmlns:a="http://schemas.openxmlformats.org/drawingml/2006/main">
              <a:ext uri="{FF2B5EF4-FFF2-40B4-BE49-F238E27FC236}">
                <a16:creationId xmlns:a16="http://schemas.microsoft.com/office/drawing/2014/main" id="{8CD2E1B9-92C3-4D90-82FB-41EA3C6D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7247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38" name="run-6">
            <a:extLst xmlns:a="http://schemas.openxmlformats.org/drawingml/2006/main">
              <a:ext uri="{FF2B5EF4-FFF2-40B4-BE49-F238E27FC236}">
                <a16:creationId xmlns:a16="http://schemas.microsoft.com/office/drawing/2014/main" id="{3286131A-9F9E-4EA1-84A6-1EEACDA9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7372350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BF2"/>
          </a:solidFill>
          <a:ln xmlns:a="http://schemas.openxmlformats.org/drawingml/2006/main" w="14288">
            <a:solidFill>
              <a:srgbClr val="D81B60"/>
            </a:solidFill>
            <a:prstDash val="solid"/>
          </a:ln>
        </p:spPr>
      </p:sp>
      <p:sp>
        <p:nvSpPr>
          <p:cNvPr id="139" name="run-6-title">
            <a:extLst xmlns:a="http://schemas.openxmlformats.org/drawingml/2006/main">
              <a:ext uri="{FF2B5EF4-FFF2-40B4-BE49-F238E27FC236}">
                <a16:creationId xmlns:a16="http://schemas.microsoft.com/office/drawing/2014/main" id="{BAD1B8FB-EBB9-426E-BF36-CE75ACAA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4390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1B60"/>
                </a:solidFill>
              </a:defRPr>
            </a:pPr>
            <a:r>
              <a:rPr sz="1275" b="1">
                <a:solidFill>
                  <a:srgbClr val="D81B60"/>
                </a:solidFill>
              </a:rPr>
              <a:t>Execution Pipe</a:t>
            </a:r>
          </a:p>
        </p:txBody>
      </p:sp>
      <p:sp>
        <p:nvSpPr>
          <p:cNvPr id="140" name="run-6-detail">
            <a:extLst xmlns:a="http://schemas.openxmlformats.org/drawingml/2006/main">
              <a:ext uri="{FF2B5EF4-FFF2-40B4-BE49-F238E27FC236}">
                <a16:creationId xmlns:a16="http://schemas.microsoft.com/office/drawing/2014/main" id="{C89BAE75-7379-4078-86BF-3BBFD456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66762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7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TDMA / TMMA / Vector / SFU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C++ Modeling → RTL</a:t>
            </a:r>
          </a:p>
        </p:txBody>
      </p:sp>
      <p:sp>
        <p:nvSpPr>
          <p:cNvPr id="141" name="run-a-6">
            <a:extLst xmlns:a="http://schemas.openxmlformats.org/drawingml/2006/main">
              <a:ext uri="{FF2B5EF4-FFF2-40B4-BE49-F238E27FC236}">
                <a16:creationId xmlns:a16="http://schemas.microsoft.com/office/drawing/2014/main" id="{B9C4257F-2171-4824-B0FA-117A6E8C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77247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42" name="run-7">
            <a:extLst xmlns:a="http://schemas.openxmlformats.org/drawingml/2006/main">
              <a:ext uri="{FF2B5EF4-FFF2-40B4-BE49-F238E27FC236}">
                <a16:creationId xmlns:a16="http://schemas.microsoft.com/office/drawing/2014/main" id="{699FAD95-2D48-4D9F-B8BB-9C430DFD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7372350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143" name="run-7-title">
            <a:extLst xmlns:a="http://schemas.openxmlformats.org/drawingml/2006/main">
              <a:ext uri="{FF2B5EF4-FFF2-40B4-BE49-F238E27FC236}">
                <a16:creationId xmlns:a16="http://schemas.microsoft.com/office/drawing/2014/main" id="{4277BA95-38F1-4100-A444-C27C4668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4390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8B57"/>
                </a:solidFill>
              </a:defRPr>
            </a:pPr>
            <a:r>
              <a:rPr sz="1275" b="1">
                <a:solidFill>
                  <a:srgbClr val="168B57"/>
                </a:solidFill>
              </a:rPr>
              <a:t>CPU Result</a:t>
            </a:r>
          </a:p>
        </p:txBody>
      </p:sp>
      <p:sp>
        <p:nvSpPr>
          <p:cNvPr id="144" name="run-7-detail">
            <a:extLst xmlns:a="http://schemas.openxmlformats.org/drawingml/2006/main">
              <a:ext uri="{FF2B5EF4-FFF2-40B4-BE49-F238E27FC236}">
                <a16:creationId xmlns:a16="http://schemas.microsoft.com/office/drawing/2014/main" id="{04549DAB-1FD9-4639-8CA0-CA7F483F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7667625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Token ID → Token text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状态供下一 decode</a:t>
            </a:r>
          </a:p>
        </p:txBody>
      </p:sp>
      <p:sp>
        <p:nvSpPr>
          <p:cNvPr id="145" name="control-line">
            <a:extLst xmlns:a="http://schemas.openxmlformats.org/drawingml/2006/main">
              <a:ext uri="{FF2B5EF4-FFF2-40B4-BE49-F238E27FC236}">
                <a16:creationId xmlns:a16="http://schemas.microsoft.com/office/drawing/2014/main" id="{4E47B588-2E9E-4667-A109-6B2BE4B0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486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6B2F"/>
                </a:solidFill>
              </a:defRPr>
            </a:pPr>
            <a:r>
              <a:rPr sz="1125" b="1">
                <a:solidFill>
                  <a:srgbClr val="E56B2F"/>
                </a:solidFill>
              </a:rPr>
              <a:t>控制流：artifact load → invocation bind → submit → L1/L2 decode → schedule → completion</a:t>
            </a:r>
          </a:p>
        </p:txBody>
      </p:sp>
      <p:sp>
        <p:nvSpPr>
          <p:cNvPr id="146" name="data-line">
            <a:extLst xmlns:a="http://schemas.openxmlformats.org/drawingml/2006/main">
              <a:ext uri="{FF2B5EF4-FFF2-40B4-BE49-F238E27FC236}">
                <a16:creationId xmlns:a16="http://schemas.microsoft.com/office/drawing/2014/main" id="{C67E6A9A-1736-4357-9A97-F2062DFC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844867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769B0"/>
                </a:solidFill>
              </a:defRPr>
            </a:pPr>
            <a:r>
              <a:rPr sz="1125" b="1">
                <a:solidFill>
                  <a:srgbClr val="1769B0"/>
                </a:solidFill>
              </a:rPr>
              <a:t>数据/状态流：CPU Tensor → Shared DMA → NPU local state；结果与更新后的 KV Cache 返回 Runtime</a:t>
            </a:r>
          </a:p>
        </p:txBody>
      </p:sp>
      <p:sp>
        <p:nvSpPr>
          <p:cNvPr id="147" name="data-return">
            <a:extLst xmlns:a="http://schemas.openxmlformats.org/drawingml/2006/main">
              <a:ext uri="{FF2B5EF4-FFF2-40B4-BE49-F238E27FC236}">
                <a16:creationId xmlns:a16="http://schemas.microsoft.com/office/drawing/2014/main" id="{0F60EBE5-4651-4B70-B59E-3336E0FD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63025"/>
            <a:ext cx="962025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148" name="data-return-label">
            <a:extLst xmlns:a="http://schemas.openxmlformats.org/drawingml/2006/main">
              <a:ext uri="{FF2B5EF4-FFF2-40B4-BE49-F238E27FC236}">
                <a16:creationId xmlns:a16="http://schemas.microsoft.com/office/drawing/2014/main" id="{21682889-88E8-4A9C-8F0C-F623383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724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69B0"/>
                </a:solidFill>
              </a:defRPr>
            </a:pPr>
            <a:r>
              <a:rPr sz="1050" b="1">
                <a:solidFill>
                  <a:srgbClr val="1769B0"/>
                </a:solidFill>
              </a:rPr>
              <a:t>结果回读并驱动下一 token / invocation</a:t>
            </a:r>
          </a:p>
        </p:txBody>
      </p:sp>
      <p:sp>
        <p:nvSpPr>
          <p:cNvPr id="149" name="status">
            <a:extLst xmlns:a="http://schemas.openxmlformats.org/drawingml/2006/main">
              <a:ext uri="{FF2B5EF4-FFF2-40B4-BE49-F238E27FC236}">
                <a16:creationId xmlns:a16="http://schemas.microsoft.com/office/drawing/2014/main" id="{4F5D7926-BC13-4124-8078-BD1E922D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239250"/>
            <a:ext cx="17145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BE0"/>
            </a:solidFill>
            <a:prstDash val="solid"/>
          </a:ln>
        </p:spPr>
      </p:sp>
      <p:sp>
        <p:nvSpPr>
          <p:cNvPr id="150" name="status-t">
            <a:extLst xmlns:a="http://schemas.openxmlformats.org/drawingml/2006/main">
              <a:ext uri="{FF2B5EF4-FFF2-40B4-BE49-F238E27FC236}">
                <a16:creationId xmlns:a16="http://schemas.microsoft.com/office/drawing/2014/main" id="{775DD285-9A9D-4771-A2E7-F454439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286875"/>
            <a:ext cx="1676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F67"/>
                </a:solidFill>
              </a:defRPr>
            </a:pPr>
            <a:r>
              <a:rPr sz="1125" b="1">
                <a:solidFill>
                  <a:srgbClr val="173F67"/>
                </a:solidFill>
              </a:rPr>
              <a:t>已完成验收：真实 Qwen3.5-35B 全图经 TVM Relax + BYOC 编译，4 步执行 2,096 条模型级命令，输出 Token 与 vLLM 严格一致；当前数值执行为 XOpenNPUX primitive 的 C++ 指令语义模型，尚未替换为完整 RTL MAC。</a:t>
            </a:r>
          </a:p>
        </p:txBody>
      </p:sp>
    </p:spTree>
    <p:extLst>
      <p:ext uri="{BB962C8B-B14F-4D97-AF65-F5344CB8AC3E}">
        <p14:creationId xmlns:p14="http://schemas.microsoft.com/office/powerpoint/2010/main" val="223502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title">
            <a:extLst xmlns:a="http://schemas.openxmlformats.org/drawingml/2006/main">
              <a:ext uri="{FF2B5EF4-FFF2-40B4-BE49-F238E27FC236}">
                <a16:creationId xmlns:a16="http://schemas.microsoft.com/office/drawing/2014/main" id="{EC2A8589-D0D6-424A-BF3B-75BCCDC3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769B0"/>
                </a:solidFill>
              </a:defRPr>
            </a:pPr>
            <a:r>
              <a:rPr sz="2925" b="1">
                <a:solidFill>
                  <a:srgbClr val="1769B0"/>
                </a:solidFill>
              </a:rPr>
              <a:t>Mojo/MAX + OpenNPUX 端到端编译栈与额外适配工作</a:t>
            </a:r>
          </a:p>
        </p:txBody>
      </p:sp>
      <p:sp>
        <p:nvSpPr>
          <p:cNvPr id="2" name="part">
            <a:extLst xmlns:a="http://schemas.openxmlformats.org/drawingml/2006/main">
              <a:ext uri="{FF2B5EF4-FFF2-40B4-BE49-F238E27FC236}">
                <a16:creationId xmlns:a16="http://schemas.microsoft.com/office/drawing/2014/main" id="{626BA060-9EF8-4A84-ADF2-2CED3499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66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0758E"/>
                </a:solidFill>
              </a:defRPr>
            </a:pPr>
            <a:r>
              <a:rPr sz="1050" b="1">
                <a:solidFill>
                  <a:srgbClr val="60758E"/>
                </a:solidFill>
              </a:rPr>
              <a:t>MAX / MOJO / CUSTOM NPU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41077FF-EF66-4B0A-9940-6020148D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00100"/>
            <a:ext cx="1754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4" name="premise">
            <a:extLst xmlns:a="http://schemas.openxmlformats.org/drawingml/2006/main">
              <a:ext uri="{FF2B5EF4-FFF2-40B4-BE49-F238E27FC236}">
                <a16:creationId xmlns:a16="http://schemas.microsoft.com/office/drawing/2014/main" id="{0B6648C1-A28C-4A41-B277-3F52716D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733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F67"/>
                </a:solidFill>
              </a:defRPr>
            </a:pPr>
            <a:r>
              <a:rPr sz="1275" b="1">
                <a:solidFill>
                  <a:srgbClr val="173F67"/>
                </a:solidFill>
              </a:rPr>
              <a:t>关键边界：Mojo 负责内核与系统代码；MAX 承载模型图、编译和运行时。当前没有可直接复用的 TVM BYOC 式通用外部后端接口，因此接入自定义 NPU 需要补齐 Target、Placement、Lowering 和 Runtime 四层。</a:t>
            </a:r>
          </a:p>
        </p:txBody>
      </p:sp>
      <p:sp>
        <p:nvSpPr>
          <p:cNvPr id="5" name="max">
            <a:extLst xmlns:a="http://schemas.openxmlformats.org/drawingml/2006/main">
              <a:ext uri="{FF2B5EF4-FFF2-40B4-BE49-F238E27FC236}">
                <a16:creationId xmlns:a16="http://schemas.microsoft.com/office/drawing/2014/main" id="{A771CBE2-3AD2-4608-A37F-680970B7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81125"/>
            <a:ext cx="4381500" cy="500062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9050">
            <a:solidFill>
              <a:srgbClr val="1769B0"/>
            </a:solidFill>
            <a:prstDash val="solid"/>
          </a:ln>
        </p:spPr>
      </p:sp>
      <p:sp>
        <p:nvSpPr>
          <p:cNvPr id="6" name="max-head">
            <a:extLst xmlns:a="http://schemas.openxmlformats.org/drawingml/2006/main">
              <a:ext uri="{FF2B5EF4-FFF2-40B4-BE49-F238E27FC236}">
                <a16:creationId xmlns:a16="http://schemas.microsoft.com/office/drawing/2014/main" id="{7E3E9A1E-0B28-4438-B6D0-6F6B9D63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81125"/>
            <a:ext cx="438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7" name="max-title">
            <a:extLst xmlns:a="http://schemas.openxmlformats.org/drawingml/2006/main">
              <a:ext uri="{FF2B5EF4-FFF2-40B4-BE49-F238E27FC236}">
                <a16:creationId xmlns:a16="http://schemas.microsoft.com/office/drawing/2014/main" id="{4F16F0B0-F86C-43FB-852F-8DB32FF1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403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① MAX / Mojo 原有能力</a:t>
            </a:r>
          </a:p>
        </p:txBody>
      </p:sp>
      <p:sp>
        <p:nvSpPr>
          <p:cNvPr id="8" name="max-0">
            <a:extLst xmlns:a="http://schemas.openxmlformats.org/drawingml/2006/main">
              <a:ext uri="{FF2B5EF4-FFF2-40B4-BE49-F238E27FC236}">
                <a16:creationId xmlns:a16="http://schemas.microsoft.com/office/drawing/2014/main" id="{D4DAC353-8D49-4266-9FFD-462504B6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771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9" name="max-0-title">
            <a:extLst xmlns:a="http://schemas.openxmlformats.org/drawingml/2006/main">
              <a:ext uri="{FF2B5EF4-FFF2-40B4-BE49-F238E27FC236}">
                <a16:creationId xmlns:a16="http://schemas.microsoft.com/office/drawing/2014/main" id="{9E83AE4D-C619-4B5C-9A33-A9F66054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69B0"/>
                </a:solidFill>
              </a:defRPr>
            </a:pPr>
            <a:r>
              <a:rPr sz="1275" b="1">
                <a:solidFill>
                  <a:srgbClr val="1769B0"/>
                </a:solidFill>
              </a:rPr>
              <a:t>模型入口</a:t>
            </a:r>
          </a:p>
        </p:txBody>
      </p:sp>
      <p:sp>
        <p:nvSpPr>
          <p:cNvPr id="10" name="max-0-detail">
            <a:extLst xmlns:a="http://schemas.openxmlformats.org/drawingml/2006/main">
              <a:ext uri="{FF2B5EF4-FFF2-40B4-BE49-F238E27FC236}">
                <a16:creationId xmlns:a16="http://schemas.microsoft.com/office/drawing/2014/main" id="{28205991-68C8-4C38-A995-8167B405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HF / PyTorch 模型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Tokenizer / 权重 / 配置</a:t>
            </a:r>
          </a:p>
        </p:txBody>
      </p:sp>
      <p:sp>
        <p:nvSpPr>
          <p:cNvPr id="11" name="max-d-0">
            <a:extLst xmlns:a="http://schemas.openxmlformats.org/drawingml/2006/main">
              <a:ext uri="{FF2B5EF4-FFF2-40B4-BE49-F238E27FC236}">
                <a16:creationId xmlns:a16="http://schemas.microsoft.com/office/drawing/2014/main" id="{83F4C53A-C78E-45B4-81CA-E76F47DF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47950"/>
            <a:ext cx="17145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12" name="max-1">
            <a:extLst xmlns:a="http://schemas.openxmlformats.org/drawingml/2006/main">
              <a:ext uri="{FF2B5EF4-FFF2-40B4-BE49-F238E27FC236}">
                <a16:creationId xmlns:a16="http://schemas.microsoft.com/office/drawing/2014/main" id="{D7CF68BE-4FB9-46E3-9B9B-CED762C3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3771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13" name="max-1-title">
            <a:extLst xmlns:a="http://schemas.openxmlformats.org/drawingml/2006/main">
              <a:ext uri="{FF2B5EF4-FFF2-40B4-BE49-F238E27FC236}">
                <a16:creationId xmlns:a16="http://schemas.microsoft.com/office/drawing/2014/main" id="{06216A86-5B0B-4D0A-AB1C-D2DFAD47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69B0"/>
                </a:solidFill>
              </a:defRPr>
            </a:pPr>
            <a:r>
              <a:rPr sz="1275" b="1">
                <a:solidFill>
                  <a:srgbClr val="1769B0"/>
                </a:solidFill>
              </a:rPr>
              <a:t>MAX Model Integration</a:t>
            </a:r>
          </a:p>
        </p:txBody>
      </p:sp>
      <p:sp>
        <p:nvSpPr>
          <p:cNvPr id="14" name="max-1-detail">
            <a:extLst xmlns:a="http://schemas.openxmlformats.org/drawingml/2006/main">
              <a:ext uri="{FF2B5EF4-FFF2-40B4-BE49-F238E27FC236}">
                <a16:creationId xmlns:a16="http://schemas.microsoft.com/office/drawing/2014/main" id="{6C83641E-1E8A-462E-813D-7857278F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已支持模型架构与算子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构造 MAX Graph</a:t>
            </a:r>
          </a:p>
        </p:txBody>
      </p:sp>
      <p:sp>
        <p:nvSpPr>
          <p:cNvPr id="15" name="max-d-1">
            <a:extLst xmlns:a="http://schemas.openxmlformats.org/drawingml/2006/main">
              <a:ext uri="{FF2B5EF4-FFF2-40B4-BE49-F238E27FC236}">
                <a16:creationId xmlns:a16="http://schemas.microsoft.com/office/drawing/2014/main" id="{B9D4942E-D615-4C17-8AAA-30CBF216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62350"/>
            <a:ext cx="17145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16" name="max-2">
            <a:extLst xmlns:a="http://schemas.openxmlformats.org/drawingml/2006/main">
              <a:ext uri="{FF2B5EF4-FFF2-40B4-BE49-F238E27FC236}">
                <a16:creationId xmlns:a16="http://schemas.microsoft.com/office/drawing/2014/main" id="{3EAE7CDB-C0A3-47AE-BA53-C56B20E3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3771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17" name="max-2-title">
            <a:extLst xmlns:a="http://schemas.openxmlformats.org/drawingml/2006/main">
              <a:ext uri="{FF2B5EF4-FFF2-40B4-BE49-F238E27FC236}">
                <a16:creationId xmlns:a16="http://schemas.microsoft.com/office/drawing/2014/main" id="{E6C327A9-C94F-4948-BB32-AB76B910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69B0"/>
                </a:solidFill>
              </a:defRPr>
            </a:pPr>
            <a:r>
              <a:rPr sz="1275" b="1">
                <a:solidFill>
                  <a:srgbClr val="1769B0"/>
                </a:solidFill>
              </a:rPr>
              <a:t>MAX Graph / Compiler</a:t>
            </a:r>
          </a:p>
        </p:txBody>
      </p:sp>
      <p:sp>
        <p:nvSpPr>
          <p:cNvPr id="18" name="max-2-detail">
            <a:extLst xmlns:a="http://schemas.openxmlformats.org/drawingml/2006/main">
              <a:ext uri="{FF2B5EF4-FFF2-40B4-BE49-F238E27FC236}">
                <a16:creationId xmlns:a16="http://schemas.microsoft.com/office/drawing/2014/main" id="{E449F48C-9AE0-41B3-A699-B7ED0865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Shape、DType、Layout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图优化与设备放置</a:t>
            </a:r>
          </a:p>
        </p:txBody>
      </p:sp>
      <p:sp>
        <p:nvSpPr>
          <p:cNvPr id="19" name="max-d-2">
            <a:extLst xmlns:a="http://schemas.openxmlformats.org/drawingml/2006/main">
              <a:ext uri="{FF2B5EF4-FFF2-40B4-BE49-F238E27FC236}">
                <a16:creationId xmlns:a16="http://schemas.microsoft.com/office/drawing/2014/main" id="{3A9DC910-C5C8-45F6-91FF-EF5880DD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476750"/>
            <a:ext cx="17145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20" name="max-3">
            <a:extLst xmlns:a="http://schemas.openxmlformats.org/drawingml/2006/main">
              <a:ext uri="{FF2B5EF4-FFF2-40B4-BE49-F238E27FC236}">
                <a16:creationId xmlns:a16="http://schemas.microsoft.com/office/drawing/2014/main" id="{F6FA36C9-6D4F-4418-96ED-87335E2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3771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21" name="max-3-title">
            <a:extLst xmlns:a="http://schemas.openxmlformats.org/drawingml/2006/main">
              <a:ext uri="{FF2B5EF4-FFF2-40B4-BE49-F238E27FC236}">
                <a16:creationId xmlns:a16="http://schemas.microsoft.com/office/drawing/2014/main" id="{01F23819-E093-44D4-8D6A-F2D8F290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69B0"/>
                </a:solidFill>
              </a:defRPr>
            </a:pPr>
            <a:r>
              <a:rPr sz="1275" b="1">
                <a:solidFill>
                  <a:srgbClr val="1769B0"/>
                </a:solidFill>
              </a:rPr>
              <a:t>Mojo Kernel / CPU-GPU Target</a:t>
            </a:r>
          </a:p>
        </p:txBody>
      </p:sp>
      <p:sp>
        <p:nvSpPr>
          <p:cNvPr id="22" name="max-3-detail">
            <a:extLst xmlns:a="http://schemas.openxmlformats.org/drawingml/2006/main">
              <a:ext uri="{FF2B5EF4-FFF2-40B4-BE49-F238E27FC236}">
                <a16:creationId xmlns:a16="http://schemas.microsoft.com/office/drawing/2014/main" id="{2CDA5B42-A101-4336-8DAF-D20FF384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现有设备内核、代码生成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MAX Engine 执行</a:t>
            </a:r>
          </a:p>
        </p:txBody>
      </p:sp>
      <p:sp>
        <p:nvSpPr>
          <p:cNvPr id="23" name="max-note">
            <a:extLst xmlns:a="http://schemas.openxmlformats.org/drawingml/2006/main">
              <a:ext uri="{FF2B5EF4-FFF2-40B4-BE49-F238E27FC236}">
                <a16:creationId xmlns:a16="http://schemas.microsoft.com/office/drawing/2014/main" id="{9F08FC0C-4BE8-4DE3-8FED-B3E5875B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69B0"/>
                </a:solidFill>
              </a:defRPr>
            </a:pPr>
            <a:r>
              <a:rPr sz="1125" b="1">
                <a:solidFill>
                  <a:srgbClr val="1769B0"/>
                </a:solidFill>
              </a:rPr>
              <a:t>可复用：模型加载、MAX Graph 基础设施、通用图优化、调度框架和 Engine 生命周期。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69B0"/>
                </a:solidFill>
              </a:defRPr>
            </a:pPr>
            <a:r>
              <a:rPr sz="1125" b="1">
                <a:solidFill>
                  <a:srgbClr val="1769B0"/>
                </a:solidFill>
              </a:rPr>
              <a:t>不能直接复用：面向 CUDA/CPU 的既有 Target 与 Kernel，不能自动生成 XOpenNPUX 命令。</a:t>
            </a:r>
          </a:p>
        </p:txBody>
      </p:sp>
      <p:sp>
        <p:nvSpPr>
          <p:cNvPr id="24" name="gap">
            <a:extLst xmlns:a="http://schemas.openxmlformats.org/drawingml/2006/main">
              <a:ext uri="{FF2B5EF4-FFF2-40B4-BE49-F238E27FC236}">
                <a16:creationId xmlns:a16="http://schemas.microsoft.com/office/drawing/2014/main" id="{01BA626C-440C-4636-860D-F3A880CA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5238750" cy="5000625"/>
          </a:xfrm>
          <a:prstGeom xmlns:a="http://schemas.openxmlformats.org/drawingml/2006/main" prst="roundRect">
            <a:avLst>
              <a:gd name="adj" fmla="val 152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6B2F"/>
            </a:solidFill>
            <a:prstDash val="solid"/>
          </a:ln>
        </p:spPr>
      </p:sp>
      <p:sp>
        <p:nvSpPr>
          <p:cNvPr id="25" name="gap-head">
            <a:extLst xmlns:a="http://schemas.openxmlformats.org/drawingml/2006/main">
              <a:ext uri="{FF2B5EF4-FFF2-40B4-BE49-F238E27FC236}">
                <a16:creationId xmlns:a16="http://schemas.microsoft.com/office/drawing/2014/main" id="{FAD1E295-CBA5-4D68-B5CD-4093E1FF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523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26" name="gap-title">
            <a:extLst xmlns:a="http://schemas.openxmlformats.org/drawingml/2006/main">
              <a:ext uri="{FF2B5EF4-FFF2-40B4-BE49-F238E27FC236}">
                <a16:creationId xmlns:a16="http://schemas.microsoft.com/office/drawing/2014/main" id="{2392B124-F6F5-4A5F-AC26-BACD35C8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09700"/>
            <a:ext cx="489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2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② 无 BYOC 边界时必须新增的 OpenNPUX 接入层</a:t>
            </a:r>
          </a:p>
        </p:txBody>
      </p:sp>
      <p:sp>
        <p:nvSpPr>
          <p:cNvPr id="27" name="gap-0">
            <a:extLst xmlns:a="http://schemas.openxmlformats.org/drawingml/2006/main">
              <a:ext uri="{FF2B5EF4-FFF2-40B4-BE49-F238E27FC236}">
                <a16:creationId xmlns:a16="http://schemas.microsoft.com/office/drawing/2014/main" id="{A80B4D9B-9CCE-41CE-8A51-CC988B4C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66900"/>
            <a:ext cx="4743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28" name="gap-0-title">
            <a:extLst xmlns:a="http://schemas.openxmlformats.org/drawingml/2006/main">
              <a:ext uri="{FF2B5EF4-FFF2-40B4-BE49-F238E27FC236}">
                <a16:creationId xmlns:a16="http://schemas.microsoft.com/office/drawing/2014/main" id="{43DB82D9-9D4E-4F14-9AF0-453D8371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56B2F"/>
                </a:solidFill>
              </a:defRPr>
            </a:pPr>
            <a:r>
              <a:rPr sz="1275" b="1">
                <a:solidFill>
                  <a:srgbClr val="E56B2F"/>
                </a:solidFill>
              </a:rPr>
              <a:t>A. Model / Op Bridge</a:t>
            </a:r>
          </a:p>
        </p:txBody>
      </p:sp>
      <p:sp>
        <p:nvSpPr>
          <p:cNvPr id="29" name="gap-0-detail">
            <a:extLst xmlns:a="http://schemas.openxmlformats.org/drawingml/2006/main">
              <a:ext uri="{FF2B5EF4-FFF2-40B4-BE49-F238E27FC236}">
                <a16:creationId xmlns:a16="http://schemas.microsoft.com/office/drawing/2014/main" id="{A68E27A5-10EB-47ED-82BD-C9B81E82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43125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3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将 MAX Graph 节点映射为模型无关算子；补充 MAX 尚未识别的模型结构与算子</a:t>
            </a:r>
          </a:p>
        </p:txBody>
      </p:sp>
      <p:sp>
        <p:nvSpPr>
          <p:cNvPr id="30" name="gap-d-0">
            <a:extLst xmlns:a="http://schemas.openxmlformats.org/drawingml/2006/main">
              <a:ext uri="{FF2B5EF4-FFF2-40B4-BE49-F238E27FC236}">
                <a16:creationId xmlns:a16="http://schemas.microsoft.com/office/drawing/2014/main" id="{5CBCB7B9-6AFD-4D86-B858-D3C6B6C8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62225"/>
            <a:ext cx="1714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31" name="gap-1">
            <a:extLst xmlns:a="http://schemas.openxmlformats.org/drawingml/2006/main">
              <a:ext uri="{FF2B5EF4-FFF2-40B4-BE49-F238E27FC236}">
                <a16:creationId xmlns:a16="http://schemas.microsoft.com/office/drawing/2014/main" id="{CAB3F005-71BE-42AD-8B20-58004748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95575"/>
            <a:ext cx="4743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32" name="gap-1-title">
            <a:extLst xmlns:a="http://schemas.openxmlformats.org/drawingml/2006/main">
              <a:ext uri="{FF2B5EF4-FFF2-40B4-BE49-F238E27FC236}">
                <a16:creationId xmlns:a16="http://schemas.microsoft.com/office/drawing/2014/main" id="{D6A654C9-5DBC-41A5-8491-DB574BFB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432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56B2F"/>
                </a:solidFill>
              </a:defRPr>
            </a:pPr>
            <a:r>
              <a:rPr sz="1275" b="1">
                <a:solidFill>
                  <a:srgbClr val="E56B2F"/>
                </a:solidFill>
              </a:rPr>
              <a:t>B. Device Target + Capability</a:t>
            </a:r>
          </a:p>
        </p:txBody>
      </p:sp>
      <p:sp>
        <p:nvSpPr>
          <p:cNvPr id="33" name="gap-1-detail">
            <a:extLst xmlns:a="http://schemas.openxmlformats.org/drawingml/2006/main">
              <a:ext uri="{FF2B5EF4-FFF2-40B4-BE49-F238E27FC236}">
                <a16:creationId xmlns:a16="http://schemas.microsoft.com/office/drawing/2014/main" id="{AABA6BA1-D412-4C9F-B15A-49CCA55A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注册 OpenNPUX device；声明 dtype/layout/shape/动态状态能力与代价</a:t>
            </a:r>
          </a:p>
        </p:txBody>
      </p:sp>
      <p:sp>
        <p:nvSpPr>
          <p:cNvPr id="34" name="gap-d-1">
            <a:extLst xmlns:a="http://schemas.openxmlformats.org/drawingml/2006/main">
              <a:ext uri="{FF2B5EF4-FFF2-40B4-BE49-F238E27FC236}">
                <a16:creationId xmlns:a16="http://schemas.microsoft.com/office/drawing/2014/main" id="{D9C2A520-9C19-4A6C-BBCE-5E902944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90900"/>
            <a:ext cx="1714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35" name="gap-2">
            <a:extLst xmlns:a="http://schemas.openxmlformats.org/drawingml/2006/main">
              <a:ext uri="{FF2B5EF4-FFF2-40B4-BE49-F238E27FC236}">
                <a16:creationId xmlns:a16="http://schemas.microsoft.com/office/drawing/2014/main" id="{1482CD72-50F5-4685-9104-0EAAE4EC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24250"/>
            <a:ext cx="4743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36" name="gap-2-title">
            <a:extLst xmlns:a="http://schemas.openxmlformats.org/drawingml/2006/main">
              <a:ext uri="{FF2B5EF4-FFF2-40B4-BE49-F238E27FC236}">
                <a16:creationId xmlns:a16="http://schemas.microsoft.com/office/drawing/2014/main" id="{E0E21F91-06B0-45EA-9074-A00CB52E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71875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56B2F"/>
                </a:solidFill>
              </a:defRPr>
            </a:pPr>
            <a:r>
              <a:rPr sz="1275" b="1">
                <a:solidFill>
                  <a:srgbClr val="E56B2F"/>
                </a:solidFill>
              </a:rPr>
              <a:t>C. Placement + Partition</a:t>
            </a:r>
          </a:p>
        </p:txBody>
      </p:sp>
      <p:sp>
        <p:nvSpPr>
          <p:cNvPr id="37" name="gap-2-detail">
            <a:extLst xmlns:a="http://schemas.openxmlformats.org/drawingml/2006/main">
              <a:ext uri="{FF2B5EF4-FFF2-40B4-BE49-F238E27FC236}">
                <a16:creationId xmlns:a16="http://schemas.microsoft.com/office/drawing/2014/main" id="{DC97C052-9C5E-439C-931D-C7EF0B8B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00475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决定 Host/NPU region；建立跨 region Tensor、控制边和 persistent state</a:t>
            </a:r>
          </a:p>
        </p:txBody>
      </p:sp>
      <p:sp>
        <p:nvSpPr>
          <p:cNvPr id="38" name="gap-d-2">
            <a:extLst xmlns:a="http://schemas.openxmlformats.org/drawingml/2006/main">
              <a:ext uri="{FF2B5EF4-FFF2-40B4-BE49-F238E27FC236}">
                <a16:creationId xmlns:a16="http://schemas.microsoft.com/office/drawing/2014/main" id="{6DA7D27F-929D-4A1A-9A48-D043A262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19575"/>
            <a:ext cx="1714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39" name="gap-3">
            <a:extLst xmlns:a="http://schemas.openxmlformats.org/drawingml/2006/main">
              <a:ext uri="{FF2B5EF4-FFF2-40B4-BE49-F238E27FC236}">
                <a16:creationId xmlns:a16="http://schemas.microsoft.com/office/drawing/2014/main" id="{332CE31E-B652-46B6-8BFE-9D591DE8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52925"/>
            <a:ext cx="4743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40" name="gap-3-title">
            <a:extLst xmlns:a="http://schemas.openxmlformats.org/drawingml/2006/main">
              <a:ext uri="{FF2B5EF4-FFF2-40B4-BE49-F238E27FC236}">
                <a16:creationId xmlns:a16="http://schemas.microsoft.com/office/drawing/2014/main" id="{45DCFE99-09D6-451B-9529-F6D5ACEF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0055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56B2F"/>
                </a:solidFill>
              </a:defRPr>
            </a:pPr>
            <a:r>
              <a:rPr sz="1275" b="1">
                <a:solidFill>
                  <a:srgbClr val="E56B2F"/>
                </a:solidFill>
              </a:rPr>
              <a:t>D. Dialect / Legalization</a:t>
            </a:r>
          </a:p>
        </p:txBody>
      </p:sp>
      <p:sp>
        <p:nvSpPr>
          <p:cNvPr id="41" name="gap-3-detail">
            <a:extLst xmlns:a="http://schemas.openxmlformats.org/drawingml/2006/main">
              <a:ext uri="{FF2B5EF4-FFF2-40B4-BE49-F238E27FC236}">
                <a16:creationId xmlns:a16="http://schemas.microsoft.com/office/drawing/2014/main" id="{B1A32C66-237E-4167-B5A3-9B6A6C9B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6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MAX Graph → OpenNPUX Backend IR；规范 shape、layout、量化和动态参数</a:t>
            </a:r>
          </a:p>
        </p:txBody>
      </p:sp>
      <p:sp>
        <p:nvSpPr>
          <p:cNvPr id="42" name="gap-d-3">
            <a:extLst xmlns:a="http://schemas.openxmlformats.org/drawingml/2006/main">
              <a:ext uri="{FF2B5EF4-FFF2-40B4-BE49-F238E27FC236}">
                <a16:creationId xmlns:a16="http://schemas.microsoft.com/office/drawing/2014/main" id="{2AFD3E3E-72FF-4A2F-932A-91C6518E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48250"/>
            <a:ext cx="1714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43" name="gap-4">
            <a:extLst xmlns:a="http://schemas.openxmlformats.org/drawingml/2006/main">
              <a:ext uri="{FF2B5EF4-FFF2-40B4-BE49-F238E27FC236}">
                <a16:creationId xmlns:a16="http://schemas.microsoft.com/office/drawing/2014/main" id="{5426ACF7-138C-4CE0-A980-93E5F1C0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181600"/>
            <a:ext cx="4743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44" name="gap-4-title">
            <a:extLst xmlns:a="http://schemas.openxmlformats.org/drawingml/2006/main">
              <a:ext uri="{FF2B5EF4-FFF2-40B4-BE49-F238E27FC236}">
                <a16:creationId xmlns:a16="http://schemas.microsoft.com/office/drawing/2014/main" id="{DFF28E4C-0CA7-4449-8EC0-5F05C768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29225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56B2F"/>
                </a:solidFill>
              </a:defRPr>
            </a:pPr>
            <a:r>
              <a:rPr sz="1275" b="1">
                <a:solidFill>
                  <a:srgbClr val="E56B2F"/>
                </a:solidFill>
              </a:rPr>
              <a:t>E. Codegen + Runtime Adapter</a:t>
            </a:r>
          </a:p>
        </p:txBody>
      </p:sp>
      <p:sp>
        <p:nvSpPr>
          <p:cNvPr id="45" name="gap-4-detail">
            <a:extLst xmlns:a="http://schemas.openxmlformats.org/drawingml/2006/main">
              <a:ext uri="{FF2B5EF4-FFF2-40B4-BE49-F238E27FC236}">
                <a16:creationId xmlns:a16="http://schemas.microsoft.com/office/drawing/2014/main" id="{E4A391B2-62EB-459D-AE1E-452A2E34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57825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Backend IR → XGraph；接入 MAX Engine 的 load/bind/submit/wait/result API</a:t>
            </a:r>
          </a:p>
        </p:txBody>
      </p:sp>
      <p:sp>
        <p:nvSpPr>
          <p:cNvPr id="46" name="gap-note">
            <a:extLst xmlns:a="http://schemas.openxmlformats.org/drawingml/2006/main">
              <a:ext uri="{FF2B5EF4-FFF2-40B4-BE49-F238E27FC236}">
                <a16:creationId xmlns:a16="http://schemas.microsoft.com/office/drawing/2014/main" id="{FEFCAB28-864D-4B5A-9895-408878B1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5790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285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56B2F"/>
                </a:solidFill>
              </a:defRPr>
            </a:pPr>
            <a:r>
              <a:rPr sz="1050" b="1">
                <a:solidFill>
                  <a:srgbClr val="E56B2F"/>
                </a:solidFill>
              </a:rPr>
              <a:t>与 BYOC 的差异：TVM 已提供 annotate → merge → partition → external codegen 协议；MAX/Mojo 方案需要自行建立等价协议，且接口稳定性取决于 MAX SDK 的公开能力。</a:t>
            </a:r>
          </a:p>
        </p:txBody>
      </p:sp>
      <p:sp>
        <p:nvSpPr>
          <p:cNvPr id="47" name="reuse">
            <a:extLst xmlns:a="http://schemas.openxmlformats.org/drawingml/2006/main">
              <a:ext uri="{FF2B5EF4-FFF2-40B4-BE49-F238E27FC236}">
                <a16:creationId xmlns:a16="http://schemas.microsoft.com/office/drawing/2014/main" id="{C83D86A7-C564-42EE-9747-8770F0D9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381125"/>
            <a:ext cx="7505700" cy="5000625"/>
          </a:xfrm>
          <a:prstGeom xmlns:a="http://schemas.openxmlformats.org/drawingml/2006/main" prst="roundRect">
            <a:avLst>
              <a:gd name="adj" fmla="val 1524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9050">
            <a:solidFill>
              <a:srgbClr val="168B57"/>
            </a:solidFill>
            <a:prstDash val="solid"/>
          </a:ln>
        </p:spPr>
      </p:sp>
      <p:sp>
        <p:nvSpPr>
          <p:cNvPr id="48" name="reuse-head">
            <a:extLst xmlns:a="http://schemas.openxmlformats.org/drawingml/2006/main">
              <a:ext uri="{FF2B5EF4-FFF2-40B4-BE49-F238E27FC236}">
                <a16:creationId xmlns:a16="http://schemas.microsoft.com/office/drawing/2014/main" id="{7C96CBAE-A29B-43FD-8805-9493D18F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381125"/>
            <a:ext cx="7505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49" name="reuse-title">
            <a:extLst xmlns:a="http://schemas.openxmlformats.org/drawingml/2006/main">
              <a:ext uri="{FF2B5EF4-FFF2-40B4-BE49-F238E27FC236}">
                <a16:creationId xmlns:a16="http://schemas.microsoft.com/office/drawing/2014/main" id="{B0BEAE37-A159-468F-8942-AFC270F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409700"/>
            <a:ext cx="716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③ 复用当前 OpenNPUX 后端与硬件栈</a:t>
            </a:r>
          </a:p>
        </p:txBody>
      </p:sp>
      <p:sp>
        <p:nvSpPr>
          <p:cNvPr id="50" name="backend-ir">
            <a:extLst xmlns:a="http://schemas.openxmlformats.org/drawingml/2006/main">
              <a:ext uri="{FF2B5EF4-FFF2-40B4-BE49-F238E27FC236}">
                <a16:creationId xmlns:a16="http://schemas.microsoft.com/office/drawing/2014/main" id="{C13E7095-3F0A-4577-9DB5-E3D55E7F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240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51" name="backend-ir-title">
            <a:extLst xmlns:a="http://schemas.openxmlformats.org/drawingml/2006/main">
              <a:ext uri="{FF2B5EF4-FFF2-40B4-BE49-F238E27FC236}">
                <a16:creationId xmlns:a16="http://schemas.microsoft.com/office/drawing/2014/main" id="{94D48DE3-E6B3-4A8D-83AF-A57FF3CB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716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8B57"/>
                </a:solidFill>
              </a:defRPr>
            </a:pPr>
            <a:r>
              <a:rPr sz="1275" b="1">
                <a:solidFill>
                  <a:srgbClr val="168B57"/>
                </a:solidFill>
              </a:rPr>
              <a:t>OpenNPUX Backend IR</a:t>
            </a:r>
          </a:p>
        </p:txBody>
      </p:sp>
      <p:sp>
        <p:nvSpPr>
          <p:cNvPr id="52" name="backend-ir-detail">
            <a:extLst xmlns:a="http://schemas.openxmlformats.org/drawingml/2006/main">
              <a:ext uri="{FF2B5EF4-FFF2-40B4-BE49-F238E27FC236}">
                <a16:creationId xmlns:a16="http://schemas.microsoft.com/office/drawing/2014/main" id="{05FFCE3E-AF78-48AB-8343-92EC3A1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002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模型无关 Graph / Module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Tensor、state、依赖和属性</a:t>
            </a:r>
          </a:p>
        </p:txBody>
      </p:sp>
      <p:sp>
        <p:nvSpPr>
          <p:cNvPr id="53" name="r-a0">
            <a:extLst xmlns:a="http://schemas.openxmlformats.org/drawingml/2006/main">
              <a:ext uri="{FF2B5EF4-FFF2-40B4-BE49-F238E27FC236}">
                <a16:creationId xmlns:a16="http://schemas.microsoft.com/office/drawing/2014/main" id="{0DC811BC-02F8-417E-86BE-733C1DB5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22288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54" name="lower">
            <a:extLst xmlns:a="http://schemas.openxmlformats.org/drawingml/2006/main">
              <a:ext uri="{FF2B5EF4-FFF2-40B4-BE49-F238E27FC236}">
                <a16:creationId xmlns:a16="http://schemas.microsoft.com/office/drawing/2014/main" id="{EC4439AB-13F2-49BE-BCBD-035C2031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19240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55" name="lower-title">
            <a:extLst xmlns:a="http://schemas.openxmlformats.org/drawingml/2006/main">
              <a:ext uri="{FF2B5EF4-FFF2-40B4-BE49-F238E27FC236}">
                <a16:creationId xmlns:a16="http://schemas.microsoft.com/office/drawing/2014/main" id="{432F6E08-1E45-47EC-918A-9FF796A6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19716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8B57"/>
                </a:solidFill>
              </a:defRPr>
            </a:pPr>
            <a:r>
              <a:rPr sz="1275" b="1">
                <a:solidFill>
                  <a:srgbClr val="168B57"/>
                </a:solidFill>
              </a:rPr>
              <a:t>通用 Lowering / Tiler</a:t>
            </a:r>
          </a:p>
        </p:txBody>
      </p:sp>
      <p:sp>
        <p:nvSpPr>
          <p:cNvPr id="56" name="lower-detail">
            <a:extLst xmlns:a="http://schemas.openxmlformats.org/drawingml/2006/main">
              <a:ext uri="{FF2B5EF4-FFF2-40B4-BE49-F238E27FC236}">
                <a16:creationId xmlns:a16="http://schemas.microsoft.com/office/drawing/2014/main" id="{87DE781F-9B7F-49CD-B343-F717EA7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22002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算子 → XOpenNPUX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Tile / stride / tail / scratch</a:t>
            </a:r>
          </a:p>
        </p:txBody>
      </p:sp>
      <p:sp>
        <p:nvSpPr>
          <p:cNvPr id="57" name="r-a1">
            <a:extLst xmlns:a="http://schemas.openxmlformats.org/drawingml/2006/main">
              <a:ext uri="{FF2B5EF4-FFF2-40B4-BE49-F238E27FC236}">
                <a16:creationId xmlns:a16="http://schemas.microsoft.com/office/drawing/2014/main" id="{9D76F22B-C1AE-4CC7-B18C-15D69966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22288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58" name="artifact">
            <a:extLst xmlns:a="http://schemas.openxmlformats.org/drawingml/2006/main">
              <a:ext uri="{FF2B5EF4-FFF2-40B4-BE49-F238E27FC236}">
                <a16:creationId xmlns:a16="http://schemas.microsoft.com/office/drawing/2014/main" id="{8E779FD8-34F0-44D4-9D5F-5A71B4AA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924050"/>
            <a:ext cx="2038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59" name="artifact-title">
            <a:extLst xmlns:a="http://schemas.openxmlformats.org/drawingml/2006/main">
              <a:ext uri="{FF2B5EF4-FFF2-40B4-BE49-F238E27FC236}">
                <a16:creationId xmlns:a16="http://schemas.microsoft.com/office/drawing/2014/main" id="{84056656-F120-458F-AF70-4139189B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19716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8B57"/>
                </a:solidFill>
              </a:defRPr>
            </a:pPr>
            <a:r>
              <a:rPr sz="1275" b="1">
                <a:solidFill>
                  <a:srgbClr val="168B57"/>
                </a:solidFill>
              </a:rPr>
              <a:t>编译产物</a:t>
            </a:r>
          </a:p>
        </p:txBody>
      </p:sp>
      <p:sp>
        <p:nvSpPr>
          <p:cNvPr id="60" name="artifact-detail">
            <a:extLst xmlns:a="http://schemas.openxmlformats.org/drawingml/2006/main">
              <a:ext uri="{FF2B5EF4-FFF2-40B4-BE49-F238E27FC236}">
                <a16:creationId xmlns:a16="http://schemas.microsoft.com/office/drawing/2014/main" id="{1B572639-F923-4C92-8BEF-E25C2CB9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22002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.npxg / .npxgm / .npxmi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21354D"/>
                </a:solidFill>
              </a:defRPr>
            </a:pPr>
            <a:r>
              <a:rPr sz="1050" b="0">
                <a:solidFill>
                  <a:srgbClr val="21354D"/>
                </a:solidFill>
              </a:rPr>
              <a:t>arena / constants / state</a:t>
            </a:r>
          </a:p>
        </p:txBody>
      </p:sp>
      <p:sp>
        <p:nvSpPr>
          <p:cNvPr id="61" name="r-d">
            <a:extLst xmlns:a="http://schemas.openxmlformats.org/drawingml/2006/main">
              <a:ext uri="{FF2B5EF4-FFF2-40B4-BE49-F238E27FC236}">
                <a16:creationId xmlns:a16="http://schemas.microsoft.com/office/drawing/2014/main" id="{6AB5D2D1-6A5A-4B08-AE84-0F44E5A3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2800350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62" name="runtime">
            <a:extLst xmlns:a="http://schemas.openxmlformats.org/drawingml/2006/main">
              <a:ext uri="{FF2B5EF4-FFF2-40B4-BE49-F238E27FC236}">
                <a16:creationId xmlns:a16="http://schemas.microsoft.com/office/drawing/2014/main" id="{5BF2C9DB-3618-4FF8-9C06-A196326F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81350"/>
            <a:ext cx="6972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63" name="runtime-title">
            <a:extLst xmlns:a="http://schemas.openxmlformats.org/drawingml/2006/main">
              <a:ext uri="{FF2B5EF4-FFF2-40B4-BE49-F238E27FC236}">
                <a16:creationId xmlns:a16="http://schemas.microsoft.com/office/drawing/2014/main" id="{46118152-E159-44DF-969B-8521F71D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28975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68B57"/>
                </a:solidFill>
              </a:defRPr>
            </a:pPr>
            <a:r>
              <a:rPr sz="1350" b="1">
                <a:solidFill>
                  <a:srgbClr val="168B57"/>
                </a:solidFill>
              </a:rPr>
              <a:t>Module Runtime + Driver ABI</a:t>
            </a:r>
          </a:p>
        </p:txBody>
      </p:sp>
      <p:sp>
        <p:nvSpPr>
          <p:cNvPr id="64" name="runtime-detail">
            <a:extLst xmlns:a="http://schemas.openxmlformats.org/drawingml/2006/main">
              <a:ext uri="{FF2B5EF4-FFF2-40B4-BE49-F238E27FC236}">
                <a16:creationId xmlns:a16="http://schemas.microsoft.com/office/drawing/2014/main" id="{C8E435E3-57A5-4B0A-84CD-6091EF3C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57575"/>
            <a:ext cx="678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load → identity 校验 → invocation bind → shared DMA → submit/wait/completion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复用 package、storage/state、coralctl、kernel driver 与设备 ABI</a:t>
            </a:r>
          </a:p>
        </p:txBody>
      </p:sp>
      <p:sp>
        <p:nvSpPr>
          <p:cNvPr id="65" name="r-d2">
            <a:extLst xmlns:a="http://schemas.openxmlformats.org/drawingml/2006/main">
              <a:ext uri="{FF2B5EF4-FFF2-40B4-BE49-F238E27FC236}">
                <a16:creationId xmlns:a16="http://schemas.microsoft.com/office/drawing/2014/main" id="{FEAA144A-A324-41F4-8B0F-8FC7F879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095750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66" name="hardware">
            <a:extLst xmlns:a="http://schemas.openxmlformats.org/drawingml/2006/main">
              <a:ext uri="{FF2B5EF4-FFF2-40B4-BE49-F238E27FC236}">
                <a16:creationId xmlns:a16="http://schemas.microsoft.com/office/drawing/2014/main" id="{23EC4F70-34F7-4FD8-A88E-7D6F9F77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67225"/>
            <a:ext cx="6972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BF2"/>
          </a:solidFill>
          <a:ln xmlns:a="http://schemas.openxmlformats.org/drawingml/2006/main" w="14288">
            <a:solidFill>
              <a:srgbClr val="D81B60"/>
            </a:solidFill>
            <a:prstDash val="solid"/>
          </a:ln>
        </p:spPr>
      </p:sp>
      <p:sp>
        <p:nvSpPr>
          <p:cNvPr id="67" name="hardware-title">
            <a:extLst xmlns:a="http://schemas.openxmlformats.org/drawingml/2006/main">
              <a:ext uri="{FF2B5EF4-FFF2-40B4-BE49-F238E27FC236}">
                <a16:creationId xmlns:a16="http://schemas.microsoft.com/office/drawing/2014/main" id="{B3241E2F-0607-4B5C-A92C-E783BA6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14850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1B60"/>
                </a:solidFill>
              </a:defRPr>
            </a:pPr>
            <a:r>
              <a:rPr sz="1350" b="1">
                <a:solidFill>
                  <a:srgbClr val="D81B60"/>
                </a:solidFill>
              </a:rPr>
              <a:t>Coral Controller + NPU</a:t>
            </a:r>
          </a:p>
        </p:txBody>
      </p:sp>
      <p:sp>
        <p:nvSpPr>
          <p:cNvPr id="68" name="hardware-detail">
            <a:extLst xmlns:a="http://schemas.openxmlformats.org/drawingml/2006/main">
              <a:ext uri="{FF2B5EF4-FFF2-40B4-BE49-F238E27FC236}">
                <a16:creationId xmlns:a16="http://schemas.microsoft.com/office/drawing/2014/main" id="{8EEFBEE2-D958-43AE-ADCE-A4B17D87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43450"/>
            <a:ext cx="678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RV32 一级译码 → XOpenNPUX 二级译码 → DAG/依赖调度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TDMA / TMMA / Vector / SFU：C++ 功能模型逐步替换 RTL</a:t>
            </a:r>
          </a:p>
        </p:txBody>
      </p:sp>
      <p:sp>
        <p:nvSpPr>
          <p:cNvPr id="69" name="reuse-label">
            <a:extLst xmlns:a="http://schemas.openxmlformats.org/drawingml/2006/main">
              <a:ext uri="{FF2B5EF4-FFF2-40B4-BE49-F238E27FC236}">
                <a16:creationId xmlns:a16="http://schemas.microsoft.com/office/drawing/2014/main" id="{2C218638-C75D-4FD7-B57A-358FB65E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24500"/>
            <a:ext cx="6972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70" name="reuse-label-t">
            <a:extLst xmlns:a="http://schemas.openxmlformats.org/drawingml/2006/main">
              <a:ext uri="{FF2B5EF4-FFF2-40B4-BE49-F238E27FC236}">
                <a16:creationId xmlns:a16="http://schemas.microsoft.com/office/drawing/2014/main" id="{C2C9FD74-EB84-4AEF-A887-2AB3FEF9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81650"/>
            <a:ext cx="659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8B57"/>
                </a:solidFill>
              </a:defRPr>
            </a:pPr>
            <a:r>
              <a:rPr sz="1200" b="1">
                <a:solidFill>
                  <a:srgbClr val="168B57"/>
                </a:solidFill>
              </a:rPr>
              <a:t>真正需要重写的是 MAX 上方适配，不是设备 ISA、XGraph lowering、驱动和 NPU Pipe。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68B57"/>
                </a:solidFill>
              </a:defRPr>
            </a:pPr>
            <a:r>
              <a:rPr sz="1200" b="1">
                <a:solidFill>
                  <a:srgbClr val="168B57"/>
                </a:solidFill>
              </a:rPr>
              <a:t>建议保持 OpenNPUX Backend IR 为 TVM 与 MAX 两条前端的共同收敛点。</a:t>
            </a:r>
          </a:p>
        </p:txBody>
      </p:sp>
      <p:sp>
        <p:nvSpPr>
          <p:cNvPr id="71" name="max-gap">
            <a:extLst xmlns:a="http://schemas.openxmlformats.org/drawingml/2006/main">
              <a:ext uri="{FF2B5EF4-FFF2-40B4-BE49-F238E27FC236}">
                <a16:creationId xmlns:a16="http://schemas.microsoft.com/office/drawing/2014/main" id="{CDF1783B-0FB9-4542-95B4-E7443AE5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72" name="gap-reuse">
            <a:extLst xmlns:a="http://schemas.openxmlformats.org/drawingml/2006/main">
              <a:ext uri="{FF2B5EF4-FFF2-40B4-BE49-F238E27FC236}">
                <a16:creationId xmlns:a16="http://schemas.microsoft.com/office/drawing/2014/main" id="{4DFCC618-A4BE-4A27-9113-89489E67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3380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73" name="e2e">
            <a:extLst xmlns:a="http://schemas.openxmlformats.org/drawingml/2006/main">
              <a:ext uri="{FF2B5EF4-FFF2-40B4-BE49-F238E27FC236}">
                <a16:creationId xmlns:a16="http://schemas.microsoft.com/office/drawing/2014/main" id="{12B7A643-77E2-4439-A668-E8D80223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10350"/>
            <a:ext cx="175450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19050">
            <a:solidFill>
              <a:srgbClr val="173F67"/>
            </a:solidFill>
            <a:prstDash val="solid"/>
          </a:ln>
        </p:spPr>
      </p:sp>
      <p:sp>
        <p:nvSpPr>
          <p:cNvPr id="74" name="e2e-head">
            <a:extLst xmlns:a="http://schemas.openxmlformats.org/drawingml/2006/main">
              <a:ext uri="{FF2B5EF4-FFF2-40B4-BE49-F238E27FC236}">
                <a16:creationId xmlns:a16="http://schemas.microsoft.com/office/drawing/2014/main" id="{E2411097-1816-4EFD-B22C-E64E5690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610350"/>
            <a:ext cx="17545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3F67"/>
          </a:solidFill>
          <a:ln xmlns:a="http://schemas.openxmlformats.org/drawingml/2006/main" w="0">
            <a:solidFill>
              <a:srgbClr val="173F67"/>
            </a:solidFill>
            <a:prstDash val="solid"/>
          </a:ln>
        </p:spPr>
      </p:sp>
      <p:sp>
        <p:nvSpPr>
          <p:cNvPr id="75" name="e2e-title">
            <a:extLst xmlns:a="http://schemas.openxmlformats.org/drawingml/2006/main">
              <a:ext uri="{FF2B5EF4-FFF2-40B4-BE49-F238E27FC236}">
                <a16:creationId xmlns:a16="http://schemas.microsoft.com/office/drawing/2014/main" id="{7E1F59BC-5F26-464B-B645-B9FB3754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38925"/>
            <a:ext cx="1720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④ Mojo/MAX 端到端跑通流程</a:t>
            </a:r>
          </a:p>
        </p:txBody>
      </p:sp>
      <p:sp>
        <p:nvSpPr>
          <p:cNvPr id="76" name="run-0">
            <a:extLst xmlns:a="http://schemas.openxmlformats.org/drawingml/2006/main">
              <a:ext uri="{FF2B5EF4-FFF2-40B4-BE49-F238E27FC236}">
                <a16:creationId xmlns:a16="http://schemas.microsoft.com/office/drawing/2014/main" id="{105DEDFA-168B-4E5F-AD42-FC6A1AF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362825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77" name="run-0-title">
            <a:extLst xmlns:a="http://schemas.openxmlformats.org/drawingml/2006/main">
              <a:ext uri="{FF2B5EF4-FFF2-40B4-BE49-F238E27FC236}">
                <a16:creationId xmlns:a16="http://schemas.microsoft.com/office/drawing/2014/main" id="{EDF88AC3-D5F3-4890-9DBC-D9C06832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104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69B0"/>
                </a:solidFill>
              </a:defRPr>
            </a:pPr>
            <a:r>
              <a:rPr sz="1200" b="1">
                <a:solidFill>
                  <a:srgbClr val="1769B0"/>
                </a:solidFill>
              </a:rPr>
              <a:t>CPU 应用</a:t>
            </a:r>
          </a:p>
        </p:txBody>
      </p:sp>
      <p:sp>
        <p:nvSpPr>
          <p:cNvPr id="78" name="run-0-detail">
            <a:extLst xmlns:a="http://schemas.openxmlformats.org/drawingml/2006/main">
              <a:ext uri="{FF2B5EF4-FFF2-40B4-BE49-F238E27FC236}">
                <a16:creationId xmlns:a16="http://schemas.microsoft.com/office/drawing/2014/main" id="{6882AB3E-39EA-425A-B1A7-B64035D6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390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Prompt / tokenizer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动态输入</a:t>
            </a:r>
          </a:p>
        </p:txBody>
      </p:sp>
      <p:sp>
        <p:nvSpPr>
          <p:cNvPr id="79" name="run-a-0">
            <a:extLst xmlns:a="http://schemas.openxmlformats.org/drawingml/2006/main">
              <a:ext uri="{FF2B5EF4-FFF2-40B4-BE49-F238E27FC236}">
                <a16:creationId xmlns:a16="http://schemas.microsoft.com/office/drawing/2014/main" id="{4EC2D6BB-44FC-48B1-A52B-40B2F49F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7152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80" name="run-1">
            <a:extLst xmlns:a="http://schemas.openxmlformats.org/drawingml/2006/main">
              <a:ext uri="{FF2B5EF4-FFF2-40B4-BE49-F238E27FC236}">
                <a16:creationId xmlns:a16="http://schemas.microsoft.com/office/drawing/2014/main" id="{9AA34CE6-D3E1-4AD6-B470-CF5C1A01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7362825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81" name="run-1-title">
            <a:extLst xmlns:a="http://schemas.openxmlformats.org/drawingml/2006/main">
              <a:ext uri="{FF2B5EF4-FFF2-40B4-BE49-F238E27FC236}">
                <a16:creationId xmlns:a16="http://schemas.microsoft.com/office/drawing/2014/main" id="{7191B8C7-625E-4024-A96A-BD291A7C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4104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69B0"/>
                </a:solidFill>
              </a:defRPr>
            </a:pPr>
            <a:r>
              <a:rPr sz="1200" b="1">
                <a:solidFill>
                  <a:srgbClr val="1769B0"/>
                </a:solidFill>
              </a:rPr>
              <a:t>MAX Engine</a:t>
            </a:r>
          </a:p>
        </p:txBody>
      </p:sp>
      <p:sp>
        <p:nvSpPr>
          <p:cNvPr id="82" name="run-1-detail">
            <a:extLst xmlns:a="http://schemas.openxmlformats.org/drawingml/2006/main">
              <a:ext uri="{FF2B5EF4-FFF2-40B4-BE49-F238E27FC236}">
                <a16:creationId xmlns:a16="http://schemas.microsoft.com/office/drawing/2014/main" id="{564A19AD-4E4A-44D0-9193-EA5F4027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76390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模型加载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Prefill / Decode</a:t>
            </a:r>
          </a:p>
        </p:txBody>
      </p:sp>
      <p:sp>
        <p:nvSpPr>
          <p:cNvPr id="83" name="run-a-1">
            <a:extLst xmlns:a="http://schemas.openxmlformats.org/drawingml/2006/main">
              <a:ext uri="{FF2B5EF4-FFF2-40B4-BE49-F238E27FC236}">
                <a16:creationId xmlns:a16="http://schemas.microsoft.com/office/drawing/2014/main" id="{37880F38-B014-4772-A851-8DE99321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7152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84" name="run-2">
            <a:extLst xmlns:a="http://schemas.openxmlformats.org/drawingml/2006/main">
              <a:ext uri="{FF2B5EF4-FFF2-40B4-BE49-F238E27FC236}">
                <a16:creationId xmlns:a16="http://schemas.microsoft.com/office/drawing/2014/main" id="{08CF5A54-43DE-418D-85A5-C2F9C884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362825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85" name="run-2-title">
            <a:extLst xmlns:a="http://schemas.openxmlformats.org/drawingml/2006/main">
              <a:ext uri="{FF2B5EF4-FFF2-40B4-BE49-F238E27FC236}">
                <a16:creationId xmlns:a16="http://schemas.microsoft.com/office/drawing/2014/main" id="{DBD4B917-3E18-4A74-9F79-E215C3F5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4104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56B2F"/>
                </a:solidFill>
              </a:defRPr>
            </a:pPr>
            <a:r>
              <a:rPr sz="1200" b="1">
                <a:solidFill>
                  <a:srgbClr val="E56B2F"/>
                </a:solidFill>
              </a:rPr>
              <a:t>OpenNPUX Device Adapter</a:t>
            </a:r>
          </a:p>
        </p:txBody>
      </p:sp>
      <p:sp>
        <p:nvSpPr>
          <p:cNvPr id="86" name="run-2-detail">
            <a:extLst xmlns:a="http://schemas.openxmlformats.org/drawingml/2006/main">
              <a:ext uri="{FF2B5EF4-FFF2-40B4-BE49-F238E27FC236}">
                <a16:creationId xmlns:a16="http://schemas.microsoft.com/office/drawing/2014/main" id="{0B38E8E8-1EA0-4FA3-8CB7-F6393D41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6390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Placement 后 region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调用后端 API</a:t>
            </a:r>
          </a:p>
        </p:txBody>
      </p:sp>
      <p:sp>
        <p:nvSpPr>
          <p:cNvPr id="87" name="run-a-2">
            <a:extLst xmlns:a="http://schemas.openxmlformats.org/drawingml/2006/main">
              <a:ext uri="{FF2B5EF4-FFF2-40B4-BE49-F238E27FC236}">
                <a16:creationId xmlns:a16="http://schemas.microsoft.com/office/drawing/2014/main" id="{03FFD78B-836E-4B89-86B1-2CC5FC24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7152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88" name="run-3">
            <a:extLst xmlns:a="http://schemas.openxmlformats.org/drawingml/2006/main">
              <a:ext uri="{FF2B5EF4-FFF2-40B4-BE49-F238E27FC236}">
                <a16:creationId xmlns:a16="http://schemas.microsoft.com/office/drawing/2014/main" id="{BF0169F1-F485-4894-965C-F9D463B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7362825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89" name="run-3-title">
            <a:extLst xmlns:a="http://schemas.openxmlformats.org/drawingml/2006/main">
              <a:ext uri="{FF2B5EF4-FFF2-40B4-BE49-F238E27FC236}">
                <a16:creationId xmlns:a16="http://schemas.microsoft.com/office/drawing/2014/main" id="{9CE3D69B-BD89-4DC1-8055-533A2DEE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4104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56B2F"/>
                </a:solidFill>
              </a:defRPr>
            </a:pPr>
            <a:r>
              <a:rPr sz="1200" b="1">
                <a:solidFill>
                  <a:srgbClr val="E56B2F"/>
                </a:solidFill>
              </a:rPr>
              <a:t>Module Runtime</a:t>
            </a:r>
          </a:p>
        </p:txBody>
      </p:sp>
      <p:sp>
        <p:nvSpPr>
          <p:cNvPr id="90" name="run-3-detail">
            <a:extLst xmlns:a="http://schemas.openxmlformats.org/drawingml/2006/main">
              <a:ext uri="{FF2B5EF4-FFF2-40B4-BE49-F238E27FC236}">
                <a16:creationId xmlns:a16="http://schemas.microsoft.com/office/drawing/2014/main" id="{759D3D49-46A2-43FE-810E-7A6DCF0B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76390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加载 artifact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绑定 Tensor / KV state</a:t>
            </a:r>
          </a:p>
        </p:txBody>
      </p:sp>
      <p:sp>
        <p:nvSpPr>
          <p:cNvPr id="91" name="run-a-3">
            <a:extLst xmlns:a="http://schemas.openxmlformats.org/drawingml/2006/main">
              <a:ext uri="{FF2B5EF4-FFF2-40B4-BE49-F238E27FC236}">
                <a16:creationId xmlns:a16="http://schemas.microsoft.com/office/drawing/2014/main" id="{273ABC76-2A59-4DEA-97BC-D66F3757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7152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92" name="run-4">
            <a:extLst xmlns:a="http://schemas.openxmlformats.org/drawingml/2006/main">
              <a:ext uri="{FF2B5EF4-FFF2-40B4-BE49-F238E27FC236}">
                <a16:creationId xmlns:a16="http://schemas.microsoft.com/office/drawing/2014/main" id="{DAA61A35-18DD-446E-A6CD-CABB0356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362825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4288">
            <a:solidFill>
              <a:srgbClr val="F2C94C"/>
            </a:solidFill>
            <a:prstDash val="solid"/>
          </a:ln>
        </p:spPr>
      </p:sp>
      <p:sp>
        <p:nvSpPr>
          <p:cNvPr id="93" name="run-4-title">
            <a:extLst xmlns:a="http://schemas.openxmlformats.org/drawingml/2006/main">
              <a:ext uri="{FF2B5EF4-FFF2-40B4-BE49-F238E27FC236}">
                <a16:creationId xmlns:a16="http://schemas.microsoft.com/office/drawing/2014/main" id="{64C2BF1B-2898-4478-B7FF-7D406B47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4104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2C94C"/>
                </a:solidFill>
              </a:defRPr>
            </a:pPr>
            <a:r>
              <a:rPr sz="1200" b="1">
                <a:solidFill>
                  <a:srgbClr val="F2C94C"/>
                </a:solidFill>
              </a:rPr>
              <a:t>Driver + Shared DMA</a:t>
            </a:r>
          </a:p>
        </p:txBody>
      </p:sp>
      <p:sp>
        <p:nvSpPr>
          <p:cNvPr id="94" name="run-4-detail">
            <a:extLst xmlns:a="http://schemas.openxmlformats.org/drawingml/2006/main">
              <a:ext uri="{FF2B5EF4-FFF2-40B4-BE49-F238E27FC236}">
                <a16:creationId xmlns:a16="http://schemas.microsoft.com/office/drawing/2014/main" id="{24B6BB59-3648-44B9-8DAF-2755BC46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6390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command / weight / state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doorbell + completion</a:t>
            </a:r>
          </a:p>
        </p:txBody>
      </p:sp>
      <p:sp>
        <p:nvSpPr>
          <p:cNvPr id="95" name="run-a-4">
            <a:extLst xmlns:a="http://schemas.openxmlformats.org/drawingml/2006/main">
              <a:ext uri="{FF2B5EF4-FFF2-40B4-BE49-F238E27FC236}">
                <a16:creationId xmlns:a16="http://schemas.microsoft.com/office/drawing/2014/main" id="{9C411ECD-8AEA-4013-B34D-580793FF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77152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96" name="run-5">
            <a:extLst xmlns:a="http://schemas.openxmlformats.org/drawingml/2006/main">
              <a:ext uri="{FF2B5EF4-FFF2-40B4-BE49-F238E27FC236}">
                <a16:creationId xmlns:a16="http://schemas.microsoft.com/office/drawing/2014/main" id="{5756CFAE-BAF9-411D-A525-19FF1B67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7362825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BF2"/>
          </a:solidFill>
          <a:ln xmlns:a="http://schemas.openxmlformats.org/drawingml/2006/main" w="14288">
            <a:solidFill>
              <a:srgbClr val="D81B60"/>
            </a:solidFill>
            <a:prstDash val="solid"/>
          </a:ln>
        </p:spPr>
      </p:sp>
      <p:sp>
        <p:nvSpPr>
          <p:cNvPr id="97" name="run-5-title">
            <a:extLst xmlns:a="http://schemas.openxmlformats.org/drawingml/2006/main">
              <a:ext uri="{FF2B5EF4-FFF2-40B4-BE49-F238E27FC236}">
                <a16:creationId xmlns:a16="http://schemas.microsoft.com/office/drawing/2014/main" id="{7AD724ED-AFC9-4924-BA41-B2366D3E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4104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81B60"/>
                </a:solidFill>
              </a:defRPr>
            </a:pPr>
            <a:r>
              <a:rPr sz="1200" b="1">
                <a:solidFill>
                  <a:srgbClr val="D81B60"/>
                </a:solidFill>
              </a:rPr>
              <a:t>Coral + NPU Frontend</a:t>
            </a:r>
          </a:p>
        </p:txBody>
      </p:sp>
      <p:sp>
        <p:nvSpPr>
          <p:cNvPr id="98" name="run-5-detail">
            <a:extLst xmlns:a="http://schemas.openxmlformats.org/drawingml/2006/main">
              <a:ext uri="{FF2B5EF4-FFF2-40B4-BE49-F238E27FC236}">
                <a16:creationId xmlns:a16="http://schemas.microsoft.com/office/drawing/2014/main" id="{272D10AB-AB98-4F0E-85A2-B4D9BD57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6390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L1/L2 decode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DAG / dependency</a:t>
            </a:r>
          </a:p>
        </p:txBody>
      </p:sp>
      <p:sp>
        <p:nvSpPr>
          <p:cNvPr id="99" name="run-a-5">
            <a:extLst xmlns:a="http://schemas.openxmlformats.org/drawingml/2006/main">
              <a:ext uri="{FF2B5EF4-FFF2-40B4-BE49-F238E27FC236}">
                <a16:creationId xmlns:a16="http://schemas.microsoft.com/office/drawing/2014/main" id="{B459536C-2094-41A2-AC0E-87C85000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7152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00" name="run-6">
            <a:extLst xmlns:a="http://schemas.openxmlformats.org/drawingml/2006/main">
              <a:ext uri="{FF2B5EF4-FFF2-40B4-BE49-F238E27FC236}">
                <a16:creationId xmlns:a16="http://schemas.microsoft.com/office/drawing/2014/main" id="{D551B0EE-1BBD-4857-A557-A971D3EE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7362825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BF2"/>
          </a:solidFill>
          <a:ln xmlns:a="http://schemas.openxmlformats.org/drawingml/2006/main" w="14288">
            <a:solidFill>
              <a:srgbClr val="D81B60"/>
            </a:solidFill>
            <a:prstDash val="solid"/>
          </a:ln>
        </p:spPr>
      </p:sp>
      <p:sp>
        <p:nvSpPr>
          <p:cNvPr id="101" name="run-6-title">
            <a:extLst xmlns:a="http://schemas.openxmlformats.org/drawingml/2006/main">
              <a:ext uri="{FF2B5EF4-FFF2-40B4-BE49-F238E27FC236}">
                <a16:creationId xmlns:a16="http://schemas.microsoft.com/office/drawing/2014/main" id="{82791160-F228-4A78-A6A4-D35D9B8C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4104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81B60"/>
                </a:solidFill>
              </a:defRPr>
            </a:pPr>
            <a:r>
              <a:rPr sz="1200" b="1">
                <a:solidFill>
                  <a:srgbClr val="D81B60"/>
                </a:solidFill>
              </a:rPr>
              <a:t>NPU Execution Pipe</a:t>
            </a:r>
          </a:p>
        </p:txBody>
      </p:sp>
      <p:sp>
        <p:nvSpPr>
          <p:cNvPr id="102" name="run-6-detail">
            <a:extLst xmlns:a="http://schemas.openxmlformats.org/drawingml/2006/main">
              <a:ext uri="{FF2B5EF4-FFF2-40B4-BE49-F238E27FC236}">
                <a16:creationId xmlns:a16="http://schemas.microsoft.com/office/drawing/2014/main" id="{DC6CAC9E-EA91-4BAB-8509-CF522C16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6390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XOpenNPUX commands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C++ Modeling → RTL</a:t>
            </a:r>
          </a:p>
        </p:txBody>
      </p:sp>
      <p:sp>
        <p:nvSpPr>
          <p:cNvPr id="103" name="run-a-6">
            <a:extLst xmlns:a="http://schemas.openxmlformats.org/drawingml/2006/main">
              <a:ext uri="{FF2B5EF4-FFF2-40B4-BE49-F238E27FC236}">
                <a16:creationId xmlns:a16="http://schemas.microsoft.com/office/drawing/2014/main" id="{890C9B86-81ED-479C-9E0E-5D7736D6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77152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04" name="run-7">
            <a:extLst xmlns:a="http://schemas.openxmlformats.org/drawingml/2006/main">
              <a:ext uri="{FF2B5EF4-FFF2-40B4-BE49-F238E27FC236}">
                <a16:creationId xmlns:a16="http://schemas.microsoft.com/office/drawing/2014/main" id="{30E54FF1-B083-4659-B9D0-708DCE17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7362825"/>
            <a:ext cx="18859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105" name="run-7-title">
            <a:extLst xmlns:a="http://schemas.openxmlformats.org/drawingml/2006/main">
              <a:ext uri="{FF2B5EF4-FFF2-40B4-BE49-F238E27FC236}">
                <a16:creationId xmlns:a16="http://schemas.microsoft.com/office/drawing/2014/main" id="{8D441053-67A9-49C8-AEA8-20B75985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74104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68B57"/>
                </a:solidFill>
              </a:defRPr>
            </a:pPr>
            <a:r>
              <a:rPr sz="1200" b="1">
                <a:solidFill>
                  <a:srgbClr val="168B57"/>
                </a:solidFill>
              </a:rPr>
              <a:t>CPU Result</a:t>
            </a:r>
          </a:p>
        </p:txBody>
      </p:sp>
      <p:sp>
        <p:nvSpPr>
          <p:cNvPr id="106" name="run-7-detail">
            <a:extLst xmlns:a="http://schemas.openxmlformats.org/drawingml/2006/main">
              <a:ext uri="{FF2B5EF4-FFF2-40B4-BE49-F238E27FC236}">
                <a16:creationId xmlns:a16="http://schemas.microsoft.com/office/drawing/2014/main" id="{A4EB9728-A4F0-463A-BC06-30FEED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7639050"/>
            <a:ext cx="1695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Token ID → text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下一次 decode</a:t>
            </a:r>
          </a:p>
        </p:txBody>
      </p:sp>
      <p:sp>
        <p:nvSpPr>
          <p:cNvPr id="107" name="control">
            <a:extLst xmlns:a="http://schemas.openxmlformats.org/drawingml/2006/main">
              <a:ext uri="{FF2B5EF4-FFF2-40B4-BE49-F238E27FC236}">
                <a16:creationId xmlns:a16="http://schemas.microsoft.com/office/drawing/2014/main" id="{DF8D227F-9BE1-40ED-A17B-FAA2E3EA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486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6B2F"/>
                </a:solidFill>
              </a:defRPr>
            </a:pPr>
            <a:r>
              <a:rPr sz="1125" b="1">
                <a:solidFill>
                  <a:srgbClr val="E56B2F"/>
                </a:solidFill>
              </a:rPr>
              <a:t>控制流：MAX Graph compile → placement/partition → OpenNPUX codegen → Engine 调用 Device Adapter → submit/completion</a:t>
            </a:r>
          </a:p>
        </p:txBody>
      </p:sp>
      <p:sp>
        <p:nvSpPr>
          <p:cNvPr id="108" name="data">
            <a:extLst xmlns:a="http://schemas.openxmlformats.org/drawingml/2006/main">
              <a:ext uri="{FF2B5EF4-FFF2-40B4-BE49-F238E27FC236}">
                <a16:creationId xmlns:a16="http://schemas.microsoft.com/office/drawing/2014/main" id="{CB1AE3F2-4BB3-4F80-8F28-E868C80B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4486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363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769B0"/>
                </a:solidFill>
              </a:defRPr>
            </a:pPr>
            <a:r>
              <a:rPr sz="1125" b="1">
                <a:solidFill>
                  <a:srgbClr val="1769B0"/>
                </a:solidFill>
              </a:rPr>
              <a:t>数据流：CPU Tensor / weights → shared memory → NPU local state；Token 与更新后的 KV/state 返回 MAX Engine</a:t>
            </a:r>
          </a:p>
        </p:txBody>
      </p:sp>
      <p:sp>
        <p:nvSpPr>
          <p:cNvPr id="109" name="accept">
            <a:extLst xmlns:a="http://schemas.openxmlformats.org/drawingml/2006/main">
              <a:ext uri="{FF2B5EF4-FFF2-40B4-BE49-F238E27FC236}">
                <a16:creationId xmlns:a16="http://schemas.microsoft.com/office/drawing/2014/main" id="{2CE8FCD9-BD7D-4C7F-808F-270BECA0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05875"/>
            <a:ext cx="17145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BE0"/>
            </a:solidFill>
            <a:prstDash val="solid"/>
          </a:ln>
        </p:spPr>
      </p:sp>
      <p:sp>
        <p:nvSpPr>
          <p:cNvPr id="110" name="accept-t">
            <a:extLst xmlns:a="http://schemas.openxmlformats.org/drawingml/2006/main">
              <a:ext uri="{FF2B5EF4-FFF2-40B4-BE49-F238E27FC236}">
                <a16:creationId xmlns:a16="http://schemas.microsoft.com/office/drawing/2014/main" id="{145EC228-DB03-4287-BD9D-AC1A7AAA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72550"/>
            <a:ext cx="1676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67"/>
                </a:solidFill>
              </a:defRPr>
            </a:pPr>
            <a:r>
              <a:rPr sz="1200" b="1">
                <a:solidFill>
                  <a:srgbClr val="173F67"/>
                </a:solidFill>
              </a:rPr>
              <a:t>端到端验收顺序：① 单 region 编译与执行  ② Host/NPU 混合分区  ③ invocation 重绑定与状态复用  ④ Transformer block  ⑤ Prefill + 多步 Decode  ⑥ 与参考实现逐 Tensor / Token 对齐</a:t>
            </a:r>
          </a:p>
        </p:txBody>
      </p:sp>
      <p:sp>
        <p:nvSpPr>
          <p:cNvPr id="111" name="risk">
            <a:extLst xmlns:a="http://schemas.openxmlformats.org/drawingml/2006/main">
              <a:ext uri="{FF2B5EF4-FFF2-40B4-BE49-F238E27FC236}">
                <a16:creationId xmlns:a16="http://schemas.microsoft.com/office/drawing/2014/main" id="{5CFB9F08-E765-47BD-8778-31F319E7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267825"/>
            <a:ext cx="1676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56B2F"/>
                </a:solidFill>
              </a:defRPr>
            </a:pPr>
            <a:r>
              <a:rPr sz="1125" b="1">
                <a:solidFill>
                  <a:srgbClr val="E56B2F"/>
                </a:solidFill>
              </a:rPr>
              <a:t>主要风险：MAX/Mojo 的模型、编译器和自定义设备扩展接口并不等价于开放 BYOC ABI；实施前必须用 SDK 原型验证 Graph 导出、设备注册、外部代码生成和 Runtime hook 是否可用。</a:t>
            </a:r>
          </a:p>
        </p:txBody>
      </p:sp>
    </p:spTree>
    <p:extLst>
      <p:ext uri="{BB962C8B-B14F-4D97-AF65-F5344CB8AC3E}">
        <p14:creationId xmlns:p14="http://schemas.microsoft.com/office/powerpoint/2010/main" val="196153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title">
            <a:extLst xmlns:a="http://schemas.openxmlformats.org/drawingml/2006/main">
              <a:ext uri="{FF2B5EF4-FFF2-40B4-BE49-F238E27FC236}">
                <a16:creationId xmlns:a16="http://schemas.microsoft.com/office/drawing/2014/main" id="{A12FDCEB-19A4-4A48-80A9-C5441506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1438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9B0"/>
                </a:solidFill>
              </a:defRPr>
            </a:pPr>
            <a:r>
              <a:rPr sz="2925" b="1">
                <a:solidFill>
                  <a:srgbClr val="1769B0"/>
                </a:solidFill>
              </a:rPr>
              <a:t>Qwen3.5-35B 全图编译与端到端正确性结果</a:t>
            </a:r>
          </a:p>
        </p:txBody>
      </p:sp>
      <p:sp>
        <p:nvSpPr>
          <p:cNvPr id="2" name="part">
            <a:extLst xmlns:a="http://schemas.openxmlformats.org/drawingml/2006/main">
              <a:ext uri="{FF2B5EF4-FFF2-40B4-BE49-F238E27FC236}">
                <a16:creationId xmlns:a16="http://schemas.microsoft.com/office/drawing/2014/main" id="{37EACF92-E647-4C16-BCC0-9C16F06B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66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58E"/>
                </a:solidFill>
              </a:defRPr>
            </a:pPr>
            <a:r>
              <a:rPr sz="1050" b="1">
                <a:solidFill>
                  <a:srgbClr val="60758E"/>
                </a:solidFill>
              </a:rPr>
              <a:t>TVM BYOC / XOPENNPUX / GB10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1B612CE-39E9-4F38-823F-5291060D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00100"/>
            <a:ext cx="1754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2C3E0E2A-4AC9-4F11-A73D-1F33D423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729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F67"/>
                </a:solidFill>
              </a:defRPr>
            </a:pPr>
            <a:r>
              <a:rPr sz="1350" b="1">
                <a:solidFill>
                  <a:srgbClr val="173F67"/>
                </a:solidFill>
              </a:rPr>
              <a:t>真实模型已经完成编译、提交、分页、数值推理和 CPU Token 解码闭环；严格正确性通过，RTL 数值替换仍是下一阶段。</a:t>
            </a:r>
          </a:p>
        </p:txBody>
      </p:sp>
      <p:sp>
        <p:nvSpPr>
          <p:cNvPr id="5" name="compile">
            <a:extLst xmlns:a="http://schemas.openxmlformats.org/drawingml/2006/main">
              <a:ext uri="{FF2B5EF4-FFF2-40B4-BE49-F238E27FC236}">
                <a16:creationId xmlns:a16="http://schemas.microsoft.com/office/drawing/2014/main" id="{B40BAA8C-8E9A-40FE-8A34-06CCB2E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175450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9050">
            <a:solidFill>
              <a:srgbClr val="1769B0"/>
            </a:solidFill>
            <a:prstDash val="solid"/>
          </a:ln>
        </p:spPr>
      </p:sp>
      <p:sp>
        <p:nvSpPr>
          <p:cNvPr id="6" name="compile-head">
            <a:extLst xmlns:a="http://schemas.openxmlformats.org/drawingml/2006/main">
              <a:ext uri="{FF2B5EF4-FFF2-40B4-BE49-F238E27FC236}">
                <a16:creationId xmlns:a16="http://schemas.microsoft.com/office/drawing/2014/main" id="{615B251E-552A-4DB9-84FD-B656B75F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28750"/>
            <a:ext cx="17545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9B0"/>
          </a:solidFill>
          <a:ln xmlns:a="http://schemas.openxmlformats.org/drawingml/2006/main" w="0">
            <a:solidFill>
              <a:srgbClr val="1769B0"/>
            </a:solidFill>
            <a:prstDash val="solid"/>
          </a:ln>
        </p:spPr>
      </p:sp>
      <p:sp>
        <p:nvSpPr>
          <p:cNvPr id="7" name="compile-title">
            <a:extLst xmlns:a="http://schemas.openxmlformats.org/drawingml/2006/main">
              <a:ext uri="{FF2B5EF4-FFF2-40B4-BE49-F238E27FC236}">
                <a16:creationId xmlns:a16="http://schemas.microsoft.com/office/drawing/2014/main" id="{5A0CFFCE-5C9D-43FF-9CD9-73531FEE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720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① 编译链：模型级执行图收敛到通用 XOpenNPUX 后端</a:t>
            </a:r>
          </a:p>
        </p:txBody>
      </p:sp>
      <p:sp>
        <p:nvSpPr>
          <p:cNvPr id="8" name="compile-0">
            <a:extLst xmlns:a="http://schemas.openxmlformats.org/drawingml/2006/main">
              <a:ext uri="{FF2B5EF4-FFF2-40B4-BE49-F238E27FC236}">
                <a16:creationId xmlns:a16="http://schemas.microsoft.com/office/drawing/2014/main" id="{FB355ED0-82F8-4969-9950-8691D478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514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9" name="compile-0-title">
            <a:extLst xmlns:a="http://schemas.openxmlformats.org/drawingml/2006/main">
              <a:ext uri="{FF2B5EF4-FFF2-40B4-BE49-F238E27FC236}">
                <a16:creationId xmlns:a16="http://schemas.microsoft.com/office/drawing/2014/main" id="{61FCB916-03C2-42BC-811C-1ABF6EB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9B0"/>
                </a:solidFill>
              </a:defRPr>
            </a:pPr>
            <a:r>
              <a:rPr sz="1350" b="1">
                <a:solidFill>
                  <a:srgbClr val="1769B0"/>
                </a:solidFill>
              </a:rPr>
              <a:t>HF 模型包</a:t>
            </a:r>
          </a:p>
        </p:txBody>
      </p:sp>
      <p:sp>
        <p:nvSpPr>
          <p:cNvPr id="10" name="compile-0-detail">
            <a:extLst xmlns:a="http://schemas.openxmlformats.org/drawingml/2006/main">
              <a:ext uri="{FF2B5EF4-FFF2-40B4-BE49-F238E27FC236}">
                <a16:creationId xmlns:a16="http://schemas.microsoft.com/office/drawing/2014/main" id="{279C3810-306E-456F-9345-9FB0A1FE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86025"/>
            <a:ext cx="232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Qwen3.5-35B GPTQ</a:t>
            </a:r>
          </a:p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结构、权重、Prompt</a:t>
            </a:r>
          </a:p>
        </p:txBody>
      </p:sp>
      <p:sp>
        <p:nvSpPr>
          <p:cNvPr id="11" name="compile-a-0">
            <a:extLst xmlns:a="http://schemas.openxmlformats.org/drawingml/2006/main">
              <a:ext uri="{FF2B5EF4-FFF2-40B4-BE49-F238E27FC236}">
                <a16:creationId xmlns:a16="http://schemas.microsoft.com/office/drawing/2014/main" id="{5819FC02-4055-42E2-A350-F1B199C7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812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2" name="compile-1">
            <a:extLst xmlns:a="http://schemas.openxmlformats.org/drawingml/2006/main">
              <a:ext uri="{FF2B5EF4-FFF2-40B4-BE49-F238E27FC236}">
                <a16:creationId xmlns:a16="http://schemas.microsoft.com/office/drawing/2014/main" id="{47B8E0E2-5CD8-43AE-AC96-A4802537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514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13" name="compile-1-title">
            <a:extLst xmlns:a="http://schemas.openxmlformats.org/drawingml/2006/main">
              <a:ext uri="{FF2B5EF4-FFF2-40B4-BE49-F238E27FC236}">
                <a16:creationId xmlns:a16="http://schemas.microsoft.com/office/drawing/2014/main" id="{591F8D2D-8169-493C-8A13-D9446BF8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3837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9B0"/>
                </a:solidFill>
              </a:defRPr>
            </a:pPr>
            <a:r>
              <a:rPr sz="1350" b="1">
                <a:solidFill>
                  <a:srgbClr val="1769B0"/>
                </a:solidFill>
              </a:rPr>
              <a:t>模型执行图</a:t>
            </a:r>
          </a:p>
        </p:txBody>
      </p:sp>
      <p:sp>
        <p:nvSpPr>
          <p:cNvPr id="14" name="compile-1-detail">
            <a:extLst xmlns:a="http://schemas.openxmlformats.org/drawingml/2006/main">
              <a:ext uri="{FF2B5EF4-FFF2-40B4-BE49-F238E27FC236}">
                <a16:creationId xmlns:a16="http://schemas.microsoft.com/office/drawing/2014/main" id="{0C563977-7186-4AF5-846A-8F5916FA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86025"/>
            <a:ext cx="232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524 个 generic requests</a:t>
            </a:r>
          </a:p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725 个 Tensor</a:t>
            </a:r>
          </a:p>
        </p:txBody>
      </p:sp>
      <p:sp>
        <p:nvSpPr>
          <p:cNvPr id="15" name="compile-a-1">
            <a:extLst xmlns:a="http://schemas.openxmlformats.org/drawingml/2006/main">
              <a:ext uri="{FF2B5EF4-FFF2-40B4-BE49-F238E27FC236}">
                <a16:creationId xmlns:a16="http://schemas.microsoft.com/office/drawing/2014/main" id="{033FD246-6C3E-4E00-8EF3-80E2D228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5812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16" name="compile-2">
            <a:extLst xmlns:a="http://schemas.openxmlformats.org/drawingml/2006/main">
              <a:ext uri="{FF2B5EF4-FFF2-40B4-BE49-F238E27FC236}">
                <a16:creationId xmlns:a16="http://schemas.microsoft.com/office/drawing/2014/main" id="{527C734A-5FD5-4A19-A27E-B1B17B70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514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17" name="compile-2-title">
            <a:extLst xmlns:a="http://schemas.openxmlformats.org/drawingml/2006/main">
              <a:ext uri="{FF2B5EF4-FFF2-40B4-BE49-F238E27FC236}">
                <a16:creationId xmlns:a16="http://schemas.microsoft.com/office/drawing/2014/main" id="{AD580A61-275F-488A-8270-2D00A762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3837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9B0"/>
                </a:solidFill>
              </a:defRPr>
            </a:pPr>
            <a:r>
              <a:rPr sz="1350" b="1">
                <a:solidFill>
                  <a:srgbClr val="1769B0"/>
                </a:solidFill>
              </a:rPr>
              <a:t>TVM Relax</a:t>
            </a:r>
          </a:p>
        </p:txBody>
      </p:sp>
      <p:sp>
        <p:nvSpPr>
          <p:cNvPr id="18" name="compile-2-detail">
            <a:extLst xmlns:a="http://schemas.openxmlformats.org/drawingml/2006/main">
              <a:ext uri="{FF2B5EF4-FFF2-40B4-BE49-F238E27FC236}">
                <a16:creationId xmlns:a16="http://schemas.microsoft.com/office/drawing/2014/main" id="{2B2FCF65-D929-4804-941E-37CE05D8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86025"/>
            <a:ext cx="232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完整图 materialize</a:t>
            </a:r>
          </a:p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Shape / DType / dependency</a:t>
            </a:r>
          </a:p>
        </p:txBody>
      </p:sp>
      <p:sp>
        <p:nvSpPr>
          <p:cNvPr id="19" name="compile-a-2">
            <a:extLst xmlns:a="http://schemas.openxmlformats.org/drawingml/2006/main">
              <a:ext uri="{FF2B5EF4-FFF2-40B4-BE49-F238E27FC236}">
                <a16:creationId xmlns:a16="http://schemas.microsoft.com/office/drawing/2014/main" id="{95D6C18A-8B43-4925-85FE-2110C3A9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812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20" name="compile-3">
            <a:extLst xmlns:a="http://schemas.openxmlformats.org/drawingml/2006/main">
              <a:ext uri="{FF2B5EF4-FFF2-40B4-BE49-F238E27FC236}">
                <a16:creationId xmlns:a16="http://schemas.microsoft.com/office/drawing/2014/main" id="{D4A1A189-7EAC-47EA-A9E2-D3A03927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514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21" name="compile-3-title">
            <a:extLst xmlns:a="http://schemas.openxmlformats.org/drawingml/2006/main">
              <a:ext uri="{FF2B5EF4-FFF2-40B4-BE49-F238E27FC236}">
                <a16:creationId xmlns:a16="http://schemas.microsoft.com/office/drawing/2014/main" id="{6AC77840-6282-43C4-9EC5-E95C9612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3837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6B2F"/>
                </a:solidFill>
              </a:defRPr>
            </a:pPr>
            <a:r>
              <a:rPr sz="1350" b="1">
                <a:solidFill>
                  <a:srgbClr val="E56B2F"/>
                </a:solidFill>
              </a:rPr>
              <a:t>BYOC Backend</a:t>
            </a:r>
          </a:p>
        </p:txBody>
      </p:sp>
      <p:sp>
        <p:nvSpPr>
          <p:cNvPr id="22" name="compile-3-detail">
            <a:extLst xmlns:a="http://schemas.openxmlformats.org/drawingml/2006/main">
              <a:ext uri="{FF2B5EF4-FFF2-40B4-BE49-F238E27FC236}">
                <a16:creationId xmlns:a16="http://schemas.microsoft.com/office/drawing/2014/main" id="{5EB1240B-1FF9-4E11-AB21-CA20D253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86025"/>
            <a:ext cx="232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capability + region</a:t>
            </a:r>
          </a:p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模型无关 normalized IR</a:t>
            </a:r>
          </a:p>
        </p:txBody>
      </p:sp>
      <p:sp>
        <p:nvSpPr>
          <p:cNvPr id="23" name="compile-a-3">
            <a:extLst xmlns:a="http://schemas.openxmlformats.org/drawingml/2006/main">
              <a:ext uri="{FF2B5EF4-FFF2-40B4-BE49-F238E27FC236}">
                <a16:creationId xmlns:a16="http://schemas.microsoft.com/office/drawing/2014/main" id="{CBD77C31-5DC9-43DE-AE67-8C19AB4D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5812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24" name="compile-4">
            <a:extLst xmlns:a="http://schemas.openxmlformats.org/drawingml/2006/main">
              <a:ext uri="{FF2B5EF4-FFF2-40B4-BE49-F238E27FC236}">
                <a16:creationId xmlns:a16="http://schemas.microsoft.com/office/drawing/2014/main" id="{D37EEF34-4E1E-4834-834E-3C28EEA5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190750"/>
            <a:ext cx="2514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E56B2F"/>
            </a:solidFill>
            <a:prstDash val="solid"/>
          </a:ln>
        </p:spPr>
      </p:sp>
      <p:sp>
        <p:nvSpPr>
          <p:cNvPr id="25" name="compile-4-title">
            <a:extLst xmlns:a="http://schemas.openxmlformats.org/drawingml/2006/main">
              <a:ext uri="{FF2B5EF4-FFF2-40B4-BE49-F238E27FC236}">
                <a16:creationId xmlns:a16="http://schemas.microsoft.com/office/drawing/2014/main" id="{112E3AD2-C904-49CE-81F0-4350BD2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23837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6B2F"/>
                </a:solidFill>
              </a:defRPr>
            </a:pPr>
            <a:r>
              <a:rPr sz="1350" b="1">
                <a:solidFill>
                  <a:srgbClr val="E56B2F"/>
                </a:solidFill>
              </a:rPr>
              <a:t>通用 Lowering</a:t>
            </a:r>
          </a:p>
        </p:txBody>
      </p:sp>
      <p:sp>
        <p:nvSpPr>
          <p:cNvPr id="26" name="compile-4-detail">
            <a:extLst xmlns:a="http://schemas.openxmlformats.org/drawingml/2006/main">
              <a:ext uri="{FF2B5EF4-FFF2-40B4-BE49-F238E27FC236}">
                <a16:creationId xmlns:a16="http://schemas.microsoft.com/office/drawing/2014/main" id="{FC03A7A0-93AF-4F02-9064-4B9E2652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486025"/>
            <a:ext cx="232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Tile / stride / tail / scratch</a:t>
            </a:r>
          </a:p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GPTQ: TDEQUANT + TMMA + TADD</a:t>
            </a:r>
          </a:p>
        </p:txBody>
      </p:sp>
      <p:sp>
        <p:nvSpPr>
          <p:cNvPr id="27" name="compile-a-4">
            <a:extLst xmlns:a="http://schemas.openxmlformats.org/drawingml/2006/main">
              <a:ext uri="{FF2B5EF4-FFF2-40B4-BE49-F238E27FC236}">
                <a16:creationId xmlns:a16="http://schemas.microsoft.com/office/drawing/2014/main" id="{021BC900-01C7-4D25-9EB9-994F4BC1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258127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28" name="compile-5">
            <a:extLst xmlns:a="http://schemas.openxmlformats.org/drawingml/2006/main">
              <a:ext uri="{FF2B5EF4-FFF2-40B4-BE49-F238E27FC236}">
                <a16:creationId xmlns:a16="http://schemas.microsoft.com/office/drawing/2014/main" id="{31D41B71-7274-4FDB-9B7D-65486B0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2190750"/>
            <a:ext cx="2514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29" name="compile-5-title">
            <a:extLst xmlns:a="http://schemas.openxmlformats.org/drawingml/2006/main">
              <a:ext uri="{FF2B5EF4-FFF2-40B4-BE49-F238E27FC236}">
                <a16:creationId xmlns:a16="http://schemas.microsoft.com/office/drawing/2014/main" id="{E0BE6A30-5082-4DC1-964E-C15A6CED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223837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8B57"/>
                </a:solidFill>
              </a:defRPr>
            </a:pPr>
            <a:r>
              <a:rPr sz="1350" b="1">
                <a:solidFill>
                  <a:srgbClr val="168B57"/>
                </a:solidFill>
              </a:rPr>
              <a:t>运行产物</a:t>
            </a:r>
          </a:p>
        </p:txBody>
      </p:sp>
      <p:sp>
        <p:nvSpPr>
          <p:cNvPr id="30" name="compile-5-detail">
            <a:extLst xmlns:a="http://schemas.openxmlformats.org/drawingml/2006/main">
              <a:ext uri="{FF2B5EF4-FFF2-40B4-BE49-F238E27FC236}">
                <a16:creationId xmlns:a16="http://schemas.microsoft.com/office/drawing/2014/main" id="{B83C4DBC-4304-438D-B793-8F335792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2486025"/>
            <a:ext cx="2324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model.tvm.npxc</a:t>
            </a:r>
          </a:p>
          <a:p xmlns:a="http://schemas.openxmlformats.org/drawingml/2006/main">
            <a:pPr algn="ctr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model.tvm.npxtb</a:t>
            </a:r>
          </a:p>
        </p:txBody>
      </p:sp>
      <p:sp>
        <p:nvSpPr>
          <p:cNvPr id="31" name="compile-proof">
            <a:extLst xmlns:a="http://schemas.openxmlformats.org/drawingml/2006/main">
              <a:ext uri="{FF2B5EF4-FFF2-40B4-BE49-F238E27FC236}">
                <a16:creationId xmlns:a16="http://schemas.microsoft.com/office/drawing/2014/main" id="{3CE88A3C-973A-41F9-A015-2CA6AEC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704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B0"/>
                </a:solidFill>
              </a:defRPr>
            </a:pPr>
            <a:r>
              <a:rPr sz="1200" b="1">
                <a:solidFill>
                  <a:srgbClr val="1769B0"/>
                </a:solidFill>
              </a:rPr>
              <a:t>单步全图 lowering 审计：xgraph_requests=524，xgraph_commands=32,102，fallback_requests=0</a:t>
            </a:r>
          </a:p>
        </p:txBody>
      </p:sp>
      <p:sp>
        <p:nvSpPr>
          <p:cNvPr id="32" name="runtime">
            <a:extLst xmlns:a="http://schemas.openxmlformats.org/drawingml/2006/main">
              <a:ext uri="{FF2B5EF4-FFF2-40B4-BE49-F238E27FC236}">
                <a16:creationId xmlns:a16="http://schemas.microsoft.com/office/drawing/2014/main" id="{A2E48B17-D92C-46FB-B61E-F7382591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57650"/>
            <a:ext cx="110490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19050">
            <a:solidFill>
              <a:srgbClr val="173F67"/>
            </a:solidFill>
            <a:prstDash val="solid"/>
          </a:ln>
        </p:spPr>
      </p:sp>
      <p:sp>
        <p:nvSpPr>
          <p:cNvPr id="33" name="runtime-head">
            <a:extLst xmlns:a="http://schemas.openxmlformats.org/drawingml/2006/main">
              <a:ext uri="{FF2B5EF4-FFF2-40B4-BE49-F238E27FC236}">
                <a16:creationId xmlns:a16="http://schemas.microsoft.com/office/drawing/2014/main" id="{2E181414-7AD5-4C74-B03F-110FD02E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57650"/>
            <a:ext cx="11049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3F67"/>
          </a:solidFill>
          <a:ln xmlns:a="http://schemas.openxmlformats.org/drawingml/2006/main" w="0">
            <a:solidFill>
              <a:srgbClr val="173F67"/>
            </a:solidFill>
            <a:prstDash val="solid"/>
          </a:ln>
        </p:spPr>
      </p:sp>
      <p:sp>
        <p:nvSpPr>
          <p:cNvPr id="34" name="runtime-title">
            <a:extLst xmlns:a="http://schemas.openxmlformats.org/drawingml/2006/main">
              <a:ext uri="{FF2B5EF4-FFF2-40B4-BE49-F238E27FC236}">
                <a16:creationId xmlns:a16="http://schemas.microsoft.com/office/drawing/2014/main" id="{D875B9F1-0BA9-44EA-B3A9-417E693F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② 运行链：CPU Prompt 到 CPU Token</a:t>
            </a:r>
          </a:p>
        </p:txBody>
      </p:sp>
      <p:sp>
        <p:nvSpPr>
          <p:cNvPr id="35" name="run-0">
            <a:extLst xmlns:a="http://schemas.openxmlformats.org/drawingml/2006/main">
              <a:ext uri="{FF2B5EF4-FFF2-40B4-BE49-F238E27FC236}">
                <a16:creationId xmlns:a16="http://schemas.microsoft.com/office/drawing/2014/main" id="{4EF8C8B7-EE2B-42CA-8515-83F4C1D5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1885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36" name="run-0-title">
            <a:extLst xmlns:a="http://schemas.openxmlformats.org/drawingml/2006/main">
              <a:ext uri="{FF2B5EF4-FFF2-40B4-BE49-F238E27FC236}">
                <a16:creationId xmlns:a16="http://schemas.microsoft.com/office/drawing/2014/main" id="{0AE31C77-867E-4B5F-8EB4-13428C8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B0"/>
                </a:solidFill>
              </a:defRPr>
            </a:pPr>
            <a:r>
              <a:rPr sz="1200" b="1">
                <a:solidFill>
                  <a:srgbClr val="1769B0"/>
                </a:solidFill>
              </a:rPr>
              <a:t>CPU Runtime</a:t>
            </a:r>
          </a:p>
        </p:txBody>
      </p:sp>
      <p:sp>
        <p:nvSpPr>
          <p:cNvPr id="37" name="run-0-detail">
            <a:extLst xmlns:a="http://schemas.openxmlformats.org/drawingml/2006/main">
              <a:ext uri="{FF2B5EF4-FFF2-40B4-BE49-F238E27FC236}">
                <a16:creationId xmlns:a16="http://schemas.microsoft.com/office/drawing/2014/main" id="{D0C2AF45-7D3D-4B80-B0AE-959DFBB3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169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Prompt + invocation</a:t>
            </a:r>
          </a:p>
          <a:p xmlns:a="http://schemas.openxmlformats.org/drawingml/2006/main">
            <a:pPr algn="ctr"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sequence=18, KV=21</a:t>
            </a:r>
          </a:p>
        </p:txBody>
      </p:sp>
      <p:sp>
        <p:nvSpPr>
          <p:cNvPr id="38" name="run-a-0">
            <a:extLst xmlns:a="http://schemas.openxmlformats.org/drawingml/2006/main">
              <a:ext uri="{FF2B5EF4-FFF2-40B4-BE49-F238E27FC236}">
                <a16:creationId xmlns:a16="http://schemas.microsoft.com/office/drawing/2014/main" id="{8D24F453-EC91-412A-A4EE-2D74A057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2387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39" name="run-1">
            <a:extLst xmlns:a="http://schemas.openxmlformats.org/drawingml/2006/main">
              <a:ext uri="{FF2B5EF4-FFF2-40B4-BE49-F238E27FC236}">
                <a16:creationId xmlns:a16="http://schemas.microsoft.com/office/drawing/2014/main" id="{F3E87625-6B7D-4C79-A9E5-978A577E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1885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E"/>
          </a:solidFill>
          <a:ln xmlns:a="http://schemas.openxmlformats.org/drawingml/2006/main" w="14288">
            <a:solidFill>
              <a:srgbClr val="1769B0"/>
            </a:solidFill>
            <a:prstDash val="solid"/>
          </a:ln>
        </p:spPr>
      </p:sp>
      <p:sp>
        <p:nvSpPr>
          <p:cNvPr id="40" name="run-1-title">
            <a:extLst xmlns:a="http://schemas.openxmlformats.org/drawingml/2006/main">
              <a:ext uri="{FF2B5EF4-FFF2-40B4-BE49-F238E27FC236}">
                <a16:creationId xmlns:a16="http://schemas.microsoft.com/office/drawing/2014/main" id="{D1E3B428-C362-434A-A8C1-DE0073E1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863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B0"/>
                </a:solidFill>
              </a:defRPr>
            </a:pPr>
            <a:r>
              <a:rPr sz="1200" b="1">
                <a:solidFill>
                  <a:srgbClr val="1769B0"/>
                </a:solidFill>
              </a:rPr>
              <a:t>Driver / Shared DMA</a:t>
            </a:r>
          </a:p>
        </p:txBody>
      </p:sp>
      <p:sp>
        <p:nvSpPr>
          <p:cNvPr id="41" name="run-1-detail">
            <a:extLst xmlns:a="http://schemas.openxmlformats.org/drawingml/2006/main">
              <a:ext uri="{FF2B5EF4-FFF2-40B4-BE49-F238E27FC236}">
                <a16:creationId xmlns:a16="http://schemas.microsoft.com/office/drawing/2014/main" id="{0530F76B-3D13-4106-B78F-A32807C6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33975"/>
            <a:ext cx="169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submission=93,440 B</a:t>
            </a:r>
          </a:p>
          <a:p xmlns:a="http://schemas.openxmlformats.org/drawingml/2006/main">
            <a:pPr algn="ctr"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共享窗口 8 MiB</a:t>
            </a:r>
          </a:p>
        </p:txBody>
      </p:sp>
      <p:sp>
        <p:nvSpPr>
          <p:cNvPr id="42" name="run-a-1">
            <a:extLst xmlns:a="http://schemas.openxmlformats.org/drawingml/2006/main">
              <a:ext uri="{FF2B5EF4-FFF2-40B4-BE49-F238E27FC236}">
                <a16:creationId xmlns:a16="http://schemas.microsoft.com/office/drawing/2014/main" id="{EFB61BDA-0380-4040-B13A-1F4B270E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387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43" name="run-2">
            <a:extLst xmlns:a="http://schemas.openxmlformats.org/drawingml/2006/main">
              <a:ext uri="{FF2B5EF4-FFF2-40B4-BE49-F238E27FC236}">
                <a16:creationId xmlns:a16="http://schemas.microsoft.com/office/drawing/2014/main" id="{4A3CA76F-39E2-45D4-A4BF-2256CFC5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1885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DEBF2"/>
          </a:solidFill>
          <a:ln xmlns:a="http://schemas.openxmlformats.org/drawingml/2006/main" w="14288">
            <a:solidFill>
              <a:srgbClr val="D81B60"/>
            </a:solidFill>
            <a:prstDash val="solid"/>
          </a:ln>
        </p:spPr>
      </p:sp>
      <p:sp>
        <p:nvSpPr>
          <p:cNvPr id="44" name="run-2-title">
            <a:extLst xmlns:a="http://schemas.openxmlformats.org/drawingml/2006/main">
              <a:ext uri="{FF2B5EF4-FFF2-40B4-BE49-F238E27FC236}">
                <a16:creationId xmlns:a16="http://schemas.microsoft.com/office/drawing/2014/main" id="{AF022943-12FD-4C0C-B70D-460FED2F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863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1B60"/>
                </a:solidFill>
              </a:defRPr>
            </a:pPr>
            <a:r>
              <a:rPr sz="1200" b="1">
                <a:solidFill>
                  <a:srgbClr val="D81B60"/>
                </a:solidFill>
              </a:rPr>
              <a:t>524-command 图</a:t>
            </a:r>
          </a:p>
        </p:txBody>
      </p:sp>
      <p:sp>
        <p:nvSpPr>
          <p:cNvPr id="45" name="run-2-detail">
            <a:extLst xmlns:a="http://schemas.openxmlformats.org/drawingml/2006/main">
              <a:ext uri="{FF2B5EF4-FFF2-40B4-BE49-F238E27FC236}">
                <a16:creationId xmlns:a16="http://schemas.microsoft.com/office/drawing/2014/main" id="{BE4DEC62-D02B-4D56-8E04-67B0A3DE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33975"/>
            <a:ext cx="169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每个生成 step 执行一次</a:t>
            </a:r>
          </a:p>
          <a:p xmlns:a="http://schemas.openxmlformats.org/drawingml/2006/main">
            <a:pPr algn="ctr"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4 steps</a:t>
            </a:r>
          </a:p>
        </p:txBody>
      </p:sp>
      <p:sp>
        <p:nvSpPr>
          <p:cNvPr id="46" name="run-a-2">
            <a:extLst xmlns:a="http://schemas.openxmlformats.org/drawingml/2006/main">
              <a:ext uri="{FF2B5EF4-FFF2-40B4-BE49-F238E27FC236}">
                <a16:creationId xmlns:a16="http://schemas.microsoft.com/office/drawing/2014/main" id="{90570696-2B8E-4C39-8C77-D9B6F822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2387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47" name="run-3">
            <a:extLst xmlns:a="http://schemas.openxmlformats.org/drawingml/2006/main">
              <a:ext uri="{FF2B5EF4-FFF2-40B4-BE49-F238E27FC236}">
                <a16:creationId xmlns:a16="http://schemas.microsoft.com/office/drawing/2014/main" id="{7E0F6C81-BE8E-487F-86DD-339B24C8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38700"/>
            <a:ext cx="1885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DEBF2"/>
          </a:solidFill>
          <a:ln xmlns:a="http://schemas.openxmlformats.org/drawingml/2006/main" w="14288">
            <a:solidFill>
              <a:srgbClr val="D81B60"/>
            </a:solidFill>
            <a:prstDash val="solid"/>
          </a:ln>
        </p:spPr>
      </p:sp>
      <p:sp>
        <p:nvSpPr>
          <p:cNvPr id="48" name="run-3-title">
            <a:extLst xmlns:a="http://schemas.openxmlformats.org/drawingml/2006/main">
              <a:ext uri="{FF2B5EF4-FFF2-40B4-BE49-F238E27FC236}">
                <a16:creationId xmlns:a16="http://schemas.microsoft.com/office/drawing/2014/main" id="{D9232ADA-2E0B-4672-8734-4BDC7F6A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863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81B60"/>
                </a:solidFill>
              </a:defRPr>
            </a:pPr>
            <a:r>
              <a:rPr sz="1200" b="1">
                <a:solidFill>
                  <a:srgbClr val="D81B60"/>
                </a:solidFill>
              </a:rPr>
              <a:t>XOpenNPUX primitives</a:t>
            </a:r>
          </a:p>
        </p:txBody>
      </p:sp>
      <p:sp>
        <p:nvSpPr>
          <p:cNvPr id="49" name="run-3-detail">
            <a:extLst xmlns:a="http://schemas.openxmlformats.org/drawingml/2006/main">
              <a:ext uri="{FF2B5EF4-FFF2-40B4-BE49-F238E27FC236}">
                <a16:creationId xmlns:a16="http://schemas.microsoft.com/office/drawing/2014/main" id="{161DFB1B-8D5C-42B9-953A-D2A74664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33975"/>
            <a:ext cx="169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C++ 指令语义模型</a:t>
            </a:r>
          </a:p>
          <a:p xmlns:a="http://schemas.openxmlformats.org/drawingml/2006/main">
            <a:pPr algn="ctr"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统一地址、CSR、完成状态</a:t>
            </a:r>
          </a:p>
        </p:txBody>
      </p:sp>
      <p:sp>
        <p:nvSpPr>
          <p:cNvPr id="50" name="run-a-3">
            <a:extLst xmlns:a="http://schemas.openxmlformats.org/drawingml/2006/main">
              <a:ext uri="{FF2B5EF4-FFF2-40B4-BE49-F238E27FC236}">
                <a16:creationId xmlns:a16="http://schemas.microsoft.com/office/drawing/2014/main" id="{84B3C636-EBEB-4E10-A90F-FB16B9F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3875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B2F"/>
          </a:solidFill>
          <a:ln xmlns:a="http://schemas.openxmlformats.org/drawingml/2006/main" w="0">
            <a:solidFill>
              <a:srgbClr val="E56B2F"/>
            </a:solidFill>
            <a:prstDash val="solid"/>
          </a:ln>
        </p:spPr>
      </p:sp>
      <p:sp>
        <p:nvSpPr>
          <p:cNvPr id="51" name="run-4">
            <a:extLst xmlns:a="http://schemas.openxmlformats.org/drawingml/2006/main">
              <a:ext uri="{FF2B5EF4-FFF2-40B4-BE49-F238E27FC236}">
                <a16:creationId xmlns:a16="http://schemas.microsoft.com/office/drawing/2014/main" id="{9FD80716-0C8F-4F78-BD91-E09E2670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38700"/>
            <a:ext cx="18859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4288">
            <a:solidFill>
              <a:srgbClr val="168B57"/>
            </a:solidFill>
            <a:prstDash val="solid"/>
          </a:ln>
        </p:spPr>
      </p:sp>
      <p:sp>
        <p:nvSpPr>
          <p:cNvPr id="52" name="run-4-title">
            <a:extLst xmlns:a="http://schemas.openxmlformats.org/drawingml/2006/main">
              <a:ext uri="{FF2B5EF4-FFF2-40B4-BE49-F238E27FC236}">
                <a16:creationId xmlns:a16="http://schemas.microsoft.com/office/drawing/2014/main" id="{2493EB94-6223-4F47-BFF5-95CC0D01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8632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B57"/>
                </a:solidFill>
              </a:defRPr>
            </a:pPr>
            <a:r>
              <a:rPr sz="1200" b="1">
                <a:solidFill>
                  <a:srgbClr val="168B57"/>
                </a:solidFill>
              </a:rPr>
              <a:t>CPU Result</a:t>
            </a:r>
          </a:p>
        </p:txBody>
      </p:sp>
      <p:sp>
        <p:nvSpPr>
          <p:cNvPr id="53" name="run-4-detail">
            <a:extLst xmlns:a="http://schemas.openxmlformats.org/drawingml/2006/main">
              <a:ext uri="{FF2B5EF4-FFF2-40B4-BE49-F238E27FC236}">
                <a16:creationId xmlns:a16="http://schemas.microsoft.com/office/drawing/2014/main" id="{299D17AA-C70D-481B-A00A-BB4D6531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33975"/>
            <a:ext cx="1695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Token IDs + tokenizer</a:t>
            </a:r>
          </a:p>
          <a:p xmlns:a="http://schemas.openxmlformats.org/drawingml/2006/main">
            <a:pPr algn="ctr">
              <a:defRPr sz="975" b="0">
                <a:solidFill>
                  <a:srgbClr val="21354D"/>
                </a:solidFill>
              </a:defRPr>
            </a:pPr>
            <a:r>
              <a:rPr sz="975" b="0">
                <a:solidFill>
                  <a:srgbClr val="21354D"/>
                </a:solidFill>
              </a:rPr>
              <a:t>真实文本输出</a:t>
            </a:r>
          </a:p>
        </p:txBody>
      </p:sp>
      <p:sp>
        <p:nvSpPr>
          <p:cNvPr id="54" name="runtime-metrics">
            <a:extLst xmlns:a="http://schemas.openxmlformats.org/drawingml/2006/main">
              <a:ext uri="{FF2B5EF4-FFF2-40B4-BE49-F238E27FC236}">
                <a16:creationId xmlns:a16="http://schemas.microsoft.com/office/drawing/2014/main" id="{4ACDF9E8-BF0A-4F35-8771-4A1B8164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10668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BE0"/>
            </a:solidFill>
            <a:prstDash val="solid"/>
          </a:ln>
        </p:spPr>
      </p:sp>
      <p:sp>
        <p:nvSpPr>
          <p:cNvPr id="55" name="runtime-metrics-title">
            <a:extLst xmlns:a="http://schemas.openxmlformats.org/drawingml/2006/main">
              <a:ext uri="{FF2B5EF4-FFF2-40B4-BE49-F238E27FC236}">
                <a16:creationId xmlns:a16="http://schemas.microsoft.com/office/drawing/2014/main" id="{23EE1AEB-24B3-4500-9E23-454E1A76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F67"/>
                </a:solidFill>
              </a:defRPr>
            </a:pPr>
            <a:r>
              <a:rPr sz="1350" b="1">
                <a:solidFill>
                  <a:srgbClr val="173F67"/>
                </a:solidFill>
              </a:rPr>
              <a:t>实测运行指标</a:t>
            </a:r>
          </a:p>
        </p:txBody>
      </p:sp>
      <p:sp>
        <p:nvSpPr>
          <p:cNvPr id="56" name="runtime-metrics-left">
            <a:extLst xmlns:a="http://schemas.openxmlformats.org/drawingml/2006/main">
              <a:ext uri="{FF2B5EF4-FFF2-40B4-BE49-F238E27FC236}">
                <a16:creationId xmlns:a16="http://schemas.microsoft.com/office/drawing/2014/main" id="{7D4AF6A1-7E5A-447C-912D-4732CB0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354D"/>
                </a:solidFill>
              </a:defRPr>
            </a:pPr>
            <a:r>
              <a:rPr sz="1200" b="0">
                <a:solidFill>
                  <a:srgbClr val="21354D"/>
                </a:solidFill>
              </a:rPr>
              <a:t>execution_steps                 4</a:t>
            </a:r>
          </a:p>
          <a:p xmlns:a="http://schemas.openxmlformats.org/drawingml/2006/main">
            <a:pPr algn="l">
              <a:defRPr sz="1200" b="0">
                <a:solidFill>
                  <a:srgbClr val="21354D"/>
                </a:solidFill>
              </a:defRPr>
            </a:pPr>
            <a:r>
              <a:rPr sz="1200" b="0">
                <a:solidFill>
                  <a:srgbClr val="21354D"/>
                </a:solidFill>
              </a:rPr>
              <a:t>completed_commands          2,096</a:t>
            </a:r>
          </a:p>
          <a:p xmlns:a="http://schemas.openxmlformats.org/drawingml/2006/main">
            <a:pPr algn="l">
              <a:defRPr sz="1200" b="0">
                <a:solidFill>
                  <a:srgbClr val="21354D"/>
                </a:solidFill>
              </a:defRPr>
            </a:pPr>
            <a:r>
              <a:rPr sz="1200" b="0">
                <a:solidFill>
                  <a:srgbClr val="21354D"/>
                </a:solidFill>
              </a:rPr>
              <a:t>paging_faults_serviced       4,393</a:t>
            </a:r>
          </a:p>
          <a:p xmlns:a="http://schemas.openxmlformats.org/drawingml/2006/main">
            <a:pPr algn="l">
              <a:defRPr sz="1200" b="0">
                <a:solidFill>
                  <a:srgbClr val="21354D"/>
                </a:solidFill>
              </a:defRPr>
            </a:pPr>
            <a:r>
              <a:rPr sz="1200" b="0">
                <a:solidFill>
                  <a:srgbClr val="21354D"/>
                </a:solidFill>
              </a:rPr>
              <a:t>paging_transfer_bytes        287,899,648</a:t>
            </a:r>
          </a:p>
        </p:txBody>
      </p:sp>
      <p:sp>
        <p:nvSpPr>
          <p:cNvPr id="57" name="runtime-metrics-right">
            <a:extLst xmlns:a="http://schemas.openxmlformats.org/drawingml/2006/main">
              <a:ext uri="{FF2B5EF4-FFF2-40B4-BE49-F238E27FC236}">
                <a16:creationId xmlns:a16="http://schemas.microsoft.com/office/drawing/2014/main" id="{9D301915-EAF3-435C-A207-0872DB16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96050"/>
            <a:ext cx="5314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1354D"/>
                </a:solidFill>
              </a:defRPr>
            </a:pPr>
            <a:r>
              <a:rPr sz="1200" b="0">
                <a:solidFill>
                  <a:srgbClr val="21354D"/>
                </a:solidFill>
              </a:rPr>
              <a:t>dispatch_estimated_ops          109,524,592,128</a:t>
            </a:r>
          </a:p>
          <a:p xmlns:a="http://schemas.openxmlformats.org/drawingml/2006/main">
            <a:pPr algn="l">
              <a:defRPr sz="1200" b="0">
                <a:solidFill>
                  <a:srgbClr val="21354D"/>
                </a:solidFill>
              </a:defRPr>
            </a:pPr>
            <a:r>
              <a:rPr sz="1200" b="0">
                <a:solidFill>
                  <a:srgbClr val="21354D"/>
                </a:solidFill>
              </a:rPr>
              <a:t>inference_modeled_cycles      240,319,249,808</a:t>
            </a:r>
          </a:p>
          <a:p xmlns:a="http://schemas.openxmlformats.org/drawingml/2006/main">
            <a:pPr algn="l">
              <a:defRPr sz="1200" b="0">
                <a:solidFill>
                  <a:srgbClr val="21354D"/>
                </a:solidFill>
              </a:defRPr>
            </a:pPr>
            <a:r>
              <a:rPr sz="1200" b="0">
                <a:solidFill>
                  <a:srgbClr val="21354D"/>
                </a:solidFill>
              </a:rPr>
              <a:t>inference_result_source       host-functional-cpp</a:t>
            </a:r>
          </a:p>
          <a:p xmlns:a="http://schemas.openxmlformats.org/drawingml/2006/main">
            <a:pPr algn="l">
              <a:defRPr sz="1200" b="0">
                <a:solidFill>
                  <a:srgbClr val="21354D"/>
                </a:solidFill>
              </a:defRPr>
            </a:pPr>
            <a:r>
              <a:rPr sz="1200" b="0">
                <a:solidFill>
                  <a:srgbClr val="21354D"/>
                </a:solidFill>
              </a:rPr>
              <a:t>functional_backend            xopennpux-primitives</a:t>
            </a:r>
          </a:p>
        </p:txBody>
      </p:sp>
      <p:sp>
        <p:nvSpPr>
          <p:cNvPr id="58" name="result">
            <a:extLst xmlns:a="http://schemas.openxmlformats.org/drawingml/2006/main">
              <a:ext uri="{FF2B5EF4-FFF2-40B4-BE49-F238E27FC236}">
                <a16:creationId xmlns:a16="http://schemas.microsoft.com/office/drawing/2014/main" id="{6139E706-6BE3-472F-9521-3D0D7A6C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57650"/>
            <a:ext cx="6286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9050">
            <a:solidFill>
              <a:srgbClr val="168B57"/>
            </a:solidFill>
            <a:prstDash val="solid"/>
          </a:ln>
        </p:spPr>
      </p:sp>
      <p:sp>
        <p:nvSpPr>
          <p:cNvPr id="59" name="result-head">
            <a:extLst xmlns:a="http://schemas.openxmlformats.org/drawingml/2006/main">
              <a:ext uri="{FF2B5EF4-FFF2-40B4-BE49-F238E27FC236}">
                <a16:creationId xmlns:a16="http://schemas.microsoft.com/office/drawing/2014/main" id="{2FF6520B-4ECF-407B-A815-D9D6468E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57650"/>
            <a:ext cx="6286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60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0D46B31E-6B4F-49B2-898D-CCEA26DE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086225"/>
            <a:ext cx="594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③ 正确性与实现边界</a:t>
            </a:r>
          </a:p>
        </p:txBody>
      </p:sp>
      <p:sp>
        <p:nvSpPr>
          <p:cNvPr id="61" name="token-label">
            <a:extLst xmlns:a="http://schemas.openxmlformats.org/drawingml/2006/main">
              <a:ext uri="{FF2B5EF4-FFF2-40B4-BE49-F238E27FC236}">
                <a16:creationId xmlns:a16="http://schemas.microsoft.com/office/drawing/2014/main" id="{EF89DEF3-1F50-432B-BEED-0A875D1B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762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B57"/>
                </a:solidFill>
              </a:defRPr>
            </a:pPr>
            <a:r>
              <a:rPr sz="1350" b="1">
                <a:solidFill>
                  <a:srgbClr val="168B57"/>
                </a:solidFill>
              </a:rPr>
              <a:t>实际输出</a:t>
            </a:r>
          </a:p>
        </p:txBody>
      </p:sp>
      <p:sp>
        <p:nvSpPr>
          <p:cNvPr id="62" name="token-box">
            <a:extLst xmlns:a="http://schemas.openxmlformats.org/drawingml/2006/main">
              <a:ext uri="{FF2B5EF4-FFF2-40B4-BE49-F238E27FC236}">
                <a16:creationId xmlns:a16="http://schemas.microsoft.com/office/drawing/2014/main" id="{F8FFD305-7E1E-45EE-900A-0E5778B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05400"/>
            <a:ext cx="571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B57"/>
            </a:solidFill>
            <a:prstDash val="solid"/>
          </a:ln>
        </p:spPr>
      </p:sp>
      <p:sp>
        <p:nvSpPr>
          <p:cNvPr id="63" name="token-ids">
            <a:extLst xmlns:a="http://schemas.openxmlformats.org/drawingml/2006/main">
              <a:ext uri="{FF2B5EF4-FFF2-40B4-BE49-F238E27FC236}">
                <a16:creationId xmlns:a16="http://schemas.microsoft.com/office/drawing/2014/main" id="{F21D9F1D-22C0-4CC5-9817-89B6BB60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1816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354D"/>
                </a:solidFill>
              </a:defRPr>
            </a:pPr>
            <a:r>
              <a:rPr sz="1275" b="1">
                <a:solidFill>
                  <a:srgbClr val="21354D"/>
                </a:solidFill>
              </a:rPr>
              <a:t>Token IDs</a:t>
            </a:r>
          </a:p>
          <a:p xmlns:a="http://schemas.openxmlformats.org/drawingml/2006/main">
            <a:pPr algn="ctr">
              <a:defRPr sz="1275" b="1">
                <a:solidFill>
                  <a:srgbClr val="21354D"/>
                </a:solidFill>
              </a:defRPr>
            </a:pPr>
            <a:r>
              <a:rPr sz="1275" b="1">
                <a:solidFill>
                  <a:srgbClr val="21354D"/>
                </a:solidFill>
              </a:rPr>
              <a:t>2064, 7701, 1017, 2493</a:t>
            </a:r>
          </a:p>
        </p:txBody>
      </p:sp>
      <p:sp>
        <p:nvSpPr>
          <p:cNvPr id="64" name="token-text">
            <a:extLst xmlns:a="http://schemas.openxmlformats.org/drawingml/2006/main">
              <a:ext uri="{FF2B5EF4-FFF2-40B4-BE49-F238E27FC236}">
                <a16:creationId xmlns:a16="http://schemas.microsoft.com/office/drawing/2014/main" id="{03BEB42A-F659-4402-A23B-0D1AC51E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51816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B57"/>
                </a:solidFill>
              </a:defRPr>
            </a:pPr>
            <a:r>
              <a:rPr sz="1275" b="1">
                <a:solidFill>
                  <a:srgbClr val="168B57"/>
                </a:solidFill>
              </a:rPr>
              <a:t>Token text</a:t>
            </a:r>
          </a:p>
          <a:p xmlns:a="http://schemas.openxmlformats.org/drawingml/2006/main">
            <a:pPr algn="ctr">
              <a:defRPr sz="1275" b="1">
                <a:solidFill>
                  <a:srgbClr val="168B57"/>
                </a:solidFill>
              </a:defRPr>
            </a:pPr>
            <a:r>
              <a:rPr sz="1275" b="1">
                <a:solidFill>
                  <a:srgbClr val="168B57"/>
                </a:solidFill>
              </a:rPr>
              <a:t>It appears there might</a:t>
            </a:r>
          </a:p>
        </p:txBody>
      </p:sp>
      <p:sp>
        <p:nvSpPr>
          <p:cNvPr id="65" name="verdict">
            <a:extLst xmlns:a="http://schemas.openxmlformats.org/drawingml/2006/main">
              <a:ext uri="{FF2B5EF4-FFF2-40B4-BE49-F238E27FC236}">
                <a16:creationId xmlns:a16="http://schemas.microsoft.com/office/drawing/2014/main" id="{388A362B-3EF2-406B-B385-4C318BB6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267450"/>
            <a:ext cx="571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68B57"/>
          </a:solidFill>
          <a:ln xmlns:a="http://schemas.openxmlformats.org/drawingml/2006/main" w="0">
            <a:solidFill>
              <a:srgbClr val="168B57"/>
            </a:solidFill>
            <a:prstDash val="solid"/>
          </a:ln>
        </p:spPr>
      </p:sp>
      <p:sp>
        <p:nvSpPr>
          <p:cNvPr id="66" name="verdict-t">
            <a:extLst xmlns:a="http://schemas.openxmlformats.org/drawingml/2006/main">
              <a:ext uri="{FF2B5EF4-FFF2-40B4-BE49-F238E27FC236}">
                <a16:creationId xmlns:a16="http://schemas.microsoft.com/office/drawing/2014/main" id="{E56E6D27-3C6E-47B8-9384-0DE192B8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3436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vLLM strict equivalence: PASS</a:t>
            </a:r>
          </a:p>
        </p:txBody>
      </p:sp>
      <p:sp>
        <p:nvSpPr>
          <p:cNvPr id="67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6BDC0E70-BF83-4C41-ACC4-E6C71448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972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1B60"/>
                </a:solidFill>
              </a:defRPr>
            </a:pPr>
            <a:r>
              <a:rPr sz="1275" b="1">
                <a:solidFill>
                  <a:srgbClr val="D81B60"/>
                </a:solidFill>
              </a:rPr>
              <a:t>当前实现边界</a:t>
            </a:r>
          </a:p>
        </p:txBody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0C418388-9098-4F98-B8ED-415B46BC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199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已完成：TVM/BYOC 全图、通用 lowering、分页、状态与 Token 闭环</a:t>
            </a:r>
          </a:p>
          <a:p xmlns:a="http://schemas.openxmlformats.org/drawingml/2006/main">
            <a:pPr algn="l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当前：xGraph command 编码为 XOpenNPUX ISA packet，由 C++ 协处理器执行语义</a:t>
            </a:r>
          </a:p>
          <a:p xmlns:a="http://schemas.openxmlformats.org/drawingml/2006/main">
            <a:pPr algn="l">
              <a:defRPr sz="1125" b="0">
                <a:solidFill>
                  <a:srgbClr val="21354D"/>
                </a:solidFill>
              </a:defRPr>
            </a:pPr>
            <a:r>
              <a:rPr sz="1125" b="0">
                <a:solidFill>
                  <a:srgbClr val="21354D"/>
                </a:solidFill>
              </a:rPr>
              <a:t>未完成：完整 RTL MAC/Vector/SFU 数值流水与真实硬件周期模型</a:t>
            </a:r>
          </a:p>
        </p:txBody>
      </p:sp>
      <p:sp>
        <p:nvSpPr>
          <p:cNvPr id="69" name="next">
            <a:extLst xmlns:a="http://schemas.openxmlformats.org/drawingml/2006/main">
              <a:ext uri="{FF2B5EF4-FFF2-40B4-BE49-F238E27FC236}">
                <a16:creationId xmlns:a16="http://schemas.microsoft.com/office/drawing/2014/main" id="{6341E106-C425-4E73-8416-A0F927C4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343900"/>
            <a:ext cx="175450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56B2F"/>
            </a:solidFill>
            <a:prstDash val="solid"/>
          </a:ln>
        </p:spPr>
      </p:sp>
      <p:sp>
        <p:nvSpPr>
          <p:cNvPr id="70" name="next-title">
            <a:extLst xmlns:a="http://schemas.openxmlformats.org/drawingml/2006/main">
              <a:ext uri="{FF2B5EF4-FFF2-40B4-BE49-F238E27FC236}">
                <a16:creationId xmlns:a16="http://schemas.microsoft.com/office/drawing/2014/main" id="{A28EC659-FEA5-4BA0-A578-57698F9E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6B2F"/>
                </a:solidFill>
              </a:defRPr>
            </a:pPr>
            <a:r>
              <a:rPr sz="1425" b="1">
                <a:solidFill>
                  <a:srgbClr val="E56B2F"/>
                </a:solidFill>
              </a:rPr>
              <a:t>下一阶段替换面</a:t>
            </a:r>
          </a:p>
        </p:txBody>
      </p:sp>
      <p:sp>
        <p:nvSpPr>
          <p:cNvPr id="71" name="next-body">
            <a:extLst xmlns:a="http://schemas.openxmlformats.org/drawingml/2006/main">
              <a:ext uri="{FF2B5EF4-FFF2-40B4-BE49-F238E27FC236}">
                <a16:creationId xmlns:a16="http://schemas.microsoft.com/office/drawing/2014/main" id="{CAD31AFA-2000-4C3C-95C0-B1C48577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01100"/>
            <a:ext cx="1704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F67"/>
                </a:solidFill>
              </a:defRPr>
            </a:pPr>
            <a:r>
              <a:rPr sz="1275" b="1">
                <a:solidFill>
                  <a:srgbClr val="173F67"/>
                </a:solidFill>
              </a:rPr>
              <a:t>保持 TVM Relax、BYOC contract、524-request 图、XGraph lowering、ISA/CSR 和 Runtime ABI 不变；逐项用 RTL TMMA、TDMA、Vector、SFU 替换 C++ ExecuteNext 语义，并用本页 Token 与逐 Tensor 结果作为回归基线。</a:t>
            </a:r>
          </a:p>
        </p:txBody>
      </p:sp>
    </p:spTree>
    <p:extLst>
      <p:ext uri="{BB962C8B-B14F-4D97-AF65-F5344CB8AC3E}">
        <p14:creationId xmlns:p14="http://schemas.microsoft.com/office/powerpoint/2010/main" val="1212039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2026-09-09T13:18:27.6570000Z</dcterms:created>
  <dcterms:modified xsi:type="dcterms:W3CDTF">2026-09-09T13:18:27.6570000Z</dcterms:modified>
</coreProperties>
</file>