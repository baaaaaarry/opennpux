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70b61d2b47d4706" /><Relationship Type="http://schemas.openxmlformats.org/officeDocument/2006/relationships/extended-properties" Target="/docProps/app.xml" Id="R20cfc2e906344440" /><Relationship Type="http://schemas.openxmlformats.org/officeDocument/2006/relationships/officeDocument" Target="/ppt/presentation.xml" Id="R2f43a319ffb7421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a1a5fd5d95a4a3e"/>
  </p:sldMasterIdLst>
  <p:notesMasterIdLst>
    <p:notesMasterId xmlns:r="http://schemas.openxmlformats.org/officeDocument/2006/relationships" r:id="Ra54b8c6c18a24248"/>
  </p:notesMasterIdLst>
  <p:sldIdLst>
    <p:sldId xmlns:r="http://schemas.openxmlformats.org/officeDocument/2006/relationships" id="256" r:id="R0d8190a3e057483f"/>
    <p:sldId xmlns:r="http://schemas.openxmlformats.org/officeDocument/2006/relationships" id="257" r:id="R9c8b835eeafb402d"/>
    <p:sldId xmlns:r="http://schemas.openxmlformats.org/officeDocument/2006/relationships" id="258" r:id="R6a1a8acf6c894ea9"/>
  </p:sldIdLst>
  <p:sldSz cx="15240000" cy="85725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41642eba9a745ad" /><Relationship Type="http://schemas.openxmlformats.org/officeDocument/2006/relationships/slideMaster" Target="/ppt/slideMasters/slideMaster1.xml" Id="Rda1a5fd5d95a4a3e" /><Relationship Type="http://schemas.openxmlformats.org/officeDocument/2006/relationships/notesMaster" Target="/ppt/notesMasters/notesMaster1.xml" Id="Ra54b8c6c18a24248" /><Relationship Type="http://schemas.openxmlformats.org/officeDocument/2006/relationships/presProps" Target="/ppt/presProps.xml" Id="Ra20bb5f111654324" /><Relationship Type="http://schemas.openxmlformats.org/officeDocument/2006/relationships/tableStyles" Target="/ppt/tableStyles.xml" Id="R05da67aa224c4418" /><Relationship Type="http://schemas.openxmlformats.org/officeDocument/2006/relationships/slide" Target="/ppt/slides/slide1.xml" Id="R0d8190a3e057483f" /><Relationship Type="http://schemas.openxmlformats.org/officeDocument/2006/relationships/slide" Target="/ppt/slides/slide2.xml" Id="R9c8b835eeafb402d" /><Relationship Type="http://schemas.openxmlformats.org/officeDocument/2006/relationships/slide" Target="/ppt/slides/slide3.xml" Id="R6a1a8acf6c894ea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5343db3164e4d1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820ac0ad77b45c4" /><Relationship Type="http://schemas.openxmlformats.org/officeDocument/2006/relationships/notesMaster" Target="/ppt/notesMasters/notesMaster1.xml" Id="R8c329c74529f44a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4f34ba451724770" /><Relationship Type="http://schemas.openxmlformats.org/officeDocument/2006/relationships/notesMaster" Target="/ppt/notesMasters/notesMaster1.xml" Id="R12515b6b2a004bc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72e19e4da4b41cb" /><Relationship Type="http://schemas.openxmlformats.org/officeDocument/2006/relationships/notesMaster" Target="/ppt/notesMasters/notesMaster1.xml" Id="R6107223e5806475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62e0a02875b4a7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44b0e710c354313" /><Relationship Type="http://schemas.openxmlformats.org/officeDocument/2006/relationships/slideLayout" Target="/ppt/slideLayouts/slideLayout1.xml" Id="R23bfd68c406f408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3bfd68c406f408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311770b10a04c53" /><Relationship Type="http://schemas.openxmlformats.org/officeDocument/2006/relationships/notesSlide" Target="/ppt/notesSlides/notesSlide1.xml" Id="R36be38ff80d8436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ee5c70a88b644ff" /><Relationship Type="http://schemas.openxmlformats.org/officeDocument/2006/relationships/notesSlide" Target="/ppt/notesSlides/notesSlide2.xml" Id="R07182d8926a94e8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da1a2a64f354d1a" /><Relationship Type="http://schemas.openxmlformats.org/officeDocument/2006/relationships/notesSlide" Target="/ppt/notesSlides/notesSlide3.xml" Id="R5d94bf955633473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CA6D150C-FB96-4B70-A81F-9883A6578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8600"/>
            <a:ext cx="11620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324D"/>
                </a:solidFill>
                <a:latin typeface="PingFang SC"/>
                <a:ea typeface="PingFang SC"/>
                <a:cs typeface="PingFang SC"/>
              </a:defRPr>
            </a:pPr>
            <a:r>
              <a:rPr sz="2550" b="1">
                <a:solidFill>
                  <a:srgbClr val="17324D"/>
                </a:solidFill>
                <a:latin typeface="PingFang SC"/>
                <a:ea typeface="PingFang SC"/>
                <a:cs typeface="PingFang SC"/>
              </a:rPr>
              <a:t>为什么需要显式 Dependency / Scheduler / Completion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BD62209-16A0-4F34-8EDD-CB79692FD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0" y="247650"/>
            <a:ext cx="2428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A7187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5A7187"/>
                </a:solidFill>
                <a:latin typeface="PingFang SC"/>
                <a:ea typeface="PingFang SC"/>
                <a:cs typeface="PingFang SC"/>
              </a:rPr>
              <a:t>NPU CONTROL PLANE / 01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31C95BC-0F21-4DEA-86BB-C9F2E8930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38200"/>
            <a:ext cx="142494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6A21"/>
          </a:solidFill>
          <a:ln xmlns:a="http://schemas.openxmlformats.org/drawingml/2006/main" w="14288">
            <a:solidFill>
              <a:srgbClr val="F26A21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CC02B18-36B8-48D7-9943-6FE28FF22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933450"/>
            <a:ext cx="14192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A7187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5A7187"/>
                </a:solidFill>
                <a:latin typeface="PingFang SC"/>
                <a:ea typeface="PingFang SC"/>
                <a:cs typeface="PingFang SC"/>
              </a:rPr>
              <a:t>顺序 command 流只能保证正确执行，无法表达跨引擎并行、资源背压和精确完成语义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22CE621-3090-439C-B8BF-06E065787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428750"/>
            <a:ext cx="7048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7549A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07549A"/>
                </a:solidFill>
                <a:latin typeface="PingFang SC"/>
                <a:ea typeface="PingFang SC"/>
                <a:cs typeface="PingFang SC"/>
              </a:rPr>
              <a:t>原有路径：功能正确，但控制信息隐含在提交顺序中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1B95578-646A-4C62-8443-CAACD5A50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143125"/>
            <a:ext cx="18097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EAF8F0"/>
          </a:solidFill>
          <a:ln xmlns:a="http://schemas.openxmlformats.org/drawingml/2006/main" w="14288">
            <a:solidFill>
              <a:srgbClr val="009B55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48809DF-4E14-4C1F-ACCE-C26DC7693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238375"/>
            <a:ext cx="1619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7324D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17324D"/>
                </a:solidFill>
                <a:latin typeface="PingFang SC"/>
                <a:ea typeface="PingFang SC"/>
                <a:cs typeface="PingFang SC"/>
              </a:rPr>
              <a:t>Command 0</a:t>
            </a:r>
          </a:p>
          <a:p xmlns:a="http://schemas.openxmlformats.org/drawingml/2006/main">
            <a:pPr algn="ctr">
              <a:defRPr sz="1575" b="1">
                <a:solidFill>
                  <a:srgbClr val="17324D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17324D"/>
                </a:solidFill>
                <a:latin typeface="PingFang SC"/>
                <a:ea typeface="PingFang SC"/>
                <a:cs typeface="PingFang SC"/>
              </a:rPr>
              <a:t>TDMA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0F80AB6-354D-434A-B65D-2834E79A3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2581275"/>
            <a:ext cx="476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F26A21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3151217-B325-4A90-9C6B-6A76375E6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2143125"/>
            <a:ext cx="18097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EAF4FE"/>
          </a:solidFill>
          <a:ln xmlns:a="http://schemas.openxmlformats.org/drawingml/2006/main" w="14288">
            <a:solidFill>
              <a:srgbClr val="1976D2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0F345D7-D51B-495C-B229-667120809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2238375"/>
            <a:ext cx="1619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7324D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17324D"/>
                </a:solidFill>
                <a:latin typeface="PingFang SC"/>
                <a:ea typeface="PingFang SC"/>
                <a:cs typeface="PingFang SC"/>
              </a:rPr>
              <a:t>Command 1</a:t>
            </a:r>
          </a:p>
          <a:p xmlns:a="http://schemas.openxmlformats.org/drawingml/2006/main">
            <a:pPr algn="ctr">
              <a:defRPr sz="1575" b="1">
                <a:solidFill>
                  <a:srgbClr val="17324D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17324D"/>
                </a:solidFill>
                <a:latin typeface="PingFang SC"/>
                <a:ea typeface="PingFang SC"/>
                <a:cs typeface="PingFang SC"/>
              </a:rPr>
              <a:t>TMMA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F17449A-6861-446A-95F5-1BFECFCD0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2581275"/>
            <a:ext cx="476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F26A21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229409B-60DD-4FDC-AD58-5FADA4846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2143125"/>
            <a:ext cx="18097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0F6"/>
          </a:solidFill>
          <a:ln xmlns:a="http://schemas.openxmlformats.org/drawingml/2006/main" w="14288">
            <a:solidFill>
              <a:srgbClr val="ED0061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B3E9061-F57A-4236-B75C-8FF3C2ED4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2238375"/>
            <a:ext cx="1619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7324D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17324D"/>
                </a:solidFill>
                <a:latin typeface="PingFang SC"/>
                <a:ea typeface="PingFang SC"/>
                <a:cs typeface="PingFang SC"/>
              </a:rPr>
              <a:t>Command 2</a:t>
            </a:r>
          </a:p>
          <a:p xmlns:a="http://schemas.openxmlformats.org/drawingml/2006/main">
            <a:pPr algn="ctr">
              <a:defRPr sz="1575" b="1">
                <a:solidFill>
                  <a:srgbClr val="17324D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17324D"/>
                </a:solidFill>
                <a:latin typeface="PingFang SC"/>
                <a:ea typeface="PingFang SC"/>
                <a:cs typeface="PingFang SC"/>
              </a:rPr>
              <a:t>Vector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A140E84-A7F2-411A-A315-58860D544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238500"/>
            <a:ext cx="5619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26A21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F26A21"/>
                </a:solidFill>
                <a:latin typeface="PingFang SC"/>
                <a:ea typeface="PingFang SC"/>
                <a:cs typeface="PingFang SC"/>
              </a:rPr>
              <a:t>submit → execute → complete → retire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5EF5CB0-D0EB-4FAC-B799-2903F4120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905250"/>
            <a:ext cx="6667500" cy="28575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FFF2E8"/>
          </a:solidFill>
          <a:ln xmlns:a="http://schemas.openxmlformats.org/drawingml/2006/main" w="14288">
            <a:solidFill>
              <a:srgbClr val="F26A21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6FD4243-F3CB-44E6-B27C-B96AC49B6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095750"/>
            <a:ext cx="1905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26A21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F26A21"/>
                </a:solidFill>
                <a:latin typeface="PingFang SC"/>
                <a:ea typeface="PingFang SC"/>
                <a:cs typeface="PingFang SC"/>
              </a:rPr>
              <a:t>缺少的信息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19EF238-E76D-48A8-8D66-7448E2A84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572000"/>
            <a:ext cx="59055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324D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17324D"/>
                </a:solidFill>
                <a:latin typeface="PingFang SC"/>
                <a:ea typeface="PingFang SC"/>
                <a:cs typeface="PingFang SC"/>
              </a:rPr>
              <a:t>• 哪些 Tensor 存在 RAW / WAR / WAW 冲突</a:t>
            </a:r>
          </a:p>
          <a:p xmlns:a="http://schemas.openxmlformats.org/drawingml/2006/main">
            <a:pPr algn="l">
              <a:defRPr sz="1425" b="0">
                <a:solidFill>
                  <a:srgbClr val="17324D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17324D"/>
                </a:solidFill>
                <a:latin typeface="PingFang SC"/>
                <a:ea typeface="PingFang SC"/>
                <a:cs typeface="PingFang SC"/>
              </a:rPr>
              <a:t>• 哪些 command 可以同时发往不同 engine</a:t>
            </a:r>
          </a:p>
          <a:p xmlns:a="http://schemas.openxmlformats.org/drawingml/2006/main">
            <a:pPr algn="l">
              <a:defRPr sz="1425" b="0">
                <a:solidFill>
                  <a:srgbClr val="17324D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17324D"/>
                </a:solidFill>
                <a:latin typeface="PingFang SC"/>
                <a:ea typeface="PingFang SC"/>
                <a:cs typeface="PingFang SC"/>
              </a:rPr>
              <a:t>• engine busy 或 completion queue 满时如何停发</a:t>
            </a:r>
          </a:p>
          <a:p xmlns:a="http://schemas.openxmlformats.org/drawingml/2006/main">
            <a:pPr algn="l">
              <a:defRPr sz="1425" b="0">
                <a:solidFill>
                  <a:srgbClr val="17324D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17324D"/>
                </a:solidFill>
                <a:latin typeface="PingFang SC"/>
                <a:ea typeface="PingFang SC"/>
                <a:cs typeface="PingFang SC"/>
              </a:rPr>
              <a:t>• engine 乱序完成后，何时允许提交结果</a:t>
            </a:r>
          </a:p>
          <a:p xmlns:a="http://schemas.openxmlformats.org/drawingml/2006/main">
            <a:pPr algn="l">
              <a:defRPr sz="1425" b="0">
                <a:solidFill>
                  <a:srgbClr val="17324D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17324D"/>
                </a:solidFill>
                <a:latin typeface="PingFang SC"/>
                <a:ea typeface="PingFang SC"/>
                <a:cs typeface="PingFang SC"/>
              </a:rPr>
              <a:t>• 失败 command 是否可以释放后继依赖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8342259-4149-42FA-AE12-C49F1B09C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1428750"/>
            <a:ext cx="6477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09B55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009B55"/>
                </a:solidFill>
                <a:latin typeface="PingFang SC"/>
                <a:ea typeface="PingFang SC"/>
                <a:cs typeface="PingFang SC"/>
              </a:rPr>
              <a:t>增加控制面的目标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729F752-1C2D-40B9-AE95-9AC05EE50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2047875"/>
            <a:ext cx="6191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EAF8F0"/>
          </a:solidFill>
          <a:ln xmlns:a="http://schemas.openxmlformats.org/drawingml/2006/main" w="14288">
            <a:solidFill>
              <a:srgbClr val="009B55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533259D-89BF-41BA-B555-1078313B4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219325"/>
            <a:ext cx="5143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009B55"/>
          </a:solidFill>
          <a:ln xmlns:a="http://schemas.openxmlformats.org/drawingml/2006/main" w="14288">
            <a:solidFill>
              <a:srgbClr val="009B55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F72F101-981A-440E-BB75-12126CDCF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219325"/>
            <a:ext cx="5143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1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98FD566-B36A-4A0D-955E-3E7BC0FEE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143125"/>
            <a:ext cx="1524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324D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17324D"/>
                </a:solidFill>
                <a:latin typeface="PingFang SC"/>
                <a:ea typeface="PingFang SC"/>
                <a:cs typeface="PingFang SC"/>
              </a:rPr>
              <a:t>正确性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4985C51-24E3-455C-BC4F-4C3BB6350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466975"/>
            <a:ext cx="4953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A7187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A7187"/>
                </a:solidFill>
                <a:latin typeface="PingFang SC"/>
                <a:ea typeface="PingFang SC"/>
                <a:cs typeface="PingFang SC"/>
              </a:rPr>
              <a:t>显式描述 Tensor hazard 与 epoch 边界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C11D0EC-CD55-403D-8095-F062AD3B7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3171825"/>
            <a:ext cx="6191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EAF4FE"/>
          </a:solidFill>
          <a:ln xmlns:a="http://schemas.openxmlformats.org/drawingml/2006/main" w="14288">
            <a:solidFill>
              <a:srgbClr val="1976D2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584C8DA-71F3-4499-B8BF-D81DE4511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3343275"/>
            <a:ext cx="5143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1976D2"/>
          </a:solidFill>
          <a:ln xmlns:a="http://schemas.openxmlformats.org/drawingml/2006/main" w="14288">
            <a:solidFill>
              <a:srgbClr val="1976D2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C1EDE3A-F1A0-4690-BAD0-F55640CC9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3343275"/>
            <a:ext cx="5143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2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E31F391-D408-4D47-B65A-0F2F1D7FD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267075"/>
            <a:ext cx="1524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324D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17324D"/>
                </a:solidFill>
                <a:latin typeface="PingFang SC"/>
                <a:ea typeface="PingFang SC"/>
                <a:cs typeface="PingFang SC"/>
              </a:rPr>
              <a:t>并行性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5A15AA8-F320-4DB4-8F05-A21CAC5B0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590925"/>
            <a:ext cx="4953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A7187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A7187"/>
                </a:solidFill>
                <a:latin typeface="PingFang SC"/>
                <a:ea typeface="PingFang SC"/>
                <a:cs typeface="PingFang SC"/>
              </a:rPr>
              <a:t>独立任务可同时占用 TDMA / Tensor / Vector / SFU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B3BAAFC-9CA7-4BC3-9131-3D1704148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4295775"/>
            <a:ext cx="6191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EAF8F0"/>
          </a:solidFill>
          <a:ln xmlns:a="http://schemas.openxmlformats.org/drawingml/2006/main" w="14288">
            <a:solidFill>
              <a:srgbClr val="009B55"/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2719F7A-6746-4125-B36D-E21A606CB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4467225"/>
            <a:ext cx="5143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009B55"/>
          </a:solidFill>
          <a:ln xmlns:a="http://schemas.openxmlformats.org/drawingml/2006/main" w="14288">
            <a:solidFill>
              <a:srgbClr val="009B55"/>
            </a:solidFill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C02CD07-56A6-4CE0-A525-7B9731D0A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4467225"/>
            <a:ext cx="5143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3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F3B49CD-D1C2-4FBF-87C8-DAC9B606D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4391025"/>
            <a:ext cx="1524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324D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17324D"/>
                </a:solidFill>
                <a:latin typeface="PingFang SC"/>
                <a:ea typeface="PingFang SC"/>
                <a:cs typeface="PingFang SC"/>
              </a:rPr>
              <a:t>可替换性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DB94313-83A8-400C-A848-55AAD7E53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4714875"/>
            <a:ext cx="4953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A7187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A7187"/>
                </a:solidFill>
                <a:latin typeface="PingFang SC"/>
                <a:ea typeface="PingFang SC"/>
                <a:cs typeface="PingFang SC"/>
              </a:rPr>
              <a:t>C++ modeling 与未来 RTL 使用同一 schedule ABI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75A95C1-CDBF-460A-8932-4BD7C8AAE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5419725"/>
            <a:ext cx="6191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EAF4FE"/>
          </a:solidFill>
          <a:ln xmlns:a="http://schemas.openxmlformats.org/drawingml/2006/main" w="14288">
            <a:solidFill>
              <a:srgbClr val="1976D2"/>
            </a:solidFill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F5D1ABF-9CCD-4BD9-B1B0-93442BDB7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5591175"/>
            <a:ext cx="5143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1976D2"/>
          </a:solidFill>
          <a:ln xmlns:a="http://schemas.openxmlformats.org/drawingml/2006/main" w="14288">
            <a:solidFill>
              <a:srgbClr val="1976D2"/>
            </a:solidFill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67A5FEB-2ABE-422E-9862-3CA9448B4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5591175"/>
            <a:ext cx="5143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4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4A16491-3D43-488E-A78A-11363A6E7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5514975"/>
            <a:ext cx="1524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324D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17324D"/>
                </a:solidFill>
                <a:latin typeface="PingFang SC"/>
                <a:ea typeface="PingFang SC"/>
                <a:cs typeface="PingFang SC"/>
              </a:rPr>
              <a:t>可观测性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44BF843-4AB4-4C1D-B836-CEB88D0CF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5838825"/>
            <a:ext cx="4953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A7187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A7187"/>
                </a:solidFill>
                <a:latin typeface="PingFang SC"/>
                <a:ea typeface="PingFang SC"/>
                <a:cs typeface="PingFang SC"/>
              </a:rPr>
              <a:t>统计 stall、inflight、completion occupancy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E7ACDDC-420A-4CB8-A318-671CDF370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6715125"/>
            <a:ext cx="64770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8DB"/>
          </a:solidFill>
          <a:ln xmlns:a="http://schemas.openxmlformats.org/drawingml/2006/main" w="14288">
            <a:solidFill>
              <a:srgbClr val="FFB000"/>
            </a:solidFill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3011A04-28A4-48ED-A74C-75C12ADA6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6838950"/>
            <a:ext cx="123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9474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B000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FFB000"/>
                </a:solidFill>
                <a:latin typeface="PingFang SC"/>
                <a:ea typeface="PingFang SC"/>
                <a:cs typeface="PingFang SC"/>
              </a:rPr>
              <a:t>核心边界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92F6FFB3-BD19-4C01-BB16-2EF2208C9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7124700"/>
            <a:ext cx="5810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6747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324D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7324D"/>
                </a:solidFill>
                <a:latin typeface="PingFang SC"/>
                <a:ea typeface="PingFang SC"/>
                <a:cs typeface="PingFang SC"/>
              </a:rPr>
              <a:t>Command 定义算什么；Schedule 定义何时执行、在哪类 engine 执行。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1696B38A-38F0-4B23-9D26-CFB62BF01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286750"/>
            <a:ext cx="15240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549A"/>
          </a:solidFill>
          <a:ln xmlns:a="http://schemas.openxmlformats.org/drawingml/2006/main" w="14288">
            <a:solidFill>
              <a:srgbClr val="07549A"/>
            </a:solidFill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BE7FDC47-C294-4554-89E5-EEAE7A1CD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305800"/>
            <a:ext cx="14325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结果：计算图不再依赖 CPU 顺序提交来保证正确性，NPU 控制面获得自主调度能力</a:t>
            </a:r>
          </a:p>
        </p:txBody>
      </p:sp>
    </p:spTree>
    <p:extLst>
      <p:ext uri="{BB962C8B-B14F-4D97-AF65-F5344CB8AC3E}">
        <p14:creationId xmlns:p14="http://schemas.microsoft.com/office/powerpoint/2010/main" val="145691366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2469B22D-1B0F-4262-B211-CF918FE90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8600"/>
            <a:ext cx="11620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324D"/>
                </a:solidFill>
                <a:latin typeface="PingFang SC"/>
                <a:ea typeface="PingFang SC"/>
                <a:cs typeface="PingFang SC"/>
              </a:defRPr>
            </a:pPr>
            <a:r>
              <a:rPr sz="2550" b="1">
                <a:solidFill>
                  <a:srgbClr val="17324D"/>
                </a:solidFill>
                <a:latin typeface="PingFang SC"/>
                <a:ea typeface="PingFang SC"/>
                <a:cs typeface="PingFang SC"/>
              </a:rPr>
              <a:t>当前实现：编译器生成 Schedule，NPU 控制面执行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CB761D8-66BF-4C59-87E1-A016615C9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0" y="247650"/>
            <a:ext cx="2428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A7187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5A7187"/>
                </a:solidFill>
                <a:latin typeface="PingFang SC"/>
                <a:ea typeface="PingFang SC"/>
                <a:cs typeface="PingFang SC"/>
              </a:rPr>
              <a:t>NPU CONTROL PLANE / 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515B02D-F5B3-4386-BDBF-1E7A91C43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38200"/>
            <a:ext cx="142494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6A21"/>
          </a:solidFill>
          <a:ln xmlns:a="http://schemas.openxmlformats.org/drawingml/2006/main" w="14288">
            <a:solidFill>
              <a:srgbClr val="F26A21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1EC6643-8549-47E5-A8B7-D8F602184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933450"/>
            <a:ext cx="14192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A7187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5A7187"/>
                </a:solidFill>
                <a:latin typeface="PingFang SC"/>
                <a:ea typeface="PingFang SC"/>
                <a:cs typeface="PingFang SC"/>
              </a:rPr>
              <a:t>每条 XGraph command 配套一条 schedule record，语义和调度信息分离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5E91093-0C8A-4485-B31C-DE189C962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571625"/>
            <a:ext cx="247650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FFF2E8"/>
          </a:solidFill>
          <a:ln xmlns:a="http://schemas.openxmlformats.org/drawingml/2006/main" w="14288">
            <a:solidFill>
              <a:srgbClr val="F26A21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42890E9-51A4-4D84-A94D-23F8D0267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666875"/>
            <a:ext cx="2247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26A21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F26A21"/>
                </a:solidFill>
                <a:latin typeface="PingFang SC"/>
                <a:ea typeface="PingFang SC"/>
                <a:cs typeface="PingFang SC"/>
              </a:rPr>
              <a:t>① Generic Lowering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D18B0A1-3F10-4554-A328-FA25DEB02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57400"/>
            <a:ext cx="21336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7324D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17324D"/>
                </a:solidFill>
                <a:latin typeface="PingFang SC"/>
                <a:ea typeface="PingFang SC"/>
                <a:cs typeface="PingFang SC"/>
              </a:rPr>
              <a:t>Tensor 地址 + byte range</a:t>
            </a:r>
          </a:p>
          <a:p xmlns:a="http://schemas.openxmlformats.org/drawingml/2006/main">
            <a:pPr algn="ctr">
              <a:defRPr sz="1200" b="0">
                <a:solidFill>
                  <a:srgbClr val="17324D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17324D"/>
                </a:solidFill>
                <a:latin typeface="PingFang SC"/>
                <a:ea typeface="PingFang SC"/>
                <a:cs typeface="PingFang SC"/>
              </a:rPr>
              <a:t>分析 RAW / WAR / WAW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B2F2EF7-D1D3-49F2-9EEC-B5E74C46A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247900"/>
            <a:ext cx="4000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F26A21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F89AE41-4796-45F1-AB88-5ADD34180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1571625"/>
            <a:ext cx="247650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EAF4FE"/>
          </a:solidFill>
          <a:ln xmlns:a="http://schemas.openxmlformats.org/drawingml/2006/main" w="14288">
            <a:solidFill>
              <a:srgbClr val="07549A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1F2FEF4-D375-4151-9AA8-468A5B02C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1666875"/>
            <a:ext cx="2247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7549A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07549A"/>
                </a:solidFill>
                <a:latin typeface="PingFang SC"/>
                <a:ea typeface="PingFang SC"/>
                <a:cs typeface="PingFang SC"/>
              </a:rPr>
              <a:t>② Schedule Table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10E0F0B-6EC0-40E3-B075-848CB2F7A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057400"/>
            <a:ext cx="21336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7324D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17324D"/>
                </a:solidFill>
                <a:latin typeface="PingFang SC"/>
                <a:ea typeface="PingFang SC"/>
                <a:cs typeface="PingFang SC"/>
              </a:rPr>
              <a:t>dependency_mask 64-bit</a:t>
            </a:r>
          </a:p>
          <a:p xmlns:a="http://schemas.openxmlformats.org/drawingml/2006/main">
            <a:pPr algn="ctr">
              <a:defRPr sz="1200" b="0">
                <a:solidFill>
                  <a:srgbClr val="17324D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17324D"/>
                </a:solidFill>
                <a:latin typeface="PingFang SC"/>
                <a:ea typeface="PingFang SC"/>
                <a:cs typeface="PingFang SC"/>
              </a:rPr>
              <a:t>ordering_epoch</a:t>
            </a:r>
          </a:p>
          <a:p xmlns:a="http://schemas.openxmlformats.org/drawingml/2006/main">
            <a:pPr algn="ctr">
              <a:defRPr sz="1200" b="0">
                <a:solidFill>
                  <a:srgbClr val="17324D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17324D"/>
                </a:solidFill>
                <a:latin typeface="PingFang SC"/>
                <a:ea typeface="PingFang SC"/>
                <a:cs typeface="PingFang SC"/>
              </a:rPr>
              <a:t>engine mask + preferred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C2D5EB9-DC9A-4FFB-8596-A7C8E37AD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2247900"/>
            <a:ext cx="4000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F26A21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BD4510B-68AE-407B-B65E-8A088A015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1571625"/>
            <a:ext cx="247650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EAF8F0"/>
          </a:solidFill>
          <a:ln xmlns:a="http://schemas.openxmlformats.org/drawingml/2006/main" w="14288">
            <a:solidFill>
              <a:srgbClr val="009B55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1649798-688E-4B6D-AFE3-BA3B035D6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1666875"/>
            <a:ext cx="2247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6207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09B55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009B55"/>
                </a:solidFill>
                <a:latin typeface="PingFang SC"/>
                <a:ea typeface="PingFang SC"/>
                <a:cs typeface="PingFang SC"/>
              </a:rPr>
              <a:t>③ Firmware Transport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B0F5021-DC5B-4A3D-BB97-407582C4A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057400"/>
            <a:ext cx="21336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7324D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17324D"/>
                </a:solidFill>
                <a:latin typeface="PingFang SC"/>
                <a:ea typeface="PingFang SC"/>
                <a:cs typeface="PingFang SC"/>
              </a:rPr>
              <a:t>共享窗口发布 offset/count</a:t>
            </a:r>
          </a:p>
          <a:p xmlns:a="http://schemas.openxmlformats.org/drawingml/2006/main">
            <a:pPr algn="ctr">
              <a:defRPr sz="1200" b="0">
                <a:solidFill>
                  <a:srgbClr val="17324D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17324D"/>
                </a:solidFill>
                <a:latin typeface="PingFang SC"/>
                <a:ea typeface="PingFang SC"/>
                <a:cs typeface="PingFang SC"/>
              </a:rPr>
              <a:t>写 scheduling custom CSR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44E9A3B-27F3-4827-A2F4-60FC67533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247900"/>
            <a:ext cx="4000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F26A21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3F719D7-9176-4B83-83B9-82F0B2C7E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1571625"/>
            <a:ext cx="247650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FFF0F6"/>
          </a:solidFill>
          <a:ln xmlns:a="http://schemas.openxmlformats.org/drawingml/2006/main" w="14288">
            <a:solidFill>
              <a:srgbClr val="ED0061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8AD22A0-0688-4349-9AEA-F92CA9D10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1666875"/>
            <a:ext cx="2247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ED0061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ED0061"/>
                </a:solidFill>
                <a:latin typeface="PingFang SC"/>
                <a:ea typeface="PingFang SC"/>
                <a:cs typeface="PingFang SC"/>
              </a:rPr>
              <a:t>④ NPU Control Plane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CAABAA8-D8DE-468C-9048-88D605BC4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2057400"/>
            <a:ext cx="21336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7324D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17324D"/>
                </a:solidFill>
                <a:latin typeface="PingFang SC"/>
                <a:ea typeface="PingFang SC"/>
                <a:cs typeface="PingFang SC"/>
              </a:rPr>
              <a:t>Scoreboard + Scheduler</a:t>
            </a:r>
          </a:p>
          <a:p xmlns:a="http://schemas.openxmlformats.org/drawingml/2006/main">
            <a:pPr algn="ctr">
              <a:defRPr sz="1200" b="0">
                <a:solidFill>
                  <a:srgbClr val="17324D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17324D"/>
                </a:solidFill>
                <a:latin typeface="PingFang SC"/>
                <a:ea typeface="PingFang SC"/>
                <a:cs typeface="PingFang SC"/>
              </a:rPr>
              <a:t>Completion Queue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992B00D-CD63-4C43-B39A-5E23DEA99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82400" y="2247900"/>
            <a:ext cx="4000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F26A21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30DD52D-764F-4572-9AB6-074BF178C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82450" y="1571625"/>
            <a:ext cx="247650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EAF4FE"/>
          </a:solidFill>
          <a:ln xmlns:a="http://schemas.openxmlformats.org/drawingml/2006/main" w="14288">
            <a:solidFill>
              <a:srgbClr val="1976D2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022E33D-17B7-494C-9EA7-51F730EE0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0" y="1666875"/>
            <a:ext cx="2247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976D2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1976D2"/>
                </a:solidFill>
                <a:latin typeface="PingFang SC"/>
                <a:ea typeface="PingFang SC"/>
                <a:cs typeface="PingFang SC"/>
              </a:rPr>
              <a:t>⑤ Engine Execute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D53ACDD-C543-43FB-A1C5-7A8914F97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53900" y="2057400"/>
            <a:ext cx="21336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7324D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17324D"/>
                </a:solidFill>
                <a:latin typeface="PingFang SC"/>
                <a:ea typeface="PingFang SC"/>
                <a:cs typeface="PingFang SC"/>
              </a:rPr>
              <a:t>TDMA / Tensor</a:t>
            </a:r>
          </a:p>
          <a:p xmlns:a="http://schemas.openxmlformats.org/drawingml/2006/main">
            <a:pPr algn="ctr">
              <a:defRPr sz="1200" b="0">
                <a:solidFill>
                  <a:srgbClr val="17324D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17324D"/>
                </a:solidFill>
                <a:latin typeface="PingFang SC"/>
                <a:ea typeface="PingFang SC"/>
                <a:cs typeface="PingFang SC"/>
              </a:rPr>
              <a:t>Vector / SFU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B504164-430E-4484-965D-28CCC9F7B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286125"/>
            <a:ext cx="14287500" cy="4095750"/>
          </a:xfrm>
          <a:prstGeom xmlns:a="http://schemas.openxmlformats.org/drawingml/2006/main" prst="roundRect">
            <a:avLst>
              <a:gd name="adj" fmla="val 1860"/>
            </a:avLst>
          </a:prstGeom>
          <a:solidFill xmlns:a="http://schemas.openxmlformats.org/drawingml/2006/main">
            <a:srgbClr val="FAFCFE"/>
          </a:solidFill>
          <a:ln xmlns:a="http://schemas.openxmlformats.org/drawingml/2006/main" w="14288">
            <a:solidFill>
              <a:srgbClr val="B8CCE0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DE5542A-9104-435F-9F81-0A8502FFE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29000"/>
            <a:ext cx="3810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ED0061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ED0061"/>
                </a:solidFill>
                <a:latin typeface="PingFang SC"/>
                <a:ea typeface="PingFang SC"/>
                <a:cs typeface="PingFang SC"/>
              </a:rPr>
              <a:t>NPU Control Plane 内部行为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4319EC6-D9A8-4431-B5FC-0C0EC7724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048125"/>
            <a:ext cx="4000500" cy="1762125"/>
          </a:xfrm>
          <a:prstGeom xmlns:a="http://schemas.openxmlformats.org/drawingml/2006/main" prst="roundRect">
            <a:avLst>
              <a:gd name="adj" fmla="val 4324"/>
            </a:avLst>
          </a:prstGeom>
          <a:solidFill xmlns:a="http://schemas.openxmlformats.org/drawingml/2006/main">
            <a:srgbClr val="FFF2E8"/>
          </a:solidFill>
          <a:ln xmlns:a="http://schemas.openxmlformats.org/drawingml/2006/main" w="14288">
            <a:solidFill>
              <a:srgbClr val="F26A21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52A1021-A8C7-4043-8305-FAB4165A8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191000"/>
            <a:ext cx="3657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26A21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F26A21"/>
                </a:solidFill>
                <a:latin typeface="PingFang SC"/>
                <a:ea typeface="PingFang SC"/>
                <a:cs typeface="PingFang SC"/>
              </a:rPr>
              <a:t>Dependency Scoreboard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AC3F0E2-2D68-49A2-AFDF-2A8FBA9E6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572000"/>
            <a:ext cx="3657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5A7187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5A7187"/>
                </a:solidFill>
                <a:latin typeface="PingFang SC"/>
                <a:ea typeface="PingFang SC"/>
                <a:cs typeface="PingFang SC"/>
              </a:rPr>
              <a:t>64-entry completed mask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2FBEE6B-178C-4F3B-B213-498781ED1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972050"/>
            <a:ext cx="34671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7324D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17324D"/>
                </a:solidFill>
                <a:latin typeface="PingFang SC"/>
                <a:ea typeface="PingFang SC"/>
                <a:cs typeface="PingFang SC"/>
              </a:rPr>
              <a:t>依赖 mask 全部完成后 ready</a:t>
            </a:r>
          </a:p>
          <a:p xmlns:a="http://schemas.openxmlformats.org/drawingml/2006/main">
            <a:pPr algn="ctr">
              <a:defRPr sz="1350" b="0">
                <a:solidFill>
                  <a:srgbClr val="17324D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17324D"/>
                </a:solidFill>
                <a:latin typeface="PingFang SC"/>
                <a:ea typeface="PingFang SC"/>
                <a:cs typeface="PingFang SC"/>
              </a:rPr>
              <a:t>仅成功 retire 才释放后继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1010EEA-D5DA-4A18-B6AC-D544C3981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4914900"/>
            <a:ext cx="76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F26A21"/>
            </a:solidFill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D78130B-A2C5-490A-9C7E-A9C2A4CEB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4048125"/>
            <a:ext cx="4000500" cy="1762125"/>
          </a:xfrm>
          <a:prstGeom xmlns:a="http://schemas.openxmlformats.org/drawingml/2006/main" prst="roundRect">
            <a:avLst>
              <a:gd name="adj" fmla="val 4324"/>
            </a:avLst>
          </a:prstGeom>
          <a:solidFill xmlns:a="http://schemas.openxmlformats.org/drawingml/2006/main">
            <a:srgbClr val="FFF0F6"/>
          </a:solidFill>
          <a:ln xmlns:a="http://schemas.openxmlformats.org/drawingml/2006/main" w="14288">
            <a:solidFill>
              <a:srgbClr val="ED0061"/>
            </a:solidFill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C5CF0E6-00CC-447A-9DCE-7D4A772E8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4191000"/>
            <a:ext cx="3657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ED0061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ED0061"/>
                </a:solidFill>
                <a:latin typeface="PingFang SC"/>
                <a:ea typeface="PingFang SC"/>
                <a:cs typeface="PingFang SC"/>
              </a:rPr>
              <a:t>Task Scheduler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B7BBD9F-0F7A-404D-AAFB-84F8A4833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4572000"/>
            <a:ext cx="3657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5A7187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5A7187"/>
                </a:solidFill>
                <a:latin typeface="PingFang SC"/>
                <a:ea typeface="PingFang SC"/>
                <a:cs typeface="PingFang SC"/>
              </a:rPr>
              <a:t>64-entry task table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F2DD40F-D146-49A9-B159-5E848002D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4972050"/>
            <a:ext cx="34671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7324D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17324D"/>
                </a:solidFill>
                <a:latin typeface="PingFang SC"/>
                <a:ea typeface="PingFang SC"/>
                <a:cs typeface="PingFang SC"/>
              </a:rPr>
              <a:t>检查 dependency / epoch</a:t>
            </a:r>
          </a:p>
          <a:p xmlns:a="http://schemas.openxmlformats.org/drawingml/2006/main">
            <a:pPr algn="ctr">
              <a:defRPr sz="1350" b="0">
                <a:solidFill>
                  <a:srgbClr val="17324D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17324D"/>
                </a:solidFill>
                <a:latin typeface="PingFang SC"/>
                <a:ea typeface="PingFang SC"/>
                <a:cs typeface="PingFang SC"/>
              </a:rPr>
              <a:t>engine credit / CQ capacity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C8D9865-A4E2-460A-89AB-87116E408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914900"/>
            <a:ext cx="76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F26A21"/>
            </a:solidFill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3C45B46-85C9-4205-8D3F-3300F6379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4048125"/>
            <a:ext cx="4000500" cy="1762125"/>
          </a:xfrm>
          <a:prstGeom xmlns:a="http://schemas.openxmlformats.org/drawingml/2006/main" prst="roundRect">
            <a:avLst>
              <a:gd name="adj" fmla="val 4324"/>
            </a:avLst>
          </a:prstGeom>
          <a:solidFill xmlns:a="http://schemas.openxmlformats.org/drawingml/2006/main">
            <a:srgbClr val="EAF8F0"/>
          </a:solidFill>
          <a:ln xmlns:a="http://schemas.openxmlformats.org/drawingml/2006/main" w="14288">
            <a:solidFill>
              <a:srgbClr val="009B55"/>
            </a:solidFill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6E026A0-2520-4DB6-B4E5-6CFDBF6D2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4191000"/>
            <a:ext cx="3657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09B55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009B55"/>
                </a:solidFill>
                <a:latin typeface="PingFang SC"/>
                <a:ea typeface="PingFang SC"/>
                <a:cs typeface="PingFang SC"/>
              </a:rPr>
              <a:t>Completion Queue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7404DE2-9278-40EF-975A-5B6E2CDE9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4572000"/>
            <a:ext cx="3657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5A7187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5A7187"/>
                </a:solidFill>
                <a:latin typeface="PingFang SC"/>
                <a:ea typeface="PingFang SC"/>
                <a:cs typeface="PingFang SC"/>
              </a:rPr>
              <a:t>16-entry completion buffer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055A285-B0C2-412D-8CF9-6CDDEC39A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4972050"/>
            <a:ext cx="34671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7324D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17324D"/>
                </a:solidFill>
                <a:latin typeface="PingFang SC"/>
                <a:ea typeface="PingFang SC"/>
                <a:cs typeface="PingFang SC"/>
              </a:rPr>
              <a:t>允许 engine 乱序完成</a:t>
            </a:r>
          </a:p>
          <a:p xmlns:a="http://schemas.openxmlformats.org/drawingml/2006/main">
            <a:pPr algn="ctr">
              <a:defRPr sz="1350" b="0">
                <a:solidFill>
                  <a:srgbClr val="17324D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17324D"/>
                </a:solidFill>
                <a:latin typeface="PingFang SC"/>
                <a:ea typeface="PingFang SC"/>
                <a:cs typeface="PingFang SC"/>
              </a:rPr>
              <a:t>按 epoch + sequence retire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07EBBD1C-04B1-401F-A3E7-3A5CE02C4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6000750"/>
            <a:ext cx="9525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009B55"/>
            </a:solidFill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E9FA5BE8-40BC-408E-BFA8-ED1F89948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6048375"/>
            <a:ext cx="7334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09B55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009B55"/>
                </a:solidFill>
                <a:latin typeface="PingFang SC"/>
                <a:ea typeface="PingFang SC"/>
                <a:cs typeface="PingFang SC"/>
              </a:rPr>
              <a:t>retire success → completed_mask 更新 → 依赖任务变为 ready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D1FBB0BC-0ACD-4058-99A8-FCF3228B8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6572250"/>
            <a:ext cx="13049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8DB"/>
          </a:solidFill>
          <a:ln xmlns:a="http://schemas.openxmlformats.org/drawingml/2006/main" w="14288">
            <a:solidFill>
              <a:srgbClr val="FFB000"/>
            </a:solidFill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49FAFC7C-5B41-473B-9FD4-8437114EF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6667500"/>
            <a:ext cx="12668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324D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7324D"/>
                </a:solidFill>
                <a:latin typeface="PingFang SC"/>
                <a:ea typeface="PingFang SC"/>
                <a:cs typeface="PingFang SC"/>
              </a:rPr>
              <a:t>失败路径：Execution Error / Memory Fault / Invalid Command 精确返回；失败任务不释放依赖。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29996937-DE1B-4F9B-8AAB-D705B674C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286750"/>
            <a:ext cx="15240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549A"/>
          </a:solidFill>
          <a:ln xmlns:a="http://schemas.openxmlformats.org/drawingml/2006/main" w="14288">
            <a:solidFill>
              <a:srgbClr val="07549A"/>
            </a:solidFill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18A469B5-1DAD-4DA1-9E5A-75EFDDB66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305800"/>
            <a:ext cx="14325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ABI 稳定：后续 RTL 只替换控制面和 engine timing，不改变 compiler artifact 与 firmware 提交协议</a:t>
            </a:r>
          </a:p>
        </p:txBody>
      </p:sp>
    </p:spTree>
    <p:extLst>
      <p:ext uri="{BB962C8B-B14F-4D97-AF65-F5344CB8AC3E}">
        <p14:creationId xmlns:p14="http://schemas.microsoft.com/office/powerpoint/2010/main" val="200890216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6F9EB69B-F5B5-463F-8866-1EE646054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8600"/>
            <a:ext cx="11620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324D"/>
                </a:solidFill>
                <a:latin typeface="PingFang SC"/>
                <a:ea typeface="PingFang SC"/>
                <a:cs typeface="PingFang SC"/>
              </a:defRPr>
            </a:pPr>
            <a:r>
              <a:rPr sz="2550" b="1">
                <a:solidFill>
                  <a:srgbClr val="17324D"/>
                </a:solidFill>
                <a:latin typeface="PingFang SC"/>
                <a:ea typeface="PingFang SC"/>
                <a:cs typeface="PingFang SC"/>
              </a:rPr>
              <a:t>已完成验证与下一阶段 RTL 接入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3BD32B8-D261-4413-974B-A3CEC30A1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0" y="247650"/>
            <a:ext cx="2428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A7187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5A7187"/>
                </a:solidFill>
                <a:latin typeface="PingFang SC"/>
                <a:ea typeface="PingFang SC"/>
                <a:cs typeface="PingFang SC"/>
              </a:rPr>
              <a:t>NPU CONTROL PLANE / 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DEDDC70-51CD-4C36-A359-817AA80E2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38200"/>
            <a:ext cx="142494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6A21"/>
          </a:solidFill>
          <a:ln xmlns:a="http://schemas.openxmlformats.org/drawingml/2006/main" w="14288">
            <a:solidFill>
              <a:srgbClr val="F26A21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DAAA058-6AD5-476B-AE07-ECBE20490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933450"/>
            <a:ext cx="14192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A7187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5A7187"/>
                </a:solidFill>
                <a:latin typeface="PingFang SC"/>
                <a:ea typeface="PingFang SC"/>
                <a:cs typeface="PingFang SC"/>
              </a:rPr>
              <a:t>功能模型已经具备显式调度语义，下一步将并行时序和背压实现下沉到 RTL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9EC01E5-1AA2-4B14-8C09-09866E87B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428750"/>
            <a:ext cx="4000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9B55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009B55"/>
                </a:solidFill>
                <a:latin typeface="PingFang SC"/>
                <a:ea typeface="PingFang SC"/>
                <a:cs typeface="PingFang SC"/>
              </a:rPr>
              <a:t>已完成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31898EE-E37A-4F88-BB3A-D24C64F54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952625"/>
            <a:ext cx="6667500" cy="4191000"/>
          </a:xfrm>
          <a:prstGeom xmlns:a="http://schemas.openxmlformats.org/drawingml/2006/main" prst="roundRect">
            <a:avLst>
              <a:gd name="adj" fmla="val 1818"/>
            </a:avLst>
          </a:prstGeom>
          <a:solidFill xmlns:a="http://schemas.openxmlformats.org/drawingml/2006/main">
            <a:srgbClr val="EAF8F0"/>
          </a:solidFill>
          <a:ln xmlns:a="http://schemas.openxmlformats.org/drawingml/2006/main" w="14288">
            <a:solidFill>
              <a:srgbClr val="009B55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9DDBD28-C266-443E-A044-0B53BAA6D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190750"/>
            <a:ext cx="247650" cy="247650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009B55"/>
          </a:solidFill>
          <a:ln xmlns:a="http://schemas.openxmlformats.org/drawingml/2006/main" w="14288">
            <a:solidFill>
              <a:srgbClr val="009B55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9266AAB-C610-4F14-B6F1-2AAC01FD8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171700"/>
            <a:ext cx="247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51921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✓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30169F6-FE04-4F22-B90C-3817F2EED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114550"/>
            <a:ext cx="561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324D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17324D"/>
                </a:solidFill>
                <a:latin typeface="PingFang SC"/>
                <a:ea typeface="PingFang SC"/>
                <a:cs typeface="PingFang SC"/>
              </a:rPr>
              <a:t>generic-lowering 输出 schedule table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35CF9FF-1E7C-4E1F-9713-BD5A6CC93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781300"/>
            <a:ext cx="247650" cy="247650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009B55"/>
          </a:solidFill>
          <a:ln xmlns:a="http://schemas.openxmlformats.org/drawingml/2006/main" w="14288">
            <a:solidFill>
              <a:srgbClr val="009B55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8B08CDD-207A-4BFF-B888-7E9197003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762250"/>
            <a:ext cx="247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51921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✓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A018EF7-2F64-4462-8558-D2859B935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705100"/>
            <a:ext cx="561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324D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17324D"/>
                </a:solidFill>
                <a:latin typeface="PingFang SC"/>
                <a:ea typeface="PingFang SC"/>
                <a:cs typeface="PingFang SC"/>
              </a:rPr>
              <a:t>基于 Tensor byte range 生成 RAW / WAR / WAW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1FD0D35-35B6-4919-9C6D-7ADD30231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371850"/>
            <a:ext cx="247650" cy="247650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009B55"/>
          </a:solidFill>
          <a:ln xmlns:a="http://schemas.openxmlformats.org/drawingml/2006/main" w="14288">
            <a:solidFill>
              <a:srgbClr val="009B55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2DE7F6B-B051-4EA9-94C1-93BC11AC1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352800"/>
            <a:ext cx="247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51921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✓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352EAC3-8159-4F5A-9B1F-38B3AC6B7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295650"/>
            <a:ext cx="561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324D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17324D"/>
                </a:solidFill>
                <a:latin typeface="PingFang SC"/>
                <a:ea typeface="PingFang SC"/>
                <a:cs typeface="PingFang SC"/>
              </a:rPr>
              <a:t>64-command scoreboard window + ordering epoch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372EBF8-DB14-4794-B02C-2F20D4F78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962400"/>
            <a:ext cx="247650" cy="247650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009B55"/>
          </a:solidFill>
          <a:ln xmlns:a="http://schemas.openxmlformats.org/drawingml/2006/main" w="14288">
            <a:solidFill>
              <a:srgbClr val="009B55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2BFD114-1119-4227-BC35-70651E625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943350"/>
            <a:ext cx="247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51921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✓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5D97C26-18B4-46D1-9865-75C319032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886200"/>
            <a:ext cx="561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324D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17324D"/>
                </a:solidFill>
                <a:latin typeface="PingFang SC"/>
                <a:ea typeface="PingFang SC"/>
                <a:cs typeface="PingFang SC"/>
              </a:rPr>
              <a:t>按 engine class 管理 credit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84745EE-F3C1-47D7-B153-C709363C9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552950"/>
            <a:ext cx="247650" cy="247650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009B55"/>
          </a:solidFill>
          <a:ln xmlns:a="http://schemas.openxmlformats.org/drawingml/2006/main" w="14288">
            <a:solidFill>
              <a:srgbClr val="009B55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62CBFBE-5D33-4576-A8F3-E72D5B6F7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533900"/>
            <a:ext cx="247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51921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✓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E88CE7C-7037-4D64-9645-7A571FC5B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476750"/>
            <a:ext cx="561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324D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17324D"/>
                </a:solidFill>
                <a:latin typeface="PingFang SC"/>
                <a:ea typeface="PingFang SC"/>
                <a:cs typeface="PingFang SC"/>
              </a:rPr>
              <a:t>Completion Queue 支持乱序完成、顺序 retire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B5B5830-2E0A-4C78-B373-7340A5E48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143500"/>
            <a:ext cx="247650" cy="247650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009B55"/>
          </a:solidFill>
          <a:ln xmlns:a="http://schemas.openxmlformats.org/drawingml/2006/main" w="14288">
            <a:solidFill>
              <a:srgbClr val="009B55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BFF7BA2-A11E-4595-8931-9275DA150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124450"/>
            <a:ext cx="247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51921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✓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04AB30C-7D20-4423-9B04-3FF35423D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067300"/>
            <a:ext cx="561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324D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7324D"/>
                </a:solidFill>
                <a:latin typeface="PingFang SC"/>
                <a:ea typeface="PingFang SC"/>
                <a:cs typeface="PingFang SC"/>
              </a:rPr>
              <a:t>20 类算子 command-flow 正确性保持 PASS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E4054C3-33FA-47A3-BDCB-33D5DEFEE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81750"/>
            <a:ext cx="6667500" cy="1000125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EAF4FE"/>
          </a:solidFill>
          <a:ln xmlns:a="http://schemas.openxmlformats.org/drawingml/2006/main" w="14288">
            <a:solidFill>
              <a:srgbClr val="1976D2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4808435-04D4-4A6B-AC49-ED6831066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49605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976D2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976D2"/>
                </a:solidFill>
                <a:latin typeface="PingFang SC"/>
                <a:ea typeface="PingFang SC"/>
                <a:cs typeface="PingFang SC"/>
              </a:rPr>
              <a:t>GB10 实测基线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BE22FD5-B14C-4BC1-9C53-F75A24362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819900"/>
            <a:ext cx="609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1863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324D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7324D"/>
                </a:solidFill>
                <a:latin typeface="PingFang SC"/>
                <a:ea typeface="PingFang SC"/>
                <a:cs typeface="PingFang SC"/>
              </a:rPr>
              <a:t>20 requests → 35 commands；24 dependency edges；5 batches；全部算子 max_abs_error=0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2F896B1-99ED-4CE7-AA27-225766207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1428750"/>
            <a:ext cx="619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ED0061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ED0061"/>
                </a:solidFill>
                <a:latin typeface="PingFang SC"/>
                <a:ea typeface="PingFang SC"/>
                <a:cs typeface="PingFang SC"/>
              </a:rPr>
              <a:t>下一阶段开发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D6E923B-3874-40CF-ABFD-A15225B36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000250"/>
            <a:ext cx="666750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FF2E8"/>
          </a:solidFill>
          <a:ln xmlns:a="http://schemas.openxmlformats.org/drawingml/2006/main" w="14288">
            <a:solidFill>
              <a:srgbClr val="F26A21"/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D1FD0D3-F899-4F89-A284-51D9BA1CF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228850"/>
            <a:ext cx="5143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26A21"/>
          </a:solidFill>
          <a:ln xmlns:a="http://schemas.openxmlformats.org/drawingml/2006/main" w="14288">
            <a:solidFill>
              <a:srgbClr val="F26A21"/>
            </a:solidFill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1058B7D-FEE7-45D1-999C-9FC3D39D8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228850"/>
            <a:ext cx="5143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A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045555A-9734-435A-B953-A5B0B9446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114550"/>
            <a:ext cx="533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324D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17324D"/>
                </a:solidFill>
                <a:latin typeface="PingFang SC"/>
                <a:ea typeface="PingFang SC"/>
                <a:cs typeface="PingFang SC"/>
              </a:rPr>
              <a:t>Host executor 并发 issue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BAB9D46-B926-4999-AEB1-2CB44C781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438400"/>
            <a:ext cx="5334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A7187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5A7187"/>
                </a:solidFill>
                <a:latin typeface="PingFang SC"/>
                <a:ea typeface="PingFang SC"/>
                <a:cs typeface="PingFang SC"/>
              </a:rPr>
              <a:t>每轮向不同 engine 发射 ready set，形成真实 inflight/CQ 占用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9D7590D-C1FE-4F56-A68F-6E40045EF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257550"/>
            <a:ext cx="666750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FF0F6"/>
          </a:solidFill>
          <a:ln xmlns:a="http://schemas.openxmlformats.org/drawingml/2006/main" w="14288">
            <a:solidFill>
              <a:srgbClr val="ED0061"/>
            </a:solidFill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0EE3333-2D14-49D2-9385-9AF4DE3A0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486150"/>
            <a:ext cx="5143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D0061"/>
          </a:solidFill>
          <a:ln xmlns:a="http://schemas.openxmlformats.org/drawingml/2006/main" w="14288">
            <a:solidFill>
              <a:srgbClr val="ED0061"/>
            </a:solidFill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1EA2477-9835-4379-A584-29539AE9D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486150"/>
            <a:ext cx="5143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B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C2A9A80-A1AE-4695-958D-544A6BEDD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371850"/>
            <a:ext cx="533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324D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17324D"/>
                </a:solidFill>
                <a:latin typeface="PingFang SC"/>
                <a:ea typeface="PingFang SC"/>
                <a:cs typeface="PingFang SC"/>
              </a:rPr>
              <a:t>RTL Adapter 接口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0B4731E-A458-464B-802D-970D683C5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695700"/>
            <a:ext cx="5334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A7187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5A7187"/>
                </a:solidFill>
                <a:latin typeface="PingFang SC"/>
                <a:ea typeface="PingFang SC"/>
                <a:cs typeface="PingFang SC"/>
              </a:rPr>
              <a:t>ready/valid task submit、engine completion、fault、credit/backpressure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FEBF4153-225B-4A9F-9A51-BE861A085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514850"/>
            <a:ext cx="666750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FF0F6"/>
          </a:solidFill>
          <a:ln xmlns:a="http://schemas.openxmlformats.org/drawingml/2006/main" w="14288">
            <a:solidFill>
              <a:srgbClr val="ED0061"/>
            </a:solidFill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49A8EADF-6227-4C99-8EB8-43832369B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743450"/>
            <a:ext cx="5143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D0061"/>
          </a:solidFill>
          <a:ln xmlns:a="http://schemas.openxmlformats.org/drawingml/2006/main" w="14288">
            <a:solidFill>
              <a:srgbClr val="ED0061"/>
            </a:solidFill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9AA67E88-6381-429F-AE7A-138268CC0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743450"/>
            <a:ext cx="5143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C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258EC13B-DF6C-45E7-9CEE-CF09785E3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629150"/>
            <a:ext cx="533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324D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17324D"/>
                </a:solidFill>
                <a:latin typeface="PingFang SC"/>
                <a:ea typeface="PingFang SC"/>
                <a:cs typeface="PingFang SC"/>
              </a:rPr>
              <a:t>Timing 替换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66DD5187-1895-4A1B-BD19-76793047A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953000"/>
            <a:ext cx="5334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A7187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5A7187"/>
                </a:solidFill>
                <a:latin typeface="PingFang SC"/>
                <a:ea typeface="PingFang SC"/>
                <a:cs typeface="PingFang SC"/>
              </a:rPr>
              <a:t>从 operations 累加切换为 engine latency、带宽竞争和 overlap cycles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54F9581E-2A53-4771-BB6D-D6C495DF9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5772150"/>
            <a:ext cx="666750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FF0F6"/>
          </a:solidFill>
          <a:ln xmlns:a="http://schemas.openxmlformats.org/drawingml/2006/main" w="14288">
            <a:solidFill>
              <a:srgbClr val="ED0061"/>
            </a:solidFill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7C810E9E-381D-48AC-B752-44CDC141E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6000750"/>
            <a:ext cx="5143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D0061"/>
          </a:solidFill>
          <a:ln xmlns:a="http://schemas.openxmlformats.org/drawingml/2006/main" w="14288">
            <a:solidFill>
              <a:srgbClr val="ED0061"/>
            </a:solidFill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17E21E6D-7ECC-4E2B-AEAF-5E4305E6D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6000750"/>
            <a:ext cx="5143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D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2B48F75B-BB4A-4442-A990-8B904C385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5886450"/>
            <a:ext cx="533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324D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17324D"/>
                </a:solidFill>
                <a:latin typeface="PingFang SC"/>
                <a:ea typeface="PingFang SC"/>
                <a:cs typeface="PingFang SC"/>
              </a:rPr>
              <a:t>验收门禁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A856087B-2996-442C-97AC-5F65AE78E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6210300"/>
            <a:ext cx="5334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A7187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5A7187"/>
                </a:solidFill>
                <a:latin typeface="PingFang SC"/>
                <a:ea typeface="PingFang SC"/>
                <a:cs typeface="PingFang SC"/>
              </a:rPr>
              <a:t>依赖阻塞、独立并发、乱序完成、CQ 满、错误传播、全图 token 等价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17685D21-1319-4569-BE90-4FC8DF9CE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7143750"/>
            <a:ext cx="6667500" cy="523875"/>
          </a:xfrm>
          <a:prstGeom xmlns:a="http://schemas.openxmlformats.org/drawingml/2006/main" prst="roundRect">
            <a:avLst>
              <a:gd name="adj" fmla="val 14545"/>
            </a:avLst>
          </a:prstGeom>
          <a:solidFill xmlns:a="http://schemas.openxmlformats.org/drawingml/2006/main">
            <a:srgbClr val="FFF8DB"/>
          </a:solidFill>
          <a:ln xmlns:a="http://schemas.openxmlformats.org/drawingml/2006/main" w="14288">
            <a:solidFill>
              <a:srgbClr val="FFB000"/>
            </a:solidFill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0481AA07-3CCA-4DFD-9E05-6DDCA4126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7219950"/>
            <a:ext cx="6286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685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324D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7324D"/>
                </a:solidFill>
                <a:latin typeface="PingFang SC"/>
                <a:ea typeface="PingFang SC"/>
                <a:cs typeface="PingFang SC"/>
              </a:rPr>
              <a:t>本轮已推进 A：executor 改为先 issue ready set，再收集 completion 并按序 retire。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7526DFE7-FBB9-4A56-9488-8C3333C4B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286750"/>
            <a:ext cx="15240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549A"/>
          </a:solidFill>
          <a:ln xmlns:a="http://schemas.openxmlformats.org/drawingml/2006/main" w="14288">
            <a:solidFill>
              <a:srgbClr val="07549A"/>
            </a:solidFill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9FE60AFD-74A6-4189-9BF8-EEF5F9F8D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305800"/>
            <a:ext cx="14325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最终目标：同一 schedule ABI 下，C++ functional model 与 RTL scheduler 可逐模块替换和逐项对比</a:t>
            </a:r>
          </a:p>
        </p:txBody>
      </p:sp>
    </p:spTree>
    <p:extLst>
      <p:ext uri="{BB962C8B-B14F-4D97-AF65-F5344CB8AC3E}">
        <p14:creationId xmlns:p14="http://schemas.microsoft.com/office/powerpoint/2010/main" val="156872575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2026-09-18T08:52:46.9750000Z</dcterms:created>
  <dcterms:modified xsi:type="dcterms:W3CDTF">2026-09-18T08:52:46.9750000Z</dcterms:modified>
</coreProperties>
</file>